
<file path=[Content_Types].xml><?xml version="1.0" encoding="utf-8"?>
<Types xmlns="http://schemas.openxmlformats.org/package/2006/content-types">
  <Default Extension="gif" ContentType="image/gif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18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19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7" r:id="rId4"/>
  </p:sldMasterIdLst>
  <p:notesMasterIdLst>
    <p:notesMasterId r:id="rId60"/>
  </p:notesMasterIdLst>
  <p:sldIdLst>
    <p:sldId id="348" r:id="rId5"/>
    <p:sldId id="465" r:id="rId6"/>
    <p:sldId id="517" r:id="rId7"/>
    <p:sldId id="518" r:id="rId8"/>
    <p:sldId id="519" r:id="rId9"/>
    <p:sldId id="520" r:id="rId10"/>
    <p:sldId id="467" r:id="rId11"/>
    <p:sldId id="537" r:id="rId12"/>
    <p:sldId id="470" r:id="rId13"/>
    <p:sldId id="469" r:id="rId14"/>
    <p:sldId id="521" r:id="rId15"/>
    <p:sldId id="471" r:id="rId16"/>
    <p:sldId id="473" r:id="rId17"/>
    <p:sldId id="531" r:id="rId18"/>
    <p:sldId id="532" r:id="rId19"/>
    <p:sldId id="472" r:id="rId20"/>
    <p:sldId id="360" r:id="rId21"/>
    <p:sldId id="538" r:id="rId22"/>
    <p:sldId id="474" r:id="rId23"/>
    <p:sldId id="431" r:id="rId24"/>
    <p:sldId id="349" r:id="rId25"/>
    <p:sldId id="535" r:id="rId26"/>
    <p:sldId id="445" r:id="rId27"/>
    <p:sldId id="447" r:id="rId28"/>
    <p:sldId id="448" r:id="rId29"/>
    <p:sldId id="449" r:id="rId30"/>
    <p:sldId id="450" r:id="rId31"/>
    <p:sldId id="451" r:id="rId32"/>
    <p:sldId id="453" r:id="rId33"/>
    <p:sldId id="539" r:id="rId34"/>
    <p:sldId id="452" r:id="rId35"/>
    <p:sldId id="454" r:id="rId36"/>
    <p:sldId id="455" r:id="rId37"/>
    <p:sldId id="456" r:id="rId38"/>
    <p:sldId id="457" r:id="rId39"/>
    <p:sldId id="458" r:id="rId40"/>
    <p:sldId id="459" r:id="rId41"/>
    <p:sldId id="523" r:id="rId42"/>
    <p:sldId id="460" r:id="rId43"/>
    <p:sldId id="540" r:id="rId44"/>
    <p:sldId id="463" r:id="rId45"/>
    <p:sldId id="464" r:id="rId46"/>
    <p:sldId id="462" r:id="rId47"/>
    <p:sldId id="524" r:id="rId48"/>
    <p:sldId id="466" r:id="rId49"/>
    <p:sldId id="541" r:id="rId50"/>
    <p:sldId id="526" r:id="rId51"/>
    <p:sldId id="530" r:id="rId52"/>
    <p:sldId id="525" r:id="rId53"/>
    <p:sldId id="542" r:id="rId54"/>
    <p:sldId id="543" r:id="rId55"/>
    <p:sldId id="544" r:id="rId56"/>
    <p:sldId id="545" r:id="rId57"/>
    <p:sldId id="546" r:id="rId58"/>
    <p:sldId id="547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0000"/>
    <a:srgbClr val="8AB833"/>
    <a:srgbClr val="02A884"/>
    <a:srgbClr val="233028"/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80695" autoAdjust="0"/>
  </p:normalViewPr>
  <p:slideViewPr>
    <p:cSldViewPr snapToGrid="0">
      <p:cViewPr varScale="1">
        <p:scale>
          <a:sx n="86" d="100"/>
          <a:sy n="86" d="100"/>
        </p:scale>
        <p:origin x="130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5" Type="http://schemas.openxmlformats.org/officeDocument/2006/relationships/slide" Target="slides/slide1.xml"/><Relationship Id="rId61" Type="http://schemas.openxmlformats.org/officeDocument/2006/relationships/presProps" Target="pres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Квартиры в Минске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Sheet1!$D$5</c:f>
              <c:strCache>
                <c:ptCount val="1"/>
                <c:pt idx="0">
                  <c:v>Цена (BYN)</c:v>
                </c:pt>
              </c:strCache>
            </c:strRef>
          </c:tx>
          <c:spPr>
            <a:ln w="25400" cap="rnd">
              <a:noFill/>
              <a:round/>
            </a:ln>
            <a:effectLst>
              <a:outerShdw blurRad="44450" dist="25400" dir="2700000" algn="br" rotWithShape="0">
                <a:srgbClr val="000000">
                  <a:alpha val="60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hade val="85000"/>
                      <a:satMod val="130000"/>
                    </a:schemeClr>
                  </a:gs>
                  <a:gs pos="34000">
                    <a:schemeClr val="accent1">
                      <a:shade val="87000"/>
                      <a:satMod val="125000"/>
                    </a:schemeClr>
                  </a:gs>
                  <a:gs pos="70000">
                    <a:schemeClr val="accent1">
                      <a:tint val="100000"/>
                      <a:shade val="90000"/>
                      <a:satMod val="130000"/>
                    </a:schemeClr>
                  </a:gs>
                  <a:gs pos="100000">
                    <a:schemeClr val="accent1">
                      <a:tint val="100000"/>
                      <a:shade val="100000"/>
                      <a:satMod val="11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 w="9525" cap="rnd">
                <a:solidFill>
                  <a:schemeClr val="accent1"/>
                </a:solidFill>
                <a:round/>
              </a:ln>
              <a:effectLst>
                <a:outerShdw blurRad="44450" dist="25400" dir="2700000" algn="br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9800000"/>
                </a:lightRig>
              </a:scene3d>
              <a:sp3d prstMaterial="flat">
                <a:bevelT w="25400" h="31750"/>
              </a:sp3d>
            </c:spPr>
          </c:marker>
          <c:trendline>
            <c:spPr>
              <a:ln w="19050" cap="rnd">
                <a:solidFill>
                  <a:schemeClr val="accent1"/>
                </a:solidFill>
              </a:ln>
              <a:effectLst/>
            </c:spPr>
            <c:trendlineType val="linear"/>
            <c:dispRSqr val="0"/>
            <c:dispEq val="0"/>
          </c:trendline>
          <c:xVal>
            <c:numRef>
              <c:f>Sheet1!$C$6:$C$34</c:f>
              <c:numCache>
                <c:formatCode>General</c:formatCode>
                <c:ptCount val="29"/>
                <c:pt idx="0">
                  <c:v>42.9</c:v>
                </c:pt>
                <c:pt idx="1">
                  <c:v>68.2</c:v>
                </c:pt>
                <c:pt idx="2">
                  <c:v>74.099999999999994</c:v>
                </c:pt>
                <c:pt idx="3">
                  <c:v>73.5</c:v>
                </c:pt>
                <c:pt idx="4">
                  <c:v>94.8</c:v>
                </c:pt>
                <c:pt idx="5">
                  <c:v>163</c:v>
                </c:pt>
                <c:pt idx="6">
                  <c:v>63.2</c:v>
                </c:pt>
                <c:pt idx="7">
                  <c:v>48.7</c:v>
                </c:pt>
                <c:pt idx="8">
                  <c:v>61.4</c:v>
                </c:pt>
                <c:pt idx="9">
                  <c:v>75.5</c:v>
                </c:pt>
                <c:pt idx="10">
                  <c:v>61.9</c:v>
                </c:pt>
                <c:pt idx="11">
                  <c:v>58.2</c:v>
                </c:pt>
                <c:pt idx="12">
                  <c:v>75</c:v>
                </c:pt>
                <c:pt idx="13">
                  <c:v>41.2</c:v>
                </c:pt>
                <c:pt idx="14">
                  <c:v>179</c:v>
                </c:pt>
                <c:pt idx="15">
                  <c:v>83.3</c:v>
                </c:pt>
                <c:pt idx="16">
                  <c:v>99.6</c:v>
                </c:pt>
                <c:pt idx="17">
                  <c:v>144</c:v>
                </c:pt>
                <c:pt idx="18">
                  <c:v>56.4</c:v>
                </c:pt>
                <c:pt idx="19">
                  <c:v>59.1</c:v>
                </c:pt>
                <c:pt idx="20">
                  <c:v>250</c:v>
                </c:pt>
                <c:pt idx="21">
                  <c:v>251</c:v>
                </c:pt>
                <c:pt idx="22">
                  <c:v>42.1</c:v>
                </c:pt>
                <c:pt idx="23">
                  <c:v>240</c:v>
                </c:pt>
                <c:pt idx="24">
                  <c:v>50</c:v>
                </c:pt>
                <c:pt idx="25">
                  <c:v>51</c:v>
                </c:pt>
                <c:pt idx="26">
                  <c:v>100</c:v>
                </c:pt>
                <c:pt idx="27">
                  <c:v>67</c:v>
                </c:pt>
                <c:pt idx="28">
                  <c:v>41.3</c:v>
                </c:pt>
              </c:numCache>
            </c:numRef>
          </c:xVal>
          <c:yVal>
            <c:numRef>
              <c:f>Sheet1!$D$6:$D$34</c:f>
              <c:numCache>
                <c:formatCode>General</c:formatCode>
                <c:ptCount val="29"/>
                <c:pt idx="0">
                  <c:v>137591</c:v>
                </c:pt>
                <c:pt idx="1">
                  <c:v>155504</c:v>
                </c:pt>
                <c:pt idx="2">
                  <c:v>332660</c:v>
                </c:pt>
                <c:pt idx="3">
                  <c:v>196840</c:v>
                </c:pt>
                <c:pt idx="4">
                  <c:v>275576</c:v>
                </c:pt>
                <c:pt idx="5">
                  <c:v>246050</c:v>
                </c:pt>
                <c:pt idx="6">
                  <c:v>121057</c:v>
                </c:pt>
                <c:pt idx="7">
                  <c:v>95271</c:v>
                </c:pt>
                <c:pt idx="8">
                  <c:v>107278</c:v>
                </c:pt>
                <c:pt idx="9">
                  <c:v>173022</c:v>
                </c:pt>
                <c:pt idx="10">
                  <c:v>168298</c:v>
                </c:pt>
                <c:pt idx="11">
                  <c:v>98223</c:v>
                </c:pt>
                <c:pt idx="12">
                  <c:v>122041</c:v>
                </c:pt>
                <c:pt idx="13">
                  <c:v>112337</c:v>
                </c:pt>
                <c:pt idx="14">
                  <c:v>285418</c:v>
                </c:pt>
                <c:pt idx="15">
                  <c:v>344470</c:v>
                </c:pt>
                <c:pt idx="16">
                  <c:v>222429</c:v>
                </c:pt>
                <c:pt idx="17">
                  <c:v>423206</c:v>
                </c:pt>
                <c:pt idx="18">
                  <c:v>152551</c:v>
                </c:pt>
                <c:pt idx="19">
                  <c:v>305102</c:v>
                </c:pt>
                <c:pt idx="20">
                  <c:v>332660</c:v>
                </c:pt>
                <c:pt idx="21">
                  <c:v>840507</c:v>
                </c:pt>
                <c:pt idx="22">
                  <c:v>86177</c:v>
                </c:pt>
                <c:pt idx="23">
                  <c:v>984200</c:v>
                </c:pt>
                <c:pt idx="24">
                  <c:v>167117</c:v>
                </c:pt>
                <c:pt idx="25">
                  <c:v>122041</c:v>
                </c:pt>
                <c:pt idx="26">
                  <c:v>472416</c:v>
                </c:pt>
                <c:pt idx="27">
                  <c:v>234240</c:v>
                </c:pt>
                <c:pt idx="28">
                  <c:v>74799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C41-4E4D-A70A-132CA6ECBB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48983608"/>
        <c:axId val="348980000"/>
      </c:scatterChart>
      <c:valAx>
        <c:axId val="3489836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Площадь (м2)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8980000"/>
        <c:crosses val="autoZero"/>
        <c:crossBetween val="midCat"/>
      </c:valAx>
      <c:valAx>
        <c:axId val="348980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Цена (</a:t>
                </a:r>
                <a:r>
                  <a:rPr lang="en-US"/>
                  <a:t>BYN</a:t>
                </a:r>
                <a:r>
                  <a:rPr lang="ru-RU"/>
                  <a:t>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898360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Квартиры в Минске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Sheet1!$D$5</c:f>
              <c:strCache>
                <c:ptCount val="1"/>
                <c:pt idx="0">
                  <c:v>Цена (BYN)</c:v>
                </c:pt>
              </c:strCache>
            </c:strRef>
          </c:tx>
          <c:spPr>
            <a:ln w="25400" cap="rnd">
              <a:noFill/>
              <a:round/>
            </a:ln>
            <a:effectLst>
              <a:outerShdw blurRad="44450" dist="25400" dir="2700000" algn="br" rotWithShape="0">
                <a:srgbClr val="000000">
                  <a:alpha val="60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hade val="85000"/>
                      <a:satMod val="130000"/>
                    </a:schemeClr>
                  </a:gs>
                  <a:gs pos="34000">
                    <a:schemeClr val="accent1">
                      <a:shade val="87000"/>
                      <a:satMod val="125000"/>
                    </a:schemeClr>
                  </a:gs>
                  <a:gs pos="70000">
                    <a:schemeClr val="accent1">
                      <a:tint val="100000"/>
                      <a:shade val="90000"/>
                      <a:satMod val="130000"/>
                    </a:schemeClr>
                  </a:gs>
                  <a:gs pos="100000">
                    <a:schemeClr val="accent1">
                      <a:tint val="100000"/>
                      <a:shade val="100000"/>
                      <a:satMod val="11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 w="9525" cap="rnd">
                <a:solidFill>
                  <a:schemeClr val="accent1"/>
                </a:solidFill>
                <a:round/>
              </a:ln>
              <a:effectLst>
                <a:outerShdw blurRad="44450" dist="25400" dir="2700000" algn="br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9800000"/>
                </a:lightRig>
              </a:scene3d>
              <a:sp3d prstMaterial="flat">
                <a:bevelT w="25400" h="31750"/>
              </a:sp3d>
            </c:spPr>
          </c:marker>
          <c:trendline>
            <c:spPr>
              <a:ln w="38100" cap="flat" cmpd="sng" algn="ctr">
                <a:solidFill>
                  <a:schemeClr val="dk1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trendlineType val="linear"/>
            <c:dispRSqr val="0"/>
            <c:dispEq val="0"/>
          </c:trendline>
          <c:xVal>
            <c:numRef>
              <c:f>Sheet1!$C$6:$C$34</c:f>
              <c:numCache>
                <c:formatCode>General</c:formatCode>
                <c:ptCount val="29"/>
                <c:pt idx="0">
                  <c:v>42.9</c:v>
                </c:pt>
                <c:pt idx="1">
                  <c:v>68.2</c:v>
                </c:pt>
                <c:pt idx="2">
                  <c:v>74.099999999999994</c:v>
                </c:pt>
                <c:pt idx="3">
                  <c:v>73.5</c:v>
                </c:pt>
                <c:pt idx="4">
                  <c:v>94.8</c:v>
                </c:pt>
                <c:pt idx="5">
                  <c:v>163</c:v>
                </c:pt>
                <c:pt idx="6">
                  <c:v>63.2</c:v>
                </c:pt>
                <c:pt idx="7">
                  <c:v>48.7</c:v>
                </c:pt>
                <c:pt idx="8">
                  <c:v>61.4</c:v>
                </c:pt>
                <c:pt idx="9">
                  <c:v>75.5</c:v>
                </c:pt>
                <c:pt idx="10">
                  <c:v>61.9</c:v>
                </c:pt>
                <c:pt idx="11">
                  <c:v>58.2</c:v>
                </c:pt>
                <c:pt idx="12">
                  <c:v>75</c:v>
                </c:pt>
                <c:pt idx="13">
                  <c:v>41.2</c:v>
                </c:pt>
                <c:pt idx="14">
                  <c:v>179</c:v>
                </c:pt>
                <c:pt idx="15">
                  <c:v>83.3</c:v>
                </c:pt>
                <c:pt idx="16">
                  <c:v>99.6</c:v>
                </c:pt>
                <c:pt idx="17">
                  <c:v>144</c:v>
                </c:pt>
                <c:pt idx="18">
                  <c:v>56.4</c:v>
                </c:pt>
                <c:pt idx="19">
                  <c:v>59.1</c:v>
                </c:pt>
                <c:pt idx="20">
                  <c:v>250</c:v>
                </c:pt>
                <c:pt idx="21">
                  <c:v>251</c:v>
                </c:pt>
                <c:pt idx="22">
                  <c:v>42.1</c:v>
                </c:pt>
                <c:pt idx="23">
                  <c:v>240</c:v>
                </c:pt>
                <c:pt idx="24">
                  <c:v>50</c:v>
                </c:pt>
                <c:pt idx="25">
                  <c:v>51</c:v>
                </c:pt>
                <c:pt idx="26">
                  <c:v>100</c:v>
                </c:pt>
                <c:pt idx="27">
                  <c:v>67</c:v>
                </c:pt>
                <c:pt idx="28">
                  <c:v>41.3</c:v>
                </c:pt>
              </c:numCache>
            </c:numRef>
          </c:xVal>
          <c:yVal>
            <c:numRef>
              <c:f>Sheet1!$D$6:$D$34</c:f>
              <c:numCache>
                <c:formatCode>General</c:formatCode>
                <c:ptCount val="29"/>
                <c:pt idx="0">
                  <c:v>137591</c:v>
                </c:pt>
                <c:pt idx="1">
                  <c:v>155504</c:v>
                </c:pt>
                <c:pt idx="2">
                  <c:v>332660</c:v>
                </c:pt>
                <c:pt idx="3">
                  <c:v>196840</c:v>
                </c:pt>
                <c:pt idx="4">
                  <c:v>275576</c:v>
                </c:pt>
                <c:pt idx="5">
                  <c:v>246050</c:v>
                </c:pt>
                <c:pt idx="6">
                  <c:v>121057</c:v>
                </c:pt>
                <c:pt idx="7">
                  <c:v>95271</c:v>
                </c:pt>
                <c:pt idx="8">
                  <c:v>107278</c:v>
                </c:pt>
                <c:pt idx="9">
                  <c:v>173022</c:v>
                </c:pt>
                <c:pt idx="10">
                  <c:v>168298</c:v>
                </c:pt>
                <c:pt idx="11">
                  <c:v>98223</c:v>
                </c:pt>
                <c:pt idx="12">
                  <c:v>122041</c:v>
                </c:pt>
                <c:pt idx="13">
                  <c:v>112337</c:v>
                </c:pt>
                <c:pt idx="14">
                  <c:v>285418</c:v>
                </c:pt>
                <c:pt idx="15">
                  <c:v>344470</c:v>
                </c:pt>
                <c:pt idx="16">
                  <c:v>222429</c:v>
                </c:pt>
                <c:pt idx="17">
                  <c:v>423206</c:v>
                </c:pt>
                <c:pt idx="18">
                  <c:v>152551</c:v>
                </c:pt>
                <c:pt idx="19">
                  <c:v>305102</c:v>
                </c:pt>
                <c:pt idx="20">
                  <c:v>332660</c:v>
                </c:pt>
                <c:pt idx="21">
                  <c:v>840507</c:v>
                </c:pt>
                <c:pt idx="22">
                  <c:v>86177</c:v>
                </c:pt>
                <c:pt idx="23">
                  <c:v>984200</c:v>
                </c:pt>
                <c:pt idx="24">
                  <c:v>167117</c:v>
                </c:pt>
                <c:pt idx="25">
                  <c:v>122041</c:v>
                </c:pt>
                <c:pt idx="26">
                  <c:v>472416</c:v>
                </c:pt>
                <c:pt idx="27">
                  <c:v>234240</c:v>
                </c:pt>
                <c:pt idx="28">
                  <c:v>74799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F4C-43A5-B180-87FF5C4CE3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48983608"/>
        <c:axId val="348980000"/>
      </c:scatterChart>
      <c:valAx>
        <c:axId val="3489836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Площадь (м2)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8980000"/>
        <c:crosses val="autoZero"/>
        <c:crossBetween val="midCat"/>
      </c:valAx>
      <c:valAx>
        <c:axId val="348980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Цена (</a:t>
                </a:r>
                <a:r>
                  <a:rPr lang="en-US"/>
                  <a:t>BYN</a:t>
                </a:r>
                <a:r>
                  <a:rPr lang="ru-RU"/>
                  <a:t>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898360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solidFill>
        <a:schemeClr val="dk1"/>
      </a:solidFill>
      <a:prstDash val="solid"/>
      <a:round/>
      <a:headEnd type="none" w="med" len="med"/>
      <a:tailEnd type="none" w="med" len="med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Sheet1!$D$5</c:f>
              <c:strCache>
                <c:ptCount val="1"/>
                <c:pt idx="0">
                  <c:v>Цена (BYN)</c:v>
                </c:pt>
              </c:strCache>
            </c:strRef>
          </c:tx>
          <c:spPr>
            <a:ln w="25400" cap="rnd">
              <a:noFill/>
              <a:round/>
            </a:ln>
            <a:effectLst>
              <a:outerShdw blurRad="44450" dist="25400" dir="2700000" algn="br" rotWithShape="0">
                <a:srgbClr val="000000">
                  <a:alpha val="60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hade val="85000"/>
                      <a:satMod val="130000"/>
                    </a:schemeClr>
                  </a:gs>
                  <a:gs pos="34000">
                    <a:schemeClr val="accent1">
                      <a:shade val="87000"/>
                      <a:satMod val="125000"/>
                    </a:schemeClr>
                  </a:gs>
                  <a:gs pos="70000">
                    <a:schemeClr val="accent1">
                      <a:tint val="100000"/>
                      <a:shade val="90000"/>
                      <a:satMod val="130000"/>
                    </a:schemeClr>
                  </a:gs>
                  <a:gs pos="100000">
                    <a:schemeClr val="accent1">
                      <a:tint val="100000"/>
                      <a:shade val="100000"/>
                      <a:satMod val="11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 w="9525" cap="rnd">
                <a:solidFill>
                  <a:schemeClr val="accent1"/>
                </a:solidFill>
                <a:round/>
              </a:ln>
              <a:effectLst>
                <a:outerShdw blurRad="44450" dist="25400" dir="2700000" algn="br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9800000"/>
                </a:lightRig>
              </a:scene3d>
              <a:sp3d prstMaterial="flat">
                <a:bevelT w="25400" h="31750"/>
              </a:sp3d>
            </c:spPr>
          </c:marker>
          <c:xVal>
            <c:numRef>
              <c:f>Sheet1!$C$6:$C$34</c:f>
              <c:numCache>
                <c:formatCode>General</c:formatCode>
                <c:ptCount val="29"/>
                <c:pt idx="0">
                  <c:v>42.9</c:v>
                </c:pt>
                <c:pt idx="1">
                  <c:v>68.2</c:v>
                </c:pt>
                <c:pt idx="2">
                  <c:v>74.099999999999994</c:v>
                </c:pt>
                <c:pt idx="3">
                  <c:v>73.5</c:v>
                </c:pt>
                <c:pt idx="4">
                  <c:v>94.8</c:v>
                </c:pt>
                <c:pt idx="5">
                  <c:v>163</c:v>
                </c:pt>
                <c:pt idx="6">
                  <c:v>63.2</c:v>
                </c:pt>
                <c:pt idx="7">
                  <c:v>48.7</c:v>
                </c:pt>
                <c:pt idx="8">
                  <c:v>61.4</c:v>
                </c:pt>
                <c:pt idx="9">
                  <c:v>75.5</c:v>
                </c:pt>
                <c:pt idx="10">
                  <c:v>61.9</c:v>
                </c:pt>
                <c:pt idx="11">
                  <c:v>58.2</c:v>
                </c:pt>
                <c:pt idx="12">
                  <c:v>75</c:v>
                </c:pt>
                <c:pt idx="13">
                  <c:v>41.2</c:v>
                </c:pt>
                <c:pt idx="14">
                  <c:v>179</c:v>
                </c:pt>
                <c:pt idx="15">
                  <c:v>83.3</c:v>
                </c:pt>
                <c:pt idx="16">
                  <c:v>99.6</c:v>
                </c:pt>
                <c:pt idx="17">
                  <c:v>144</c:v>
                </c:pt>
                <c:pt idx="18">
                  <c:v>56.4</c:v>
                </c:pt>
                <c:pt idx="19">
                  <c:v>59.1</c:v>
                </c:pt>
                <c:pt idx="20">
                  <c:v>250</c:v>
                </c:pt>
                <c:pt idx="21">
                  <c:v>251</c:v>
                </c:pt>
                <c:pt idx="22">
                  <c:v>42.1</c:v>
                </c:pt>
                <c:pt idx="23">
                  <c:v>240</c:v>
                </c:pt>
                <c:pt idx="24">
                  <c:v>50</c:v>
                </c:pt>
                <c:pt idx="25">
                  <c:v>51</c:v>
                </c:pt>
                <c:pt idx="26">
                  <c:v>100</c:v>
                </c:pt>
                <c:pt idx="27">
                  <c:v>67</c:v>
                </c:pt>
                <c:pt idx="28">
                  <c:v>41.3</c:v>
                </c:pt>
              </c:numCache>
            </c:numRef>
          </c:xVal>
          <c:yVal>
            <c:numRef>
              <c:f>Sheet1!$D$6:$D$34</c:f>
              <c:numCache>
                <c:formatCode>General</c:formatCode>
                <c:ptCount val="29"/>
                <c:pt idx="0">
                  <c:v>137591</c:v>
                </c:pt>
                <c:pt idx="1">
                  <c:v>155504</c:v>
                </c:pt>
                <c:pt idx="2">
                  <c:v>332660</c:v>
                </c:pt>
                <c:pt idx="3">
                  <c:v>196840</c:v>
                </c:pt>
                <c:pt idx="4">
                  <c:v>275576</c:v>
                </c:pt>
                <c:pt idx="5">
                  <c:v>246050</c:v>
                </c:pt>
                <c:pt idx="6">
                  <c:v>121057</c:v>
                </c:pt>
                <c:pt idx="7">
                  <c:v>95271</c:v>
                </c:pt>
                <c:pt idx="8">
                  <c:v>107278</c:v>
                </c:pt>
                <c:pt idx="9">
                  <c:v>173022</c:v>
                </c:pt>
                <c:pt idx="10">
                  <c:v>168298</c:v>
                </c:pt>
                <c:pt idx="11">
                  <c:v>98223</c:v>
                </c:pt>
                <c:pt idx="12">
                  <c:v>122041</c:v>
                </c:pt>
                <c:pt idx="13">
                  <c:v>112337</c:v>
                </c:pt>
                <c:pt idx="14">
                  <c:v>285418</c:v>
                </c:pt>
                <c:pt idx="15">
                  <c:v>344470</c:v>
                </c:pt>
                <c:pt idx="16">
                  <c:v>222429</c:v>
                </c:pt>
                <c:pt idx="17">
                  <c:v>423206</c:v>
                </c:pt>
                <c:pt idx="18">
                  <c:v>152551</c:v>
                </c:pt>
                <c:pt idx="19">
                  <c:v>305102</c:v>
                </c:pt>
                <c:pt idx="20">
                  <c:v>332660</c:v>
                </c:pt>
                <c:pt idx="21">
                  <c:v>840507</c:v>
                </c:pt>
                <c:pt idx="22">
                  <c:v>86177</c:v>
                </c:pt>
                <c:pt idx="23">
                  <c:v>984200</c:v>
                </c:pt>
                <c:pt idx="24">
                  <c:v>167117</c:v>
                </c:pt>
                <c:pt idx="25">
                  <c:v>122041</c:v>
                </c:pt>
                <c:pt idx="26">
                  <c:v>472416</c:v>
                </c:pt>
                <c:pt idx="27">
                  <c:v>234240</c:v>
                </c:pt>
                <c:pt idx="28">
                  <c:v>74799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E16-494E-987E-5348EF1D23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48983608"/>
        <c:axId val="348980000"/>
      </c:scatterChart>
      <c:valAx>
        <c:axId val="3489836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8980000"/>
        <c:crosses val="autoZero"/>
        <c:crossBetween val="midCat"/>
      </c:valAx>
      <c:valAx>
        <c:axId val="348980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898360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>
              <a:outerShdw blurRad="44450" dist="25400" dir="2700000" algn="br" rotWithShape="0">
                <a:srgbClr val="000000">
                  <a:alpha val="60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6">
                      <a:shade val="85000"/>
                      <a:satMod val="130000"/>
                    </a:schemeClr>
                  </a:gs>
                  <a:gs pos="34000">
                    <a:schemeClr val="accent6">
                      <a:shade val="87000"/>
                      <a:satMod val="125000"/>
                    </a:schemeClr>
                  </a:gs>
                  <a:gs pos="70000">
                    <a:schemeClr val="accent6">
                      <a:tint val="100000"/>
                      <a:shade val="90000"/>
                      <a:satMod val="130000"/>
                    </a:schemeClr>
                  </a:gs>
                  <a:gs pos="100000">
                    <a:schemeClr val="accent6">
                      <a:tint val="100000"/>
                      <a:shade val="100000"/>
                      <a:satMod val="11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 w="9525" cap="rnd">
                <a:solidFill>
                  <a:schemeClr val="accent6"/>
                </a:solidFill>
                <a:round/>
              </a:ln>
              <a:effectLst>
                <a:outerShdw blurRad="44450" dist="25400" dir="2700000" algn="br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9800000"/>
                </a:lightRig>
              </a:scene3d>
              <a:sp3d prstMaterial="flat">
                <a:bevelT w="25400" h="31750"/>
              </a:sp3d>
            </c:spPr>
          </c:marker>
          <c:xVal>
            <c:numRef>
              <c:f>Sheet1!$D$53:$D$55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Sheet1!$E$53:$E$55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16A-46B2-A25A-F31657E85C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70107736"/>
        <c:axId val="470106424"/>
      </c:scatterChart>
      <c:valAx>
        <c:axId val="4701077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0106424"/>
        <c:crosses val="autoZero"/>
        <c:crossBetween val="midCat"/>
      </c:valAx>
      <c:valAx>
        <c:axId val="4701064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010773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>
              <a:outerShdw blurRad="38100" dist="25400" dir="2700000" algn="br" rotWithShape="0">
                <a:srgbClr val="000000">
                  <a:alpha val="60000"/>
                </a:srgbClr>
              </a:outerShdw>
            </a:effectLst>
          </c:spPr>
          <c:marker>
            <c:symbol val="circle"/>
            <c:size val="5"/>
            <c:spPr>
              <a:gradFill rotWithShape="1">
                <a:gsLst>
                  <a:gs pos="0">
                    <a:schemeClr val="accent4">
                      <a:shade val="51000"/>
                      <a:satMod val="130000"/>
                    </a:schemeClr>
                  </a:gs>
                  <a:gs pos="80000">
                    <a:schemeClr val="accent4">
                      <a:shade val="93000"/>
                      <a:satMod val="130000"/>
                    </a:schemeClr>
                  </a:gs>
                  <a:gs pos="100000">
                    <a:schemeClr val="accent4">
                      <a:shade val="94000"/>
                      <a:satMod val="135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 w="9525">
                <a:solidFill>
                  <a:schemeClr val="accent4"/>
                </a:solidFill>
                <a:round/>
              </a:ln>
              <a:effectLst>
                <a:outerShdw blurRad="38100" dist="25400" dir="2700000" algn="br" rotWithShape="0">
                  <a:srgbClr val="000000">
                    <a:alpha val="60000"/>
                  </a:srgbClr>
                </a:outerShdw>
              </a:effectLst>
            </c:spPr>
          </c:marker>
          <c:xVal>
            <c:numRef>
              <c:f>Sheet1!$N$60:$N$63</c:f>
              <c:numCache>
                <c:formatCode>General</c:formatCode>
                <c:ptCount val="4"/>
                <c:pt idx="0">
                  <c:v>-0.5</c:v>
                </c:pt>
                <c:pt idx="1">
                  <c:v>1</c:v>
                </c:pt>
                <c:pt idx="2">
                  <c:v>0.5</c:v>
                </c:pt>
                <c:pt idx="3">
                  <c:v>1.5</c:v>
                </c:pt>
              </c:numCache>
            </c:numRef>
          </c:xVal>
          <c:yVal>
            <c:numRef>
              <c:f>Sheet1!$O$60:$O$63</c:f>
              <c:numCache>
                <c:formatCode>General</c:formatCode>
                <c:ptCount val="4"/>
                <c:pt idx="0">
                  <c:v>5.25</c:v>
                </c:pt>
                <c:pt idx="1">
                  <c:v>0</c:v>
                </c:pt>
                <c:pt idx="2">
                  <c:v>0.57999999999999996</c:v>
                </c:pt>
                <c:pt idx="3">
                  <c:v>0.57999999999999996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957-4BF4-BB06-974030CB55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64924864"/>
        <c:axId val="464925192"/>
      </c:scatterChart>
      <c:valAx>
        <c:axId val="46492486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2">
                <a:lumMod val="40000"/>
                <a:lumOff val="6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4925192"/>
        <c:crosses val="autoZero"/>
        <c:crossBetween val="midCat"/>
      </c:valAx>
      <c:valAx>
        <c:axId val="464925192"/>
        <c:scaling>
          <c:orientation val="minMax"/>
          <c:max val="3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2">
                <a:lumMod val="40000"/>
                <a:lumOff val="6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492486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>
              <a:outerShdw blurRad="44450" dist="25400" dir="2700000" algn="br" rotWithShape="0">
                <a:srgbClr val="000000">
                  <a:alpha val="60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6">
                      <a:shade val="85000"/>
                      <a:satMod val="130000"/>
                    </a:schemeClr>
                  </a:gs>
                  <a:gs pos="34000">
                    <a:schemeClr val="accent6">
                      <a:shade val="87000"/>
                      <a:satMod val="125000"/>
                    </a:schemeClr>
                  </a:gs>
                  <a:gs pos="70000">
                    <a:schemeClr val="accent6">
                      <a:tint val="100000"/>
                      <a:shade val="90000"/>
                      <a:satMod val="130000"/>
                    </a:schemeClr>
                  </a:gs>
                  <a:gs pos="100000">
                    <a:schemeClr val="accent6">
                      <a:tint val="100000"/>
                      <a:shade val="100000"/>
                      <a:satMod val="11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 w="9525" cap="rnd">
                <a:solidFill>
                  <a:schemeClr val="accent6"/>
                </a:solidFill>
                <a:round/>
              </a:ln>
              <a:effectLst>
                <a:outerShdw blurRad="44450" dist="25400" dir="2700000" algn="br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9800000"/>
                </a:lightRig>
              </a:scene3d>
              <a:sp3d prstMaterial="flat">
                <a:bevelT w="25400" h="31750"/>
              </a:sp3d>
            </c:spPr>
          </c:marker>
          <c:xVal>
            <c:numRef>
              <c:f>Sheet1!$D$53:$D$55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Sheet1!$E$53:$E$55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16A-46B2-A25A-F31657E85C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70107736"/>
        <c:axId val="470106424"/>
      </c:scatterChart>
      <c:valAx>
        <c:axId val="4701077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0106424"/>
        <c:crosses val="autoZero"/>
        <c:crossBetween val="midCat"/>
      </c:valAx>
      <c:valAx>
        <c:axId val="4701064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010773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>
              <a:outerShdw blurRad="38100" dist="25400" dir="2700000" algn="br" rotWithShape="0">
                <a:srgbClr val="000000">
                  <a:alpha val="60000"/>
                </a:srgbClr>
              </a:outerShdw>
            </a:effectLst>
          </c:spPr>
          <c:marker>
            <c:symbol val="circle"/>
            <c:size val="5"/>
            <c:spPr>
              <a:gradFill rotWithShape="1">
                <a:gsLst>
                  <a:gs pos="0">
                    <a:schemeClr val="accent4">
                      <a:shade val="51000"/>
                      <a:satMod val="130000"/>
                    </a:schemeClr>
                  </a:gs>
                  <a:gs pos="80000">
                    <a:schemeClr val="accent4">
                      <a:shade val="93000"/>
                      <a:satMod val="130000"/>
                    </a:schemeClr>
                  </a:gs>
                  <a:gs pos="100000">
                    <a:schemeClr val="accent4">
                      <a:shade val="94000"/>
                      <a:satMod val="135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 w="9525">
                <a:solidFill>
                  <a:schemeClr val="accent4"/>
                </a:solidFill>
                <a:round/>
              </a:ln>
              <a:effectLst>
                <a:outerShdw blurRad="38100" dist="25400" dir="2700000" algn="br" rotWithShape="0">
                  <a:srgbClr val="000000">
                    <a:alpha val="60000"/>
                  </a:srgbClr>
                </a:outerShdw>
              </a:effectLst>
            </c:spPr>
          </c:marker>
          <c:xVal>
            <c:numRef>
              <c:f>Sheet1!$N$60:$N$63</c:f>
              <c:numCache>
                <c:formatCode>General</c:formatCode>
                <c:ptCount val="4"/>
                <c:pt idx="0">
                  <c:v>-0.5</c:v>
                </c:pt>
                <c:pt idx="1">
                  <c:v>1</c:v>
                </c:pt>
                <c:pt idx="2">
                  <c:v>0.5</c:v>
                </c:pt>
                <c:pt idx="3">
                  <c:v>1.5</c:v>
                </c:pt>
              </c:numCache>
            </c:numRef>
          </c:xVal>
          <c:yVal>
            <c:numRef>
              <c:f>Sheet1!$O$60:$O$63</c:f>
              <c:numCache>
                <c:formatCode>General</c:formatCode>
                <c:ptCount val="4"/>
                <c:pt idx="0">
                  <c:v>5.25</c:v>
                </c:pt>
                <c:pt idx="1">
                  <c:v>0</c:v>
                </c:pt>
                <c:pt idx="2">
                  <c:v>0.57999999999999996</c:v>
                </c:pt>
                <c:pt idx="3">
                  <c:v>0.57999999999999996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8C9-4239-98AF-9A911C061A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64924864"/>
        <c:axId val="464925192"/>
      </c:scatterChart>
      <c:valAx>
        <c:axId val="46492486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2">
                <a:lumMod val="40000"/>
                <a:lumOff val="6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4925192"/>
        <c:crosses val="autoZero"/>
        <c:crossBetween val="midCat"/>
      </c:valAx>
      <c:valAx>
        <c:axId val="464925192"/>
        <c:scaling>
          <c:orientation val="minMax"/>
          <c:max val="3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2">
                <a:lumMod val="40000"/>
                <a:lumOff val="6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492486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>
              <a:outerShdw blurRad="44450" dist="25400" dir="2700000" algn="br" rotWithShape="0">
                <a:srgbClr val="000000">
                  <a:alpha val="60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6">
                      <a:shade val="85000"/>
                      <a:satMod val="130000"/>
                    </a:schemeClr>
                  </a:gs>
                  <a:gs pos="34000">
                    <a:schemeClr val="accent6">
                      <a:shade val="87000"/>
                      <a:satMod val="125000"/>
                    </a:schemeClr>
                  </a:gs>
                  <a:gs pos="70000">
                    <a:schemeClr val="accent6">
                      <a:tint val="100000"/>
                      <a:shade val="90000"/>
                      <a:satMod val="130000"/>
                    </a:schemeClr>
                  </a:gs>
                  <a:gs pos="100000">
                    <a:schemeClr val="accent6">
                      <a:tint val="100000"/>
                      <a:shade val="100000"/>
                      <a:satMod val="11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 w="9525" cap="rnd">
                <a:solidFill>
                  <a:schemeClr val="accent6"/>
                </a:solidFill>
                <a:round/>
              </a:ln>
              <a:effectLst>
                <a:outerShdw blurRad="44450" dist="25400" dir="2700000" algn="br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9800000"/>
                </a:lightRig>
              </a:scene3d>
              <a:sp3d prstMaterial="flat">
                <a:bevelT w="25400" h="31750"/>
              </a:sp3d>
            </c:spPr>
          </c:marker>
          <c:xVal>
            <c:numRef>
              <c:f>Sheet1!$D$53:$D$55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Sheet1!$E$53:$E$55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16A-46B2-A25A-F31657E85C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70107736"/>
        <c:axId val="470106424"/>
      </c:scatterChart>
      <c:valAx>
        <c:axId val="4701077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0106424"/>
        <c:crosses val="autoZero"/>
        <c:crossBetween val="midCat"/>
      </c:valAx>
      <c:valAx>
        <c:axId val="4701064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010773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>
              <a:outerShdw blurRad="38100" dist="25400" dir="2700000" algn="br" rotWithShape="0">
                <a:srgbClr val="000000">
                  <a:alpha val="60000"/>
                </a:srgbClr>
              </a:outerShdw>
            </a:effectLst>
          </c:spPr>
          <c:marker>
            <c:symbol val="circle"/>
            <c:size val="5"/>
            <c:spPr>
              <a:gradFill rotWithShape="1">
                <a:gsLst>
                  <a:gs pos="0">
                    <a:schemeClr val="accent4">
                      <a:shade val="51000"/>
                      <a:satMod val="130000"/>
                    </a:schemeClr>
                  </a:gs>
                  <a:gs pos="80000">
                    <a:schemeClr val="accent4">
                      <a:shade val="93000"/>
                      <a:satMod val="130000"/>
                    </a:schemeClr>
                  </a:gs>
                  <a:gs pos="100000">
                    <a:schemeClr val="accent4">
                      <a:shade val="94000"/>
                      <a:satMod val="135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 w="9525">
                <a:solidFill>
                  <a:schemeClr val="accent4"/>
                </a:solidFill>
                <a:round/>
              </a:ln>
              <a:effectLst>
                <a:outerShdw blurRad="38100" dist="25400" dir="2700000" algn="br" rotWithShape="0">
                  <a:srgbClr val="000000">
                    <a:alpha val="60000"/>
                  </a:srgbClr>
                </a:outerShdw>
              </a:effectLst>
            </c:spPr>
          </c:marker>
          <c:xVal>
            <c:numRef>
              <c:f>Sheet1!$N$60:$N$66</c:f>
              <c:numCache>
                <c:formatCode>General</c:formatCode>
                <c:ptCount val="7"/>
                <c:pt idx="0">
                  <c:v>-0.5</c:v>
                </c:pt>
                <c:pt idx="1">
                  <c:v>1</c:v>
                </c:pt>
                <c:pt idx="2">
                  <c:v>0.5</c:v>
                </c:pt>
                <c:pt idx="3">
                  <c:v>1.5</c:v>
                </c:pt>
                <c:pt idx="4">
                  <c:v>0</c:v>
                </c:pt>
                <c:pt idx="5">
                  <c:v>2.5</c:v>
                </c:pt>
                <c:pt idx="6">
                  <c:v>2</c:v>
                </c:pt>
              </c:numCache>
            </c:numRef>
          </c:xVal>
          <c:yVal>
            <c:numRef>
              <c:f>Sheet1!$O$60:$O$66</c:f>
              <c:numCache>
                <c:formatCode>General</c:formatCode>
                <c:ptCount val="7"/>
                <c:pt idx="0">
                  <c:v>5.25</c:v>
                </c:pt>
                <c:pt idx="1">
                  <c:v>0</c:v>
                </c:pt>
                <c:pt idx="2">
                  <c:v>0.57999999999999996</c:v>
                </c:pt>
                <c:pt idx="3">
                  <c:v>0.57999999999999996</c:v>
                </c:pt>
                <c:pt idx="4">
                  <c:v>2.33</c:v>
                </c:pt>
                <c:pt idx="5">
                  <c:v>5.25</c:v>
                </c:pt>
                <c:pt idx="6">
                  <c:v>2.33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835-4B16-B26E-B580574A8A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67360720"/>
        <c:axId val="467360064"/>
      </c:scatterChart>
      <c:valAx>
        <c:axId val="46736072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2">
                <a:lumMod val="40000"/>
                <a:lumOff val="6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7360064"/>
        <c:crosses val="autoZero"/>
        <c:crossBetween val="midCat"/>
      </c:valAx>
      <c:valAx>
        <c:axId val="467360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2">
                <a:lumMod val="40000"/>
                <a:lumOff val="6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736072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2">
                  <a:alpha val="60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Sheet1!$C$66:$C$72</c:f>
              <c:numCache>
                <c:formatCode>General</c:formatCode>
                <c:ptCount val="7"/>
                <c:pt idx="0">
                  <c:v>-0.5</c:v>
                </c:pt>
                <c:pt idx="1">
                  <c:v>0</c:v>
                </c:pt>
                <c:pt idx="2">
                  <c:v>0.5</c:v>
                </c:pt>
                <c:pt idx="3">
                  <c:v>1</c:v>
                </c:pt>
                <c:pt idx="4">
                  <c:v>1.5</c:v>
                </c:pt>
                <c:pt idx="5">
                  <c:v>2</c:v>
                </c:pt>
                <c:pt idx="6">
                  <c:v>2.5</c:v>
                </c:pt>
              </c:numCache>
            </c:numRef>
          </c:xVal>
          <c:yVal>
            <c:numRef>
              <c:f>Sheet1!$D$66:$D$72</c:f>
              <c:numCache>
                <c:formatCode>General</c:formatCode>
                <c:ptCount val="7"/>
                <c:pt idx="0">
                  <c:v>5.25</c:v>
                </c:pt>
                <c:pt idx="1">
                  <c:v>2.33</c:v>
                </c:pt>
                <c:pt idx="2">
                  <c:v>0.57999999999999996</c:v>
                </c:pt>
                <c:pt idx="3">
                  <c:v>0</c:v>
                </c:pt>
                <c:pt idx="4">
                  <c:v>0.57999999999999996</c:v>
                </c:pt>
                <c:pt idx="5">
                  <c:v>2.33</c:v>
                </c:pt>
                <c:pt idx="6">
                  <c:v>5.25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C64-4949-9C4F-FDC880288A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67380392"/>
        <c:axId val="467382688"/>
      </c:scatterChart>
      <c:valAx>
        <c:axId val="4673803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>
                <a:lumMod val="25000"/>
                <a:lumOff val="7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7382688"/>
        <c:crosses val="autoZero"/>
        <c:crossBetween val="midCat"/>
      </c:valAx>
      <c:valAx>
        <c:axId val="467382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>
                <a:lumMod val="25000"/>
                <a:lumOff val="7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738039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lt1"/>
    </a:solidFill>
    <a:ln w="25400" cap="flat" cmpd="sng" algn="ctr">
      <a:solidFill>
        <a:schemeClr val="accent4"/>
      </a:solidFill>
      <a:prstDash val="solid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6">
                  <a:alpha val="60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Sheet1!$C$66:$C$72</c:f>
              <c:numCache>
                <c:formatCode>General</c:formatCode>
                <c:ptCount val="7"/>
                <c:pt idx="0">
                  <c:v>-0.5</c:v>
                </c:pt>
                <c:pt idx="1">
                  <c:v>0</c:v>
                </c:pt>
                <c:pt idx="2">
                  <c:v>0.5</c:v>
                </c:pt>
                <c:pt idx="3">
                  <c:v>1</c:v>
                </c:pt>
                <c:pt idx="4">
                  <c:v>1.5</c:v>
                </c:pt>
                <c:pt idx="5">
                  <c:v>2</c:v>
                </c:pt>
                <c:pt idx="6">
                  <c:v>2.5</c:v>
                </c:pt>
              </c:numCache>
            </c:numRef>
          </c:xVal>
          <c:yVal>
            <c:numRef>
              <c:f>Sheet1!$D$66:$D$72</c:f>
              <c:numCache>
                <c:formatCode>General</c:formatCode>
                <c:ptCount val="7"/>
                <c:pt idx="0">
                  <c:v>5.25</c:v>
                </c:pt>
                <c:pt idx="1">
                  <c:v>2.33</c:v>
                </c:pt>
                <c:pt idx="2">
                  <c:v>0.57999999999999996</c:v>
                </c:pt>
                <c:pt idx="3">
                  <c:v>0</c:v>
                </c:pt>
                <c:pt idx="4">
                  <c:v>0.57999999999999996</c:v>
                </c:pt>
                <c:pt idx="5">
                  <c:v>2.33</c:v>
                </c:pt>
                <c:pt idx="6">
                  <c:v>5.25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A16-45C7-B2EF-4467E69F77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67380392"/>
        <c:axId val="467382688"/>
      </c:scatterChart>
      <c:valAx>
        <c:axId val="4673803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>
                <a:lumMod val="25000"/>
                <a:lumOff val="7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7382688"/>
        <c:crosses val="autoZero"/>
        <c:crossBetween val="midCat"/>
      </c:valAx>
      <c:valAx>
        <c:axId val="467382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>
                <a:lumMod val="25000"/>
                <a:lumOff val="7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738039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lt1"/>
    </a:solidFill>
    <a:ln w="25400" cap="flat" cmpd="sng" algn="ctr">
      <a:solidFill>
        <a:schemeClr val="accent4"/>
      </a:solidFill>
      <a:prstDash val="solid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2">
                  <a:alpha val="60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Sheet1!$C$66:$C$72</c:f>
              <c:numCache>
                <c:formatCode>General</c:formatCode>
                <c:ptCount val="7"/>
                <c:pt idx="0">
                  <c:v>-0.5</c:v>
                </c:pt>
                <c:pt idx="1">
                  <c:v>0</c:v>
                </c:pt>
                <c:pt idx="2">
                  <c:v>0.5</c:v>
                </c:pt>
                <c:pt idx="3">
                  <c:v>1</c:v>
                </c:pt>
                <c:pt idx="4">
                  <c:v>1.5</c:v>
                </c:pt>
                <c:pt idx="5">
                  <c:v>2</c:v>
                </c:pt>
                <c:pt idx="6">
                  <c:v>2.5</c:v>
                </c:pt>
              </c:numCache>
            </c:numRef>
          </c:xVal>
          <c:yVal>
            <c:numRef>
              <c:f>Sheet1!$D$66:$D$72</c:f>
              <c:numCache>
                <c:formatCode>General</c:formatCode>
                <c:ptCount val="7"/>
                <c:pt idx="0">
                  <c:v>5.25</c:v>
                </c:pt>
                <c:pt idx="1">
                  <c:v>2.33</c:v>
                </c:pt>
                <c:pt idx="2">
                  <c:v>0.57999999999999996</c:v>
                </c:pt>
                <c:pt idx="3">
                  <c:v>0</c:v>
                </c:pt>
                <c:pt idx="4">
                  <c:v>0.57999999999999996</c:v>
                </c:pt>
                <c:pt idx="5">
                  <c:v>2.33</c:v>
                </c:pt>
                <c:pt idx="6">
                  <c:v>5.25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C64-4949-9C4F-FDC880288A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67380392"/>
        <c:axId val="467382688"/>
      </c:scatterChart>
      <c:valAx>
        <c:axId val="4673803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>
                <a:lumMod val="25000"/>
                <a:lumOff val="7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7382688"/>
        <c:crosses val="autoZero"/>
        <c:crossBetween val="midCat"/>
      </c:valAx>
      <c:valAx>
        <c:axId val="467382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>
                <a:lumMod val="25000"/>
                <a:lumOff val="7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738039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lt1"/>
    </a:solidFill>
    <a:ln w="25400" cap="flat" cmpd="sng" algn="ctr">
      <a:solidFill>
        <a:schemeClr val="accent4"/>
      </a:solidFill>
      <a:prstDash val="solid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6">
                  <a:alpha val="60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Sheet1!$C$66:$C$72</c:f>
              <c:numCache>
                <c:formatCode>General</c:formatCode>
                <c:ptCount val="7"/>
                <c:pt idx="0">
                  <c:v>-0.5</c:v>
                </c:pt>
                <c:pt idx="1">
                  <c:v>0</c:v>
                </c:pt>
                <c:pt idx="2">
                  <c:v>0.5</c:v>
                </c:pt>
                <c:pt idx="3">
                  <c:v>1</c:v>
                </c:pt>
                <c:pt idx="4">
                  <c:v>1.5</c:v>
                </c:pt>
                <c:pt idx="5">
                  <c:v>2</c:v>
                </c:pt>
                <c:pt idx="6">
                  <c:v>2.5</c:v>
                </c:pt>
              </c:numCache>
            </c:numRef>
          </c:xVal>
          <c:yVal>
            <c:numRef>
              <c:f>Sheet1!$D$66:$D$72</c:f>
              <c:numCache>
                <c:formatCode>General</c:formatCode>
                <c:ptCount val="7"/>
                <c:pt idx="0">
                  <c:v>5.25</c:v>
                </c:pt>
                <c:pt idx="1">
                  <c:v>2.33</c:v>
                </c:pt>
                <c:pt idx="2">
                  <c:v>0.57999999999999996</c:v>
                </c:pt>
                <c:pt idx="3">
                  <c:v>0</c:v>
                </c:pt>
                <c:pt idx="4">
                  <c:v>0.57999999999999996</c:v>
                </c:pt>
                <c:pt idx="5">
                  <c:v>2.33</c:v>
                </c:pt>
                <c:pt idx="6">
                  <c:v>5.25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A16-45C7-B2EF-4467E69F77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67380392"/>
        <c:axId val="467382688"/>
      </c:scatterChart>
      <c:valAx>
        <c:axId val="4673803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>
                <a:lumMod val="25000"/>
                <a:lumOff val="7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7382688"/>
        <c:crosses val="autoZero"/>
        <c:crossBetween val="midCat"/>
      </c:valAx>
      <c:valAx>
        <c:axId val="467382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>
                <a:lumMod val="25000"/>
                <a:lumOff val="7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738039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lt1"/>
    </a:solidFill>
    <a:ln w="25400" cap="flat" cmpd="sng" algn="ctr">
      <a:solidFill>
        <a:schemeClr val="accent4"/>
      </a:solidFill>
      <a:prstDash val="solid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2">
                  <a:alpha val="60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Sheet1!$C$66:$C$72</c:f>
              <c:numCache>
                <c:formatCode>General</c:formatCode>
                <c:ptCount val="7"/>
                <c:pt idx="0">
                  <c:v>-0.5</c:v>
                </c:pt>
                <c:pt idx="1">
                  <c:v>0</c:v>
                </c:pt>
                <c:pt idx="2">
                  <c:v>0.5</c:v>
                </c:pt>
                <c:pt idx="3">
                  <c:v>1</c:v>
                </c:pt>
                <c:pt idx="4">
                  <c:v>1.5</c:v>
                </c:pt>
                <c:pt idx="5">
                  <c:v>2</c:v>
                </c:pt>
                <c:pt idx="6">
                  <c:v>2.5</c:v>
                </c:pt>
              </c:numCache>
            </c:numRef>
          </c:xVal>
          <c:yVal>
            <c:numRef>
              <c:f>Sheet1!$D$66:$D$72</c:f>
              <c:numCache>
                <c:formatCode>General</c:formatCode>
                <c:ptCount val="7"/>
                <c:pt idx="0">
                  <c:v>5.25</c:v>
                </c:pt>
                <c:pt idx="1">
                  <c:v>2.33</c:v>
                </c:pt>
                <c:pt idx="2">
                  <c:v>0.57999999999999996</c:v>
                </c:pt>
                <c:pt idx="3">
                  <c:v>0</c:v>
                </c:pt>
                <c:pt idx="4">
                  <c:v>0.57999999999999996</c:v>
                </c:pt>
                <c:pt idx="5">
                  <c:v>2.33</c:v>
                </c:pt>
                <c:pt idx="6">
                  <c:v>5.25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C64-4949-9C4F-FDC880288A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67380392"/>
        <c:axId val="467382688"/>
      </c:scatterChart>
      <c:valAx>
        <c:axId val="4673803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>
                <a:lumMod val="25000"/>
                <a:lumOff val="7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7382688"/>
        <c:crosses val="autoZero"/>
        <c:crossBetween val="midCat"/>
      </c:valAx>
      <c:valAx>
        <c:axId val="467382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>
                <a:lumMod val="25000"/>
                <a:lumOff val="7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738039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lt1"/>
    </a:solidFill>
    <a:ln w="25400" cap="flat" cmpd="sng" algn="ctr">
      <a:solidFill>
        <a:schemeClr val="accent4"/>
      </a:solidFill>
      <a:prstDash val="solid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6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8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10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4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4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42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2"/>
    <cs:fontRef idx="minor">
      <a:schemeClr val="tx2"/>
    </cs:fontRef>
    <cs:spPr>
      <a:ln w="9525">
        <a:solidFill>
          <a:schemeClr val="phClr"/>
        </a:solidFill>
        <a:round/>
      </a:ln>
    </cs:spPr>
  </cs:dataPointMarker>
  <cs:dataPointMarkerLayout symbol="circle" size="5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spPr>
      <a:ln>
        <a:solidFill>
          <a:schemeClr val="tx2">
            <a:lumMod val="40000"/>
            <a:lumOff val="60000"/>
          </a:schemeClr>
        </a:solidFill>
      </a:ln>
    </cs:spPr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4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42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2"/>
    <cs:fontRef idx="minor">
      <a:schemeClr val="tx2"/>
    </cs:fontRef>
    <cs:spPr>
      <a:ln w="9525">
        <a:solidFill>
          <a:schemeClr val="phClr"/>
        </a:solidFill>
        <a:round/>
      </a:ln>
    </cs:spPr>
  </cs:dataPointMarker>
  <cs:dataPointMarkerLayout symbol="circle" size="5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spPr>
      <a:ln>
        <a:solidFill>
          <a:schemeClr val="tx2">
            <a:lumMod val="40000"/>
            <a:lumOff val="60000"/>
          </a:schemeClr>
        </a:solidFill>
      </a:ln>
    </cs:spPr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34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42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2"/>
    <cs:fontRef idx="minor">
      <a:schemeClr val="tx2"/>
    </cs:fontRef>
    <cs:spPr>
      <a:ln w="9525">
        <a:solidFill>
          <a:schemeClr val="phClr"/>
        </a:solidFill>
        <a:round/>
      </a:ln>
    </cs:spPr>
  </cs:dataPointMarker>
  <cs:dataPointMarkerLayout symbol="circle" size="5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spPr>
      <a:ln>
        <a:solidFill>
          <a:schemeClr val="tx2">
            <a:lumMod val="40000"/>
            <a:lumOff val="60000"/>
          </a:schemeClr>
        </a:solidFill>
      </a:ln>
    </cs:spPr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4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>
        <a:solidFill>
          <a:schemeClr val="tx1">
            <a:lumMod val="15000"/>
            <a:lumOff val="85000"/>
          </a:schemeClr>
        </a:solidFill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>
            <a:alpha val="60000"/>
          </a:schemeClr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38100">
        <a:solidFill>
          <a:schemeClr val="phClr">
            <a:alpha val="60000"/>
          </a:schemeClr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>
        <a:solidFill>
          <a:schemeClr val="tx1">
            <a:lumMod val="15000"/>
            <a:lumOff val="85000"/>
          </a:schemeClr>
        </a:solidFill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>
        <a:solidFill>
          <a:schemeClr val="tx1">
            <a:lumMod val="25000"/>
            <a:lumOff val="75000"/>
          </a:schemeClr>
        </a:solidFill>
      </a:ln>
    </cs:spPr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4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>
        <a:solidFill>
          <a:schemeClr val="tx1">
            <a:lumMod val="15000"/>
            <a:lumOff val="85000"/>
          </a:schemeClr>
        </a:solidFill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>
            <a:alpha val="60000"/>
          </a:schemeClr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38100">
        <a:solidFill>
          <a:schemeClr val="phClr">
            <a:alpha val="60000"/>
          </a:schemeClr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>
        <a:solidFill>
          <a:schemeClr val="tx1">
            <a:lumMod val="15000"/>
            <a:lumOff val="85000"/>
          </a:schemeClr>
        </a:solidFill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>
        <a:solidFill>
          <a:schemeClr val="tx1">
            <a:lumMod val="25000"/>
            <a:lumOff val="75000"/>
          </a:schemeClr>
        </a:solidFill>
      </a:ln>
    </cs:spPr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4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>
        <a:solidFill>
          <a:schemeClr val="tx1">
            <a:lumMod val="15000"/>
            <a:lumOff val="85000"/>
          </a:schemeClr>
        </a:solidFill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>
            <a:alpha val="60000"/>
          </a:schemeClr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38100">
        <a:solidFill>
          <a:schemeClr val="phClr">
            <a:alpha val="60000"/>
          </a:schemeClr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>
        <a:solidFill>
          <a:schemeClr val="tx1">
            <a:lumMod val="15000"/>
            <a:lumOff val="85000"/>
          </a:schemeClr>
        </a:solidFill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>
        <a:solidFill>
          <a:schemeClr val="tx1">
            <a:lumMod val="25000"/>
            <a:lumOff val="75000"/>
          </a:schemeClr>
        </a:solidFill>
      </a:ln>
    </cs:spPr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24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>
        <a:solidFill>
          <a:schemeClr val="tx1">
            <a:lumMod val="15000"/>
            <a:lumOff val="85000"/>
          </a:schemeClr>
        </a:solidFill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>
            <a:alpha val="60000"/>
          </a:schemeClr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38100">
        <a:solidFill>
          <a:schemeClr val="phClr">
            <a:alpha val="60000"/>
          </a:schemeClr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>
        <a:solidFill>
          <a:schemeClr val="tx1">
            <a:lumMod val="15000"/>
            <a:lumOff val="85000"/>
          </a:schemeClr>
        </a:solidFill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>
        <a:solidFill>
          <a:schemeClr val="tx1">
            <a:lumMod val="25000"/>
            <a:lumOff val="75000"/>
          </a:schemeClr>
        </a:solidFill>
      </a:ln>
    </cs:spPr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24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>
        <a:solidFill>
          <a:schemeClr val="tx1">
            <a:lumMod val="15000"/>
            <a:lumOff val="85000"/>
          </a:schemeClr>
        </a:solidFill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>
            <a:alpha val="60000"/>
          </a:schemeClr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38100">
        <a:solidFill>
          <a:schemeClr val="phClr">
            <a:alpha val="60000"/>
          </a:schemeClr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>
        <a:solidFill>
          <a:schemeClr val="tx1">
            <a:lumMod val="15000"/>
            <a:lumOff val="85000"/>
          </a:schemeClr>
        </a:solidFill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>
        <a:solidFill>
          <a:schemeClr val="tx1">
            <a:lumMod val="25000"/>
            <a:lumOff val="75000"/>
          </a:schemeClr>
        </a:solidFill>
      </a:ln>
    </cs:spPr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0F0C33-7AEB-4D38-AFDC-EDD5EDF55089}" type="doc">
      <dgm:prSet loTypeId="urn:microsoft.com/office/officeart/2005/8/layout/orgChart1" loCatId="hierarchy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5D50E4D7-DFA9-4E50-B765-02B6E5911B7A}">
      <dgm:prSet phldrT="[Text]"/>
      <dgm:spPr/>
      <dgm:t>
        <a:bodyPr/>
        <a:lstStyle/>
        <a:p>
          <a:r>
            <a:rPr lang="ru-RU" dirty="0"/>
            <a:t>Машинное обучение</a:t>
          </a:r>
          <a:endParaRPr lang="en-US" dirty="0"/>
        </a:p>
      </dgm:t>
    </dgm:pt>
    <dgm:pt modelId="{49D2A0C8-C7BC-4504-83E4-B9DD88F1E1F5}" type="parTrans" cxnId="{1613715B-2A81-46E6-9ED7-41A763A5369E}">
      <dgm:prSet/>
      <dgm:spPr/>
      <dgm:t>
        <a:bodyPr/>
        <a:lstStyle/>
        <a:p>
          <a:endParaRPr lang="en-US"/>
        </a:p>
      </dgm:t>
    </dgm:pt>
    <dgm:pt modelId="{F090F997-D306-4F98-8D76-FC0B7C4F3A70}" type="sibTrans" cxnId="{1613715B-2A81-46E6-9ED7-41A763A5369E}">
      <dgm:prSet/>
      <dgm:spPr/>
      <dgm:t>
        <a:bodyPr/>
        <a:lstStyle/>
        <a:p>
          <a:endParaRPr lang="en-US"/>
        </a:p>
      </dgm:t>
    </dgm:pt>
    <dgm:pt modelId="{225C915F-7FA3-4C3E-9CF7-61E2097DCAE3}">
      <dgm:prSet phldrT="[Text]"/>
      <dgm:spPr/>
      <dgm:t>
        <a:bodyPr/>
        <a:lstStyle/>
        <a:p>
          <a:r>
            <a:rPr lang="en-US" dirty="0"/>
            <a:t>C</a:t>
          </a:r>
          <a:r>
            <a:rPr lang="ru-RU" dirty="0"/>
            <a:t> учителем</a:t>
          </a:r>
          <a:endParaRPr lang="en-US" dirty="0"/>
        </a:p>
      </dgm:t>
    </dgm:pt>
    <dgm:pt modelId="{AC916E64-090C-4851-8205-E92FC0639146}" type="parTrans" cxnId="{72CB6A41-D835-43C7-A6C3-70A3FD87A351}">
      <dgm:prSet/>
      <dgm:spPr/>
      <dgm:t>
        <a:bodyPr/>
        <a:lstStyle/>
        <a:p>
          <a:endParaRPr lang="en-US"/>
        </a:p>
      </dgm:t>
    </dgm:pt>
    <dgm:pt modelId="{D94DA443-B52D-4491-B6FE-FC72411446A2}" type="sibTrans" cxnId="{72CB6A41-D835-43C7-A6C3-70A3FD87A351}">
      <dgm:prSet/>
      <dgm:spPr/>
      <dgm:t>
        <a:bodyPr/>
        <a:lstStyle/>
        <a:p>
          <a:endParaRPr lang="en-US"/>
        </a:p>
      </dgm:t>
    </dgm:pt>
    <dgm:pt modelId="{A65AEC7E-A9C0-4A81-A15C-17CAA62DB855}">
      <dgm:prSet phldrT="[Text]"/>
      <dgm:spPr/>
      <dgm:t>
        <a:bodyPr/>
        <a:lstStyle/>
        <a:p>
          <a:r>
            <a:rPr lang="ru-RU" dirty="0"/>
            <a:t>Без учителя</a:t>
          </a:r>
          <a:endParaRPr lang="en-US" dirty="0"/>
        </a:p>
      </dgm:t>
    </dgm:pt>
    <dgm:pt modelId="{DEE03DBC-6849-45CD-B5F3-8A36657F86A0}" type="parTrans" cxnId="{CAB246D5-980A-40DD-A80D-078DACF2883E}">
      <dgm:prSet/>
      <dgm:spPr/>
      <dgm:t>
        <a:bodyPr/>
        <a:lstStyle/>
        <a:p>
          <a:endParaRPr lang="en-US"/>
        </a:p>
      </dgm:t>
    </dgm:pt>
    <dgm:pt modelId="{BC2BB487-3002-4BA2-8526-83C9CB40BE35}" type="sibTrans" cxnId="{CAB246D5-980A-40DD-A80D-078DACF2883E}">
      <dgm:prSet/>
      <dgm:spPr/>
      <dgm:t>
        <a:bodyPr/>
        <a:lstStyle/>
        <a:p>
          <a:endParaRPr lang="en-US"/>
        </a:p>
      </dgm:t>
    </dgm:pt>
    <dgm:pt modelId="{9A7D7859-8FFD-4315-9657-5B550688E7C4}">
      <dgm:prSet phldrT="[Text]"/>
      <dgm:spPr/>
      <dgm:t>
        <a:bodyPr/>
        <a:lstStyle/>
        <a:p>
          <a:r>
            <a:rPr lang="ru-RU" dirty="0"/>
            <a:t>Специализированное</a:t>
          </a:r>
          <a:endParaRPr lang="en-US" dirty="0"/>
        </a:p>
      </dgm:t>
    </dgm:pt>
    <dgm:pt modelId="{E99E74DD-262A-41DB-AEC1-D5A8CA1A41D0}" type="parTrans" cxnId="{B883FE80-9578-44BB-9BB3-26435163091D}">
      <dgm:prSet/>
      <dgm:spPr/>
      <dgm:t>
        <a:bodyPr/>
        <a:lstStyle/>
        <a:p>
          <a:endParaRPr lang="en-US"/>
        </a:p>
      </dgm:t>
    </dgm:pt>
    <dgm:pt modelId="{276BD93A-CCB1-4AAD-B764-AB77793C4335}" type="sibTrans" cxnId="{B883FE80-9578-44BB-9BB3-26435163091D}">
      <dgm:prSet/>
      <dgm:spPr/>
      <dgm:t>
        <a:bodyPr/>
        <a:lstStyle/>
        <a:p>
          <a:endParaRPr lang="en-US"/>
        </a:p>
      </dgm:t>
    </dgm:pt>
    <dgm:pt modelId="{CE539656-8096-432B-8311-0931E8BF6E48}" type="pres">
      <dgm:prSet presAssocID="{A70F0C33-7AEB-4D38-AFDC-EDD5EDF5508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9015501-A998-4F44-9522-DC2B267E10B4}" type="pres">
      <dgm:prSet presAssocID="{5D50E4D7-DFA9-4E50-B765-02B6E5911B7A}" presName="hierRoot1" presStyleCnt="0">
        <dgm:presLayoutVars>
          <dgm:hierBranch val="init"/>
        </dgm:presLayoutVars>
      </dgm:prSet>
      <dgm:spPr/>
    </dgm:pt>
    <dgm:pt modelId="{9DD82F9D-0448-4DA9-9D38-C5B09BA70F5B}" type="pres">
      <dgm:prSet presAssocID="{5D50E4D7-DFA9-4E50-B765-02B6E5911B7A}" presName="rootComposite1" presStyleCnt="0"/>
      <dgm:spPr/>
    </dgm:pt>
    <dgm:pt modelId="{13AE81E6-976C-46E7-8769-97AD0A9FF07F}" type="pres">
      <dgm:prSet presAssocID="{5D50E4D7-DFA9-4E50-B765-02B6E5911B7A}" presName="rootText1" presStyleLbl="node0" presStyleIdx="0" presStyleCnt="1" custScaleY="69555" custLinFactNeighborX="-2212" custLinFactNeighborY="-86763">
        <dgm:presLayoutVars>
          <dgm:chPref val="3"/>
        </dgm:presLayoutVars>
      </dgm:prSet>
      <dgm:spPr/>
    </dgm:pt>
    <dgm:pt modelId="{0F79E85A-C047-45F5-A2DE-333C838E824D}" type="pres">
      <dgm:prSet presAssocID="{5D50E4D7-DFA9-4E50-B765-02B6E5911B7A}" presName="rootConnector1" presStyleLbl="node1" presStyleIdx="0" presStyleCnt="0"/>
      <dgm:spPr/>
    </dgm:pt>
    <dgm:pt modelId="{364CECD8-7E83-4345-B5D8-6A90B53AEA98}" type="pres">
      <dgm:prSet presAssocID="{5D50E4D7-DFA9-4E50-B765-02B6E5911B7A}" presName="hierChild2" presStyleCnt="0"/>
      <dgm:spPr/>
    </dgm:pt>
    <dgm:pt modelId="{8FC2CA38-7AAC-4394-8E8C-285E8D125FA3}" type="pres">
      <dgm:prSet presAssocID="{AC916E64-090C-4851-8205-E92FC0639146}" presName="Name37" presStyleLbl="parChTrans1D2" presStyleIdx="0" presStyleCnt="3"/>
      <dgm:spPr/>
    </dgm:pt>
    <dgm:pt modelId="{370F162F-2783-49FE-BA31-70EC6709229E}" type="pres">
      <dgm:prSet presAssocID="{225C915F-7FA3-4C3E-9CF7-61E2097DCAE3}" presName="hierRoot2" presStyleCnt="0">
        <dgm:presLayoutVars>
          <dgm:hierBranch val="init"/>
        </dgm:presLayoutVars>
      </dgm:prSet>
      <dgm:spPr/>
    </dgm:pt>
    <dgm:pt modelId="{AADCECEB-C6F9-41C2-9606-C56B46DDBED9}" type="pres">
      <dgm:prSet presAssocID="{225C915F-7FA3-4C3E-9CF7-61E2097DCAE3}" presName="rootComposite" presStyleCnt="0"/>
      <dgm:spPr/>
    </dgm:pt>
    <dgm:pt modelId="{9A917619-E856-4E1D-B1D7-7B26872D43F0}" type="pres">
      <dgm:prSet presAssocID="{225C915F-7FA3-4C3E-9CF7-61E2097DCAE3}" presName="rootText" presStyleLbl="node2" presStyleIdx="0" presStyleCnt="3" custScaleY="58890" custLinFactNeighborX="-201" custLinFactNeighborY="-86764">
        <dgm:presLayoutVars>
          <dgm:chPref val="3"/>
        </dgm:presLayoutVars>
      </dgm:prSet>
      <dgm:spPr/>
    </dgm:pt>
    <dgm:pt modelId="{7AA59380-3927-4B22-87D5-F7FA2F4F9A37}" type="pres">
      <dgm:prSet presAssocID="{225C915F-7FA3-4C3E-9CF7-61E2097DCAE3}" presName="rootConnector" presStyleLbl="node2" presStyleIdx="0" presStyleCnt="3"/>
      <dgm:spPr/>
    </dgm:pt>
    <dgm:pt modelId="{41811CD7-AE03-4F95-8160-E907EF11BD89}" type="pres">
      <dgm:prSet presAssocID="{225C915F-7FA3-4C3E-9CF7-61E2097DCAE3}" presName="hierChild4" presStyleCnt="0"/>
      <dgm:spPr/>
    </dgm:pt>
    <dgm:pt modelId="{88570728-7E4E-4E6C-A95B-D603D21EBC76}" type="pres">
      <dgm:prSet presAssocID="{225C915F-7FA3-4C3E-9CF7-61E2097DCAE3}" presName="hierChild5" presStyleCnt="0"/>
      <dgm:spPr/>
    </dgm:pt>
    <dgm:pt modelId="{0772401D-5581-4D50-A15D-4F78221D6402}" type="pres">
      <dgm:prSet presAssocID="{DEE03DBC-6849-45CD-B5F3-8A36657F86A0}" presName="Name37" presStyleLbl="parChTrans1D2" presStyleIdx="1" presStyleCnt="3"/>
      <dgm:spPr/>
    </dgm:pt>
    <dgm:pt modelId="{F8CC370A-F841-4743-B6DA-B321F7603877}" type="pres">
      <dgm:prSet presAssocID="{A65AEC7E-A9C0-4A81-A15C-17CAA62DB855}" presName="hierRoot2" presStyleCnt="0">
        <dgm:presLayoutVars>
          <dgm:hierBranch val="init"/>
        </dgm:presLayoutVars>
      </dgm:prSet>
      <dgm:spPr/>
    </dgm:pt>
    <dgm:pt modelId="{935323FF-C81D-42F7-A236-16C3F1AD257F}" type="pres">
      <dgm:prSet presAssocID="{A65AEC7E-A9C0-4A81-A15C-17CAA62DB855}" presName="rootComposite" presStyleCnt="0"/>
      <dgm:spPr/>
    </dgm:pt>
    <dgm:pt modelId="{48F98271-B896-4EED-871D-699E2627DF1B}" type="pres">
      <dgm:prSet presAssocID="{A65AEC7E-A9C0-4A81-A15C-17CAA62DB855}" presName="rootText" presStyleLbl="node2" presStyleIdx="1" presStyleCnt="3" custScaleY="58890" custLinFactNeighborX="-2212" custLinFactNeighborY="-86764">
        <dgm:presLayoutVars>
          <dgm:chPref val="3"/>
        </dgm:presLayoutVars>
      </dgm:prSet>
      <dgm:spPr/>
    </dgm:pt>
    <dgm:pt modelId="{C43C84D1-FFCF-4177-BA15-D4321B30BBA5}" type="pres">
      <dgm:prSet presAssocID="{A65AEC7E-A9C0-4A81-A15C-17CAA62DB855}" presName="rootConnector" presStyleLbl="node2" presStyleIdx="1" presStyleCnt="3"/>
      <dgm:spPr/>
    </dgm:pt>
    <dgm:pt modelId="{FD625E84-0B8C-4F24-9BD3-1D28B28FF0AB}" type="pres">
      <dgm:prSet presAssocID="{A65AEC7E-A9C0-4A81-A15C-17CAA62DB855}" presName="hierChild4" presStyleCnt="0"/>
      <dgm:spPr/>
    </dgm:pt>
    <dgm:pt modelId="{716D7D69-B624-4E3E-8C7B-26D118182FBD}" type="pres">
      <dgm:prSet presAssocID="{A65AEC7E-A9C0-4A81-A15C-17CAA62DB855}" presName="hierChild5" presStyleCnt="0"/>
      <dgm:spPr/>
    </dgm:pt>
    <dgm:pt modelId="{3911F7BA-352C-424D-BBC8-A4754029164A}" type="pres">
      <dgm:prSet presAssocID="{E99E74DD-262A-41DB-AEC1-D5A8CA1A41D0}" presName="Name37" presStyleLbl="parChTrans1D2" presStyleIdx="2" presStyleCnt="3"/>
      <dgm:spPr/>
    </dgm:pt>
    <dgm:pt modelId="{75F08770-B72F-44A9-8705-43C64BD98367}" type="pres">
      <dgm:prSet presAssocID="{9A7D7859-8FFD-4315-9657-5B550688E7C4}" presName="hierRoot2" presStyleCnt="0">
        <dgm:presLayoutVars>
          <dgm:hierBranch val="init"/>
        </dgm:presLayoutVars>
      </dgm:prSet>
      <dgm:spPr/>
    </dgm:pt>
    <dgm:pt modelId="{9CB3F35F-7ACC-46B4-80B5-2B8495A16E33}" type="pres">
      <dgm:prSet presAssocID="{9A7D7859-8FFD-4315-9657-5B550688E7C4}" presName="rootComposite" presStyleCnt="0"/>
      <dgm:spPr/>
    </dgm:pt>
    <dgm:pt modelId="{3503999B-A888-44AD-9981-23421AD432C4}" type="pres">
      <dgm:prSet presAssocID="{9A7D7859-8FFD-4315-9657-5B550688E7C4}" presName="rootText" presStyleLbl="node2" presStyleIdx="2" presStyleCnt="3" custScaleY="58890" custLinFactNeighborX="-2212" custLinFactNeighborY="-86764">
        <dgm:presLayoutVars>
          <dgm:chPref val="3"/>
        </dgm:presLayoutVars>
      </dgm:prSet>
      <dgm:spPr/>
    </dgm:pt>
    <dgm:pt modelId="{FA4A19F3-E1DA-4765-8E26-D1113B3B7AD2}" type="pres">
      <dgm:prSet presAssocID="{9A7D7859-8FFD-4315-9657-5B550688E7C4}" presName="rootConnector" presStyleLbl="node2" presStyleIdx="2" presStyleCnt="3"/>
      <dgm:spPr/>
    </dgm:pt>
    <dgm:pt modelId="{8FD2DE99-D6A3-4338-9A1D-4F2BDEED11DF}" type="pres">
      <dgm:prSet presAssocID="{9A7D7859-8FFD-4315-9657-5B550688E7C4}" presName="hierChild4" presStyleCnt="0"/>
      <dgm:spPr/>
    </dgm:pt>
    <dgm:pt modelId="{C08E8A26-02CD-4165-B631-CCD920FFAD5E}" type="pres">
      <dgm:prSet presAssocID="{9A7D7859-8FFD-4315-9657-5B550688E7C4}" presName="hierChild5" presStyleCnt="0"/>
      <dgm:spPr/>
    </dgm:pt>
    <dgm:pt modelId="{49B3C024-1663-4F4F-BBC8-E019E20D6041}" type="pres">
      <dgm:prSet presAssocID="{5D50E4D7-DFA9-4E50-B765-02B6E5911B7A}" presName="hierChild3" presStyleCnt="0"/>
      <dgm:spPr/>
    </dgm:pt>
  </dgm:ptLst>
  <dgm:cxnLst>
    <dgm:cxn modelId="{BAF35B04-A1A2-4A10-B9B6-A3D249AF02C4}" type="presOf" srcId="{9A7D7859-8FFD-4315-9657-5B550688E7C4}" destId="{3503999B-A888-44AD-9981-23421AD432C4}" srcOrd="0" destOrd="0" presId="urn:microsoft.com/office/officeart/2005/8/layout/orgChart1"/>
    <dgm:cxn modelId="{69C3E014-200A-49F8-A001-66F3441E7491}" type="presOf" srcId="{225C915F-7FA3-4C3E-9CF7-61E2097DCAE3}" destId="{9A917619-E856-4E1D-B1D7-7B26872D43F0}" srcOrd="0" destOrd="0" presId="urn:microsoft.com/office/officeart/2005/8/layout/orgChart1"/>
    <dgm:cxn modelId="{9C798B16-6694-42E9-84B4-743AA8B78D92}" type="presOf" srcId="{5D50E4D7-DFA9-4E50-B765-02B6E5911B7A}" destId="{13AE81E6-976C-46E7-8769-97AD0A9FF07F}" srcOrd="0" destOrd="0" presId="urn:microsoft.com/office/officeart/2005/8/layout/orgChart1"/>
    <dgm:cxn modelId="{B25F3832-62C1-4F03-AE09-A87022BC3F6E}" type="presOf" srcId="{9A7D7859-8FFD-4315-9657-5B550688E7C4}" destId="{FA4A19F3-E1DA-4765-8E26-D1113B3B7AD2}" srcOrd="1" destOrd="0" presId="urn:microsoft.com/office/officeart/2005/8/layout/orgChart1"/>
    <dgm:cxn modelId="{03E5E437-D156-432B-9101-CD6663DCE50E}" type="presOf" srcId="{225C915F-7FA3-4C3E-9CF7-61E2097DCAE3}" destId="{7AA59380-3927-4B22-87D5-F7FA2F4F9A37}" srcOrd="1" destOrd="0" presId="urn:microsoft.com/office/officeart/2005/8/layout/orgChart1"/>
    <dgm:cxn modelId="{1613715B-2A81-46E6-9ED7-41A763A5369E}" srcId="{A70F0C33-7AEB-4D38-AFDC-EDD5EDF55089}" destId="{5D50E4D7-DFA9-4E50-B765-02B6E5911B7A}" srcOrd="0" destOrd="0" parTransId="{49D2A0C8-C7BC-4504-83E4-B9DD88F1E1F5}" sibTransId="{F090F997-D306-4F98-8D76-FC0B7C4F3A70}"/>
    <dgm:cxn modelId="{7E99815C-EE8E-44C3-9DC9-5226019519D6}" type="presOf" srcId="{A70F0C33-7AEB-4D38-AFDC-EDD5EDF55089}" destId="{CE539656-8096-432B-8311-0931E8BF6E48}" srcOrd="0" destOrd="0" presId="urn:microsoft.com/office/officeart/2005/8/layout/orgChart1"/>
    <dgm:cxn modelId="{BC65F35F-94B7-47F0-9AA6-7502F7DD8083}" type="presOf" srcId="{E99E74DD-262A-41DB-AEC1-D5A8CA1A41D0}" destId="{3911F7BA-352C-424D-BBC8-A4754029164A}" srcOrd="0" destOrd="0" presId="urn:microsoft.com/office/officeart/2005/8/layout/orgChart1"/>
    <dgm:cxn modelId="{72CB6A41-D835-43C7-A6C3-70A3FD87A351}" srcId="{5D50E4D7-DFA9-4E50-B765-02B6E5911B7A}" destId="{225C915F-7FA3-4C3E-9CF7-61E2097DCAE3}" srcOrd="0" destOrd="0" parTransId="{AC916E64-090C-4851-8205-E92FC0639146}" sibTransId="{D94DA443-B52D-4491-B6FE-FC72411446A2}"/>
    <dgm:cxn modelId="{DEF18F48-EA4D-47B3-AAD0-258CBFB64CC6}" type="presOf" srcId="{A65AEC7E-A9C0-4A81-A15C-17CAA62DB855}" destId="{48F98271-B896-4EED-871D-699E2627DF1B}" srcOrd="0" destOrd="0" presId="urn:microsoft.com/office/officeart/2005/8/layout/orgChart1"/>
    <dgm:cxn modelId="{BED0CF56-BD33-4F66-B39D-E178B515C9E5}" type="presOf" srcId="{DEE03DBC-6849-45CD-B5F3-8A36657F86A0}" destId="{0772401D-5581-4D50-A15D-4F78221D6402}" srcOrd="0" destOrd="0" presId="urn:microsoft.com/office/officeart/2005/8/layout/orgChart1"/>
    <dgm:cxn modelId="{B883FE80-9578-44BB-9BB3-26435163091D}" srcId="{5D50E4D7-DFA9-4E50-B765-02B6E5911B7A}" destId="{9A7D7859-8FFD-4315-9657-5B550688E7C4}" srcOrd="2" destOrd="0" parTransId="{E99E74DD-262A-41DB-AEC1-D5A8CA1A41D0}" sibTransId="{276BD93A-CCB1-4AAD-B764-AB77793C4335}"/>
    <dgm:cxn modelId="{A6ADE490-19D9-4A43-BB8A-5673198285A4}" type="presOf" srcId="{AC916E64-090C-4851-8205-E92FC0639146}" destId="{8FC2CA38-7AAC-4394-8E8C-285E8D125FA3}" srcOrd="0" destOrd="0" presId="urn:microsoft.com/office/officeart/2005/8/layout/orgChart1"/>
    <dgm:cxn modelId="{B05C959A-BA72-48B7-AB42-5B1E152946EB}" type="presOf" srcId="{5D50E4D7-DFA9-4E50-B765-02B6E5911B7A}" destId="{0F79E85A-C047-45F5-A2DE-333C838E824D}" srcOrd="1" destOrd="0" presId="urn:microsoft.com/office/officeart/2005/8/layout/orgChart1"/>
    <dgm:cxn modelId="{CAB246D5-980A-40DD-A80D-078DACF2883E}" srcId="{5D50E4D7-DFA9-4E50-B765-02B6E5911B7A}" destId="{A65AEC7E-A9C0-4A81-A15C-17CAA62DB855}" srcOrd="1" destOrd="0" parTransId="{DEE03DBC-6849-45CD-B5F3-8A36657F86A0}" sibTransId="{BC2BB487-3002-4BA2-8526-83C9CB40BE35}"/>
    <dgm:cxn modelId="{1C0619DA-FF91-4BB9-9E6B-6EFF37FEEE42}" type="presOf" srcId="{A65AEC7E-A9C0-4A81-A15C-17CAA62DB855}" destId="{C43C84D1-FFCF-4177-BA15-D4321B30BBA5}" srcOrd="1" destOrd="0" presId="urn:microsoft.com/office/officeart/2005/8/layout/orgChart1"/>
    <dgm:cxn modelId="{64A389C6-6644-4C2A-B373-6911A0997272}" type="presParOf" srcId="{CE539656-8096-432B-8311-0931E8BF6E48}" destId="{F9015501-A998-4F44-9522-DC2B267E10B4}" srcOrd="0" destOrd="0" presId="urn:microsoft.com/office/officeart/2005/8/layout/orgChart1"/>
    <dgm:cxn modelId="{DE09753C-B97B-4B79-8B0D-1C8DD4A821C4}" type="presParOf" srcId="{F9015501-A998-4F44-9522-DC2B267E10B4}" destId="{9DD82F9D-0448-4DA9-9D38-C5B09BA70F5B}" srcOrd="0" destOrd="0" presId="urn:microsoft.com/office/officeart/2005/8/layout/orgChart1"/>
    <dgm:cxn modelId="{3ECC6EB0-D6C7-4E88-B891-839C9B3F1F24}" type="presParOf" srcId="{9DD82F9D-0448-4DA9-9D38-C5B09BA70F5B}" destId="{13AE81E6-976C-46E7-8769-97AD0A9FF07F}" srcOrd="0" destOrd="0" presId="urn:microsoft.com/office/officeart/2005/8/layout/orgChart1"/>
    <dgm:cxn modelId="{3CDE2E8E-4CDB-4322-9829-BB6F96DF8AF6}" type="presParOf" srcId="{9DD82F9D-0448-4DA9-9D38-C5B09BA70F5B}" destId="{0F79E85A-C047-45F5-A2DE-333C838E824D}" srcOrd="1" destOrd="0" presId="urn:microsoft.com/office/officeart/2005/8/layout/orgChart1"/>
    <dgm:cxn modelId="{C96033C1-4B6F-4232-8528-95E4CF7001E6}" type="presParOf" srcId="{F9015501-A998-4F44-9522-DC2B267E10B4}" destId="{364CECD8-7E83-4345-B5D8-6A90B53AEA98}" srcOrd="1" destOrd="0" presId="urn:microsoft.com/office/officeart/2005/8/layout/orgChart1"/>
    <dgm:cxn modelId="{F9AE8018-67FC-4632-9C1A-F46940FC0B8C}" type="presParOf" srcId="{364CECD8-7E83-4345-B5D8-6A90B53AEA98}" destId="{8FC2CA38-7AAC-4394-8E8C-285E8D125FA3}" srcOrd="0" destOrd="0" presId="urn:microsoft.com/office/officeart/2005/8/layout/orgChart1"/>
    <dgm:cxn modelId="{D98F0F51-207D-45E5-A4C9-C55FDBB952A4}" type="presParOf" srcId="{364CECD8-7E83-4345-B5D8-6A90B53AEA98}" destId="{370F162F-2783-49FE-BA31-70EC6709229E}" srcOrd="1" destOrd="0" presId="urn:microsoft.com/office/officeart/2005/8/layout/orgChart1"/>
    <dgm:cxn modelId="{7CDF89A9-09C1-4AA5-B5DF-C45CF1B3A6A6}" type="presParOf" srcId="{370F162F-2783-49FE-BA31-70EC6709229E}" destId="{AADCECEB-C6F9-41C2-9606-C56B46DDBED9}" srcOrd="0" destOrd="0" presId="urn:microsoft.com/office/officeart/2005/8/layout/orgChart1"/>
    <dgm:cxn modelId="{0BAD3C8A-752C-42D2-8916-769951FB0498}" type="presParOf" srcId="{AADCECEB-C6F9-41C2-9606-C56B46DDBED9}" destId="{9A917619-E856-4E1D-B1D7-7B26872D43F0}" srcOrd="0" destOrd="0" presId="urn:microsoft.com/office/officeart/2005/8/layout/orgChart1"/>
    <dgm:cxn modelId="{081FCD25-A255-4844-B73E-63516A8AE0F3}" type="presParOf" srcId="{AADCECEB-C6F9-41C2-9606-C56B46DDBED9}" destId="{7AA59380-3927-4B22-87D5-F7FA2F4F9A37}" srcOrd="1" destOrd="0" presId="urn:microsoft.com/office/officeart/2005/8/layout/orgChart1"/>
    <dgm:cxn modelId="{0AD3DA22-F30B-470D-87ED-2119626F9EE4}" type="presParOf" srcId="{370F162F-2783-49FE-BA31-70EC6709229E}" destId="{41811CD7-AE03-4F95-8160-E907EF11BD89}" srcOrd="1" destOrd="0" presId="urn:microsoft.com/office/officeart/2005/8/layout/orgChart1"/>
    <dgm:cxn modelId="{0405885D-0F37-4963-8BDC-0E8E7C1410F9}" type="presParOf" srcId="{370F162F-2783-49FE-BA31-70EC6709229E}" destId="{88570728-7E4E-4E6C-A95B-D603D21EBC76}" srcOrd="2" destOrd="0" presId="urn:microsoft.com/office/officeart/2005/8/layout/orgChart1"/>
    <dgm:cxn modelId="{86FBCDC1-BA79-41AE-9840-1ADD81A61E64}" type="presParOf" srcId="{364CECD8-7E83-4345-B5D8-6A90B53AEA98}" destId="{0772401D-5581-4D50-A15D-4F78221D6402}" srcOrd="2" destOrd="0" presId="urn:microsoft.com/office/officeart/2005/8/layout/orgChart1"/>
    <dgm:cxn modelId="{C9886C03-74A6-4127-89B2-62D13B0C6CF5}" type="presParOf" srcId="{364CECD8-7E83-4345-B5D8-6A90B53AEA98}" destId="{F8CC370A-F841-4743-B6DA-B321F7603877}" srcOrd="3" destOrd="0" presId="urn:microsoft.com/office/officeart/2005/8/layout/orgChart1"/>
    <dgm:cxn modelId="{D91C8AC9-0FDE-498A-9338-4B7372152B34}" type="presParOf" srcId="{F8CC370A-F841-4743-B6DA-B321F7603877}" destId="{935323FF-C81D-42F7-A236-16C3F1AD257F}" srcOrd="0" destOrd="0" presId="urn:microsoft.com/office/officeart/2005/8/layout/orgChart1"/>
    <dgm:cxn modelId="{25C76F7D-8E47-4613-A3A1-2F65112BBACB}" type="presParOf" srcId="{935323FF-C81D-42F7-A236-16C3F1AD257F}" destId="{48F98271-B896-4EED-871D-699E2627DF1B}" srcOrd="0" destOrd="0" presId="urn:microsoft.com/office/officeart/2005/8/layout/orgChart1"/>
    <dgm:cxn modelId="{552F7634-3005-4429-9D88-D0D002EDEA07}" type="presParOf" srcId="{935323FF-C81D-42F7-A236-16C3F1AD257F}" destId="{C43C84D1-FFCF-4177-BA15-D4321B30BBA5}" srcOrd="1" destOrd="0" presId="urn:microsoft.com/office/officeart/2005/8/layout/orgChart1"/>
    <dgm:cxn modelId="{36167959-55EE-4108-BBA7-DBA84783F486}" type="presParOf" srcId="{F8CC370A-F841-4743-B6DA-B321F7603877}" destId="{FD625E84-0B8C-4F24-9BD3-1D28B28FF0AB}" srcOrd="1" destOrd="0" presId="urn:microsoft.com/office/officeart/2005/8/layout/orgChart1"/>
    <dgm:cxn modelId="{5B19AD96-5742-47A5-99E4-A761BCE1C749}" type="presParOf" srcId="{F8CC370A-F841-4743-B6DA-B321F7603877}" destId="{716D7D69-B624-4E3E-8C7B-26D118182FBD}" srcOrd="2" destOrd="0" presId="urn:microsoft.com/office/officeart/2005/8/layout/orgChart1"/>
    <dgm:cxn modelId="{160E9835-F182-4C51-B0E7-EB2482DD9C7C}" type="presParOf" srcId="{364CECD8-7E83-4345-B5D8-6A90B53AEA98}" destId="{3911F7BA-352C-424D-BBC8-A4754029164A}" srcOrd="4" destOrd="0" presId="urn:microsoft.com/office/officeart/2005/8/layout/orgChart1"/>
    <dgm:cxn modelId="{EF5E53AB-25B5-4192-82AE-33BFB34E26C6}" type="presParOf" srcId="{364CECD8-7E83-4345-B5D8-6A90B53AEA98}" destId="{75F08770-B72F-44A9-8705-43C64BD98367}" srcOrd="5" destOrd="0" presId="urn:microsoft.com/office/officeart/2005/8/layout/orgChart1"/>
    <dgm:cxn modelId="{14C4DBF4-7E71-4139-81FC-21491179B3A5}" type="presParOf" srcId="{75F08770-B72F-44A9-8705-43C64BD98367}" destId="{9CB3F35F-7ACC-46B4-80B5-2B8495A16E33}" srcOrd="0" destOrd="0" presId="urn:microsoft.com/office/officeart/2005/8/layout/orgChart1"/>
    <dgm:cxn modelId="{E64C25B9-1B05-4C92-B651-5716F941F007}" type="presParOf" srcId="{9CB3F35F-7ACC-46B4-80B5-2B8495A16E33}" destId="{3503999B-A888-44AD-9981-23421AD432C4}" srcOrd="0" destOrd="0" presId="urn:microsoft.com/office/officeart/2005/8/layout/orgChart1"/>
    <dgm:cxn modelId="{EA91D4FD-5725-479E-AA79-8933B483DFF8}" type="presParOf" srcId="{9CB3F35F-7ACC-46B4-80B5-2B8495A16E33}" destId="{FA4A19F3-E1DA-4765-8E26-D1113B3B7AD2}" srcOrd="1" destOrd="0" presId="urn:microsoft.com/office/officeart/2005/8/layout/orgChart1"/>
    <dgm:cxn modelId="{A5580D1E-72E2-4D16-854B-9CC65227BC44}" type="presParOf" srcId="{75F08770-B72F-44A9-8705-43C64BD98367}" destId="{8FD2DE99-D6A3-4338-9A1D-4F2BDEED11DF}" srcOrd="1" destOrd="0" presId="urn:microsoft.com/office/officeart/2005/8/layout/orgChart1"/>
    <dgm:cxn modelId="{8F8B0291-3175-42F2-AC21-0490952DE2DE}" type="presParOf" srcId="{75F08770-B72F-44A9-8705-43C64BD98367}" destId="{C08E8A26-02CD-4165-B631-CCD920FFAD5E}" srcOrd="2" destOrd="0" presId="urn:microsoft.com/office/officeart/2005/8/layout/orgChart1"/>
    <dgm:cxn modelId="{7CFB5060-E1B1-45D9-93ED-89EA47AD3948}" type="presParOf" srcId="{F9015501-A998-4F44-9522-DC2B267E10B4}" destId="{49B3C024-1663-4F4F-BBC8-E019E20D604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11F7BA-352C-424D-BBC8-A4754029164A}">
      <dsp:nvSpPr>
        <dsp:cNvPr id="0" name=""/>
        <dsp:cNvSpPr/>
      </dsp:nvSpPr>
      <dsp:spPr>
        <a:xfrm>
          <a:off x="3978223" y="1152128"/>
          <a:ext cx="2851503" cy="4948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7432"/>
              </a:lnTo>
              <a:lnTo>
                <a:pt x="2851503" y="247432"/>
              </a:lnTo>
              <a:lnTo>
                <a:pt x="2851503" y="494877"/>
              </a:lnTo>
            </a:path>
          </a:pathLst>
        </a:custGeom>
        <a:noFill/>
        <a:ln w="15875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72401D-5581-4D50-A15D-4F78221D6402}">
      <dsp:nvSpPr>
        <dsp:cNvPr id="0" name=""/>
        <dsp:cNvSpPr/>
      </dsp:nvSpPr>
      <dsp:spPr>
        <a:xfrm>
          <a:off x="3932503" y="1152128"/>
          <a:ext cx="91440" cy="49487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94877"/>
              </a:lnTo>
            </a:path>
          </a:pathLst>
        </a:custGeom>
        <a:noFill/>
        <a:ln w="15875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C2CA38-7AAC-4394-8E8C-285E8D125FA3}">
      <dsp:nvSpPr>
        <dsp:cNvPr id="0" name=""/>
        <dsp:cNvSpPr/>
      </dsp:nvSpPr>
      <dsp:spPr>
        <a:xfrm>
          <a:off x="1178307" y="1152128"/>
          <a:ext cx="2799916" cy="494877"/>
        </a:xfrm>
        <a:custGeom>
          <a:avLst/>
          <a:gdLst/>
          <a:ahLst/>
          <a:cxnLst/>
          <a:rect l="0" t="0" r="0" b="0"/>
          <a:pathLst>
            <a:path>
              <a:moveTo>
                <a:pt x="2799916" y="0"/>
              </a:moveTo>
              <a:lnTo>
                <a:pt x="2799916" y="247432"/>
              </a:lnTo>
              <a:lnTo>
                <a:pt x="0" y="247432"/>
              </a:lnTo>
              <a:lnTo>
                <a:pt x="0" y="494877"/>
              </a:lnTo>
            </a:path>
          </a:pathLst>
        </a:custGeom>
        <a:noFill/>
        <a:ln w="15875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AE81E6-976C-46E7-8769-97AD0A9FF07F}">
      <dsp:nvSpPr>
        <dsp:cNvPr id="0" name=""/>
        <dsp:cNvSpPr/>
      </dsp:nvSpPr>
      <dsp:spPr>
        <a:xfrm>
          <a:off x="2799916" y="332556"/>
          <a:ext cx="2356614" cy="81957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Машинное обучение</a:t>
          </a:r>
          <a:endParaRPr lang="en-US" sz="1600" kern="1200" dirty="0"/>
        </a:p>
      </dsp:txBody>
      <dsp:txXfrm>
        <a:off x="2799916" y="332556"/>
        <a:ext cx="2356614" cy="819571"/>
      </dsp:txXfrm>
    </dsp:sp>
    <dsp:sp modelId="{9A917619-E856-4E1D-B1D7-7B26872D43F0}">
      <dsp:nvSpPr>
        <dsp:cNvPr id="0" name=""/>
        <dsp:cNvSpPr/>
      </dsp:nvSpPr>
      <dsp:spPr>
        <a:xfrm>
          <a:off x="0" y="1647005"/>
          <a:ext cx="2356614" cy="69390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</a:t>
          </a:r>
          <a:r>
            <a:rPr lang="ru-RU" sz="1600" kern="1200" dirty="0"/>
            <a:t> учителем</a:t>
          </a:r>
          <a:endParaRPr lang="en-US" sz="1600" kern="1200" dirty="0"/>
        </a:p>
      </dsp:txBody>
      <dsp:txXfrm>
        <a:off x="0" y="1647005"/>
        <a:ext cx="2356614" cy="693905"/>
      </dsp:txXfrm>
    </dsp:sp>
    <dsp:sp modelId="{48F98271-B896-4EED-871D-699E2627DF1B}">
      <dsp:nvSpPr>
        <dsp:cNvPr id="0" name=""/>
        <dsp:cNvSpPr/>
      </dsp:nvSpPr>
      <dsp:spPr>
        <a:xfrm>
          <a:off x="2799916" y="1647005"/>
          <a:ext cx="2356614" cy="69390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Без учителя</a:t>
          </a:r>
          <a:endParaRPr lang="en-US" sz="1600" kern="1200" dirty="0"/>
        </a:p>
      </dsp:txBody>
      <dsp:txXfrm>
        <a:off x="2799916" y="1647005"/>
        <a:ext cx="2356614" cy="693905"/>
      </dsp:txXfrm>
    </dsp:sp>
    <dsp:sp modelId="{3503999B-A888-44AD-9981-23421AD432C4}">
      <dsp:nvSpPr>
        <dsp:cNvPr id="0" name=""/>
        <dsp:cNvSpPr/>
      </dsp:nvSpPr>
      <dsp:spPr>
        <a:xfrm>
          <a:off x="5651419" y="1647005"/>
          <a:ext cx="2356614" cy="69390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Специализированное</a:t>
          </a:r>
          <a:endParaRPr lang="en-US" sz="1600" kern="1200" dirty="0"/>
        </a:p>
      </dsp:txBody>
      <dsp:txXfrm>
        <a:off x="5651419" y="1647005"/>
        <a:ext cx="2356614" cy="6939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BA26DC-DDDC-4CC5-A23D-6BEC709730EF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3DD0B6-1277-41EA-8696-C19CAC991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072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DD0B6-1277-41EA-8696-C19CAC9912B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877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DD0B6-1277-41EA-8696-C19CAC9912B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981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DD0B6-1277-41EA-8696-C19CAC9912B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5424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DD0B6-1277-41EA-8696-C19CAC9912B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600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5C893-BAD1-A83F-62F7-FF408F2A2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AF119D-D3CC-CD53-E7E8-DAB6AF0593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7ABA59-6222-2B24-CFC8-EB796DD8DC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614D8-EB5D-8C65-84CC-A1C01DF42F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B4D6E-B0FE-488E-9D06-8BA112C678A9}" type="slidenum">
              <a:rPr lang="ru-RU" altLang="ru-BY" smtClean="0"/>
              <a:pPr/>
              <a:t>22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32017181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Данный пример иллюстрирует случай</a:t>
            </a:r>
            <a:r>
              <a:rPr lang="ru-RU" baseline="0" dirty="0"/>
              <a:t> обучения с учителем, так как для каждого значения из набора мы ставим в соответствие какой-то правильный ответ.</a:t>
            </a:r>
          </a:p>
          <a:p>
            <a:r>
              <a:rPr lang="ru-RU" baseline="0" dirty="0"/>
              <a:t>В данном случае проиллюстрирована регрессия, так как на выходе мы получаем реальные непрерывные значения для некоторой зависимости.</a:t>
            </a:r>
          </a:p>
          <a:p>
            <a:r>
              <a:rPr lang="ru-RU" baseline="0" dirty="0"/>
              <a:t>В другом случае обучения с учителем (задача классификации) необходимо на выходе присвоить каждому значению некоторый дискретный класс.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B4D6E-B0FE-488E-9D06-8BA112C678A9}" type="slidenum">
              <a:rPr lang="ru-RU" altLang="ru-BY" smtClean="0"/>
              <a:pPr/>
              <a:t>23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3658273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того, как алгоритм обучения отработает,</a:t>
            </a:r>
            <a:r>
              <a:rPr lang="ru-RU" baseline="0" dirty="0"/>
              <a:t> мы должны получить функцию </a:t>
            </a:r>
            <a:r>
              <a:rPr lang="en-US" baseline="0" dirty="0"/>
              <a:t>h, </a:t>
            </a:r>
            <a:r>
              <a:rPr lang="ru-RU" baseline="0" dirty="0"/>
              <a:t>называемую гипотезой. </a:t>
            </a:r>
          </a:p>
          <a:p>
            <a:r>
              <a:rPr lang="ru-RU" baseline="0" dirty="0"/>
              <a:t>Функция должна на вход принимать </a:t>
            </a:r>
            <a:r>
              <a:rPr lang="en-US" baseline="0" dirty="0"/>
              <a:t>x </a:t>
            </a:r>
            <a:r>
              <a:rPr lang="ru-RU" baseline="0" dirty="0"/>
              <a:t>(площадь квартиры) и на выходе давать </a:t>
            </a:r>
            <a:r>
              <a:rPr lang="en-US" baseline="0" dirty="0"/>
              <a:t>y </a:t>
            </a:r>
            <a:r>
              <a:rPr lang="ru-RU" baseline="0" dirty="0"/>
              <a:t>(</a:t>
            </a:r>
            <a:r>
              <a:rPr lang="ru-RU" baseline="0" dirty="0" err="1"/>
              <a:t>предполагаемцену</a:t>
            </a:r>
            <a:r>
              <a:rPr lang="ru-RU" baseline="0" dirty="0"/>
              <a:t>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B4D6E-B0FE-488E-9D06-8BA112C678A9}" type="slidenum">
              <a:rPr lang="ru-RU" altLang="ru-BY" smtClean="0"/>
              <a:pPr/>
              <a:t>24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42611684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Есть набор обучающих данных</a:t>
            </a:r>
            <a:r>
              <a:rPr lang="ru-RU" baseline="0" dirty="0"/>
              <a:t>, есть общий вид гипотезы описания этих данных. Как, собственно, подобрать коэффициенты?</a:t>
            </a:r>
          </a:p>
          <a:p>
            <a:r>
              <a:rPr lang="ru-RU" baseline="0" dirty="0"/>
              <a:t>Идея в том, чтобы подобрать такие параметры функции, при которых значения </a:t>
            </a:r>
            <a:r>
              <a:rPr lang="en-US" baseline="0" dirty="0"/>
              <a:t>h(x) </a:t>
            </a:r>
            <a:r>
              <a:rPr lang="ru-RU" baseline="0" dirty="0"/>
              <a:t>будут наиболее близки к </a:t>
            </a:r>
            <a:r>
              <a:rPr lang="en-US" baseline="0" dirty="0"/>
              <a:t>y.</a:t>
            </a:r>
          </a:p>
          <a:p>
            <a:r>
              <a:rPr lang="ru-RU" baseline="0" dirty="0"/>
              <a:t>Таким образом, мы хотим минимизировать сумму квадратов разниц между реальной стоимостью квартир и предполагаемой по нашей подобранной гипотезе.</a:t>
            </a:r>
          </a:p>
          <a:p>
            <a:endParaRPr lang="ru-RU" baseline="0" dirty="0"/>
          </a:p>
          <a:p>
            <a:r>
              <a:rPr lang="ru-RU" baseline="0" dirty="0"/>
              <a:t>Среднеквадратичная ошибка – наиболее популярный подход, особенно, для задач регрессии. Есть и другие варианты.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B4D6E-B0FE-488E-9D06-8BA112C678A9}" type="slidenum">
              <a:rPr lang="ru-RU" altLang="ru-BY" smtClean="0"/>
              <a:pPr/>
              <a:t>25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16464850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B4D6E-B0FE-488E-9D06-8BA112C678A9}" type="slidenum">
              <a:rPr lang="ru-RU" altLang="ru-BY" smtClean="0"/>
              <a:pPr/>
              <a:t>29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5565263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B4D6E-B0FE-488E-9D06-8BA112C678A9}" type="slidenum">
              <a:rPr lang="ru-RU" altLang="ru-BY" smtClean="0"/>
              <a:pPr/>
              <a:t>31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18509385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B4D6E-B0FE-488E-9D06-8BA112C678A9}" type="slidenum">
              <a:rPr lang="ru-RU" altLang="ru-BY" smtClean="0"/>
              <a:pPr/>
              <a:t>32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46529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B4D6E-B0FE-488E-9D06-8BA112C678A9}" type="slidenum">
              <a:rPr lang="ru-RU" altLang="ru-BY" smtClean="0"/>
              <a:pPr/>
              <a:t>33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663578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B4D6E-B0FE-488E-9D06-8BA112C678A9}" type="slidenum">
              <a:rPr lang="ru-RU" altLang="ru-BY" smtClean="0"/>
              <a:pPr/>
              <a:t>35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23154247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B4D6E-B0FE-488E-9D06-8BA112C678A9}" type="slidenum">
              <a:rPr lang="ru-RU" altLang="ru-BY" smtClean="0"/>
              <a:pPr/>
              <a:t>37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4711333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B4D6E-B0FE-488E-9D06-8BA112C678A9}" type="slidenum">
              <a:rPr lang="ru-RU" altLang="ru-BY" smtClean="0"/>
              <a:pPr/>
              <a:t>38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30260043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B4D6E-B0FE-488E-9D06-8BA112C678A9}" type="slidenum">
              <a:rPr lang="ru-RU" altLang="ru-BY" smtClean="0"/>
              <a:pPr/>
              <a:t>39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35429577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B4D6E-B0FE-488E-9D06-8BA112C678A9}" type="slidenum">
              <a:rPr lang="ru-RU" altLang="ru-BY" smtClean="0"/>
              <a:pPr/>
              <a:t>41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19552324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B4D6E-B0FE-488E-9D06-8BA112C678A9}" type="slidenum">
              <a:rPr lang="ru-RU" altLang="ru-BY" smtClean="0"/>
              <a:pPr/>
              <a:t>42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38901193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B4D6E-B0FE-488E-9D06-8BA112C678A9}" type="slidenum">
              <a:rPr lang="ru-RU" altLang="ru-BY" smtClean="0"/>
              <a:pPr/>
              <a:t>45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593234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8EC5FC9-F7D0-0141-850B-7623CA81A775}"/>
              </a:ext>
            </a:extLst>
          </p:cNvPr>
          <p:cNvSpPr/>
          <p:nvPr userDrawn="1"/>
        </p:nvSpPr>
        <p:spPr>
          <a:xfrm>
            <a:off x="10429390" y="360726"/>
            <a:ext cx="1035859" cy="1035859"/>
          </a:xfrm>
          <a:prstGeom prst="ellipse">
            <a:avLst/>
          </a:prstGeom>
          <a:noFill/>
          <a:ln w="3810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8F839E6-7F1F-6E4D-B83C-F5DA99E98229}"/>
              </a:ext>
            </a:extLst>
          </p:cNvPr>
          <p:cNvSpPr/>
          <p:nvPr userDrawn="1"/>
        </p:nvSpPr>
        <p:spPr>
          <a:xfrm>
            <a:off x="10337662" y="4398630"/>
            <a:ext cx="1700492" cy="1700492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EACA50E-A3A8-9D41-B30C-03B00FB2DEF0}"/>
              </a:ext>
            </a:extLst>
          </p:cNvPr>
          <p:cNvSpPr/>
          <p:nvPr userDrawn="1"/>
        </p:nvSpPr>
        <p:spPr>
          <a:xfrm>
            <a:off x="5664569" y="541205"/>
            <a:ext cx="283407" cy="283407"/>
          </a:xfrm>
          <a:prstGeom prst="ellipse">
            <a:avLst/>
          </a:pr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A92073B-F20B-034A-BC3A-9B993F0DD0BA}"/>
              </a:ext>
            </a:extLst>
          </p:cNvPr>
          <p:cNvSpPr/>
          <p:nvPr userDrawn="1"/>
        </p:nvSpPr>
        <p:spPr>
          <a:xfrm>
            <a:off x="458087" y="5430446"/>
            <a:ext cx="99011" cy="99011"/>
          </a:xfrm>
          <a:prstGeom prst="ellipse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4091F50-D240-B145-B0B1-DAEDDFDE34AD}"/>
              </a:ext>
            </a:extLst>
          </p:cNvPr>
          <p:cNvSpPr/>
          <p:nvPr userDrawn="1"/>
        </p:nvSpPr>
        <p:spPr>
          <a:xfrm>
            <a:off x="0" y="-1994"/>
            <a:ext cx="1700492" cy="1700492"/>
          </a:xfrm>
          <a:prstGeom prst="ellipse">
            <a:avLst/>
          </a:prstGeom>
          <a:noFill/>
          <a:ln w="3810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700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A2141DD-8D8D-FA43-BD4F-2CFC93C87782}"/>
              </a:ext>
            </a:extLst>
          </p:cNvPr>
          <p:cNvGrpSpPr/>
          <p:nvPr userDrawn="1"/>
        </p:nvGrpSpPr>
        <p:grpSpPr>
          <a:xfrm rot="5400000">
            <a:off x="-21619" y="1088453"/>
            <a:ext cx="910099" cy="99010"/>
            <a:chOff x="622418" y="280927"/>
            <a:chExt cx="2335705" cy="254101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1A62821-5E0F-DE41-B5C2-17A3A7277F4E}"/>
                </a:ext>
              </a:extLst>
            </p:cNvPr>
            <p:cNvSpPr/>
            <p:nvPr userDrawn="1"/>
          </p:nvSpPr>
          <p:spPr>
            <a:xfrm>
              <a:off x="1038739" y="280927"/>
              <a:ext cx="254101" cy="254101"/>
            </a:xfrm>
            <a:prstGeom prst="ellips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311AE14-D8F0-1D4C-9D8D-603836582793}"/>
                </a:ext>
              </a:extLst>
            </p:cNvPr>
            <p:cNvSpPr/>
            <p:nvPr userDrawn="1"/>
          </p:nvSpPr>
          <p:spPr>
            <a:xfrm>
              <a:off x="1455060" y="280927"/>
              <a:ext cx="254101" cy="254101"/>
            </a:xfrm>
            <a:prstGeom prst="ellipse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F2BE645-D4F2-304C-9AFA-473D8F888A85}"/>
                </a:ext>
              </a:extLst>
            </p:cNvPr>
            <p:cNvSpPr/>
            <p:nvPr userDrawn="1"/>
          </p:nvSpPr>
          <p:spPr>
            <a:xfrm>
              <a:off x="1871381" y="280927"/>
              <a:ext cx="254101" cy="254101"/>
            </a:xfrm>
            <a:prstGeom prst="ellipse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3640330-30A6-6948-87A7-9DE6D41794F5}"/>
                </a:ext>
              </a:extLst>
            </p:cNvPr>
            <p:cNvSpPr/>
            <p:nvPr userDrawn="1"/>
          </p:nvSpPr>
          <p:spPr>
            <a:xfrm>
              <a:off x="2287702" y="280927"/>
              <a:ext cx="254101" cy="254101"/>
            </a:xfrm>
            <a:prstGeom prst="ellipse">
              <a:avLst/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DFB6548-D83C-1D4E-AE87-2E8F1D3D0FA7}"/>
                </a:ext>
              </a:extLst>
            </p:cNvPr>
            <p:cNvSpPr/>
            <p:nvPr userDrawn="1"/>
          </p:nvSpPr>
          <p:spPr>
            <a:xfrm>
              <a:off x="2704022" y="280927"/>
              <a:ext cx="254101" cy="254101"/>
            </a:xfrm>
            <a:prstGeom prst="ellips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97C7400-7EDC-8845-AB5A-80FB8175C1E2}"/>
                </a:ext>
              </a:extLst>
            </p:cNvPr>
            <p:cNvSpPr/>
            <p:nvPr userDrawn="1"/>
          </p:nvSpPr>
          <p:spPr>
            <a:xfrm>
              <a:off x="622418" y="280927"/>
              <a:ext cx="254101" cy="254101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" name="Title 1">
            <a:extLst>
              <a:ext uri="{FF2B5EF4-FFF2-40B4-BE49-F238E27FC236}">
                <a16:creationId xmlns:a16="http://schemas.microsoft.com/office/drawing/2014/main" id="{BC941C44-9B96-0040-8C71-D8364EB577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421817"/>
            <a:ext cx="10058400" cy="1369074"/>
          </a:xfrm>
          <a:prstGeom prst="rect">
            <a:avLst/>
          </a:prstGeom>
        </p:spPr>
        <p:txBody>
          <a:bodyPr lIns="0" rIns="0" anchor="ctr">
            <a:normAutofit/>
          </a:bodyPr>
          <a:lstStyle>
            <a:lvl1pPr>
              <a:defRPr sz="4000" cap="all" baseline="0"/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014993B-5057-2A4C-9CA0-383DC5504020}"/>
              </a:ext>
            </a:extLst>
          </p:cNvPr>
          <p:cNvSpPr/>
          <p:nvPr userDrawn="1"/>
        </p:nvSpPr>
        <p:spPr>
          <a:xfrm>
            <a:off x="10429390" y="360726"/>
            <a:ext cx="1035859" cy="1035859"/>
          </a:xfrm>
          <a:prstGeom prst="ellipse">
            <a:avLst/>
          </a:prstGeom>
          <a:noFill/>
          <a:ln w="3810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3B110E8-1FE2-BC47-A5AE-4C698B688B65}"/>
              </a:ext>
            </a:extLst>
          </p:cNvPr>
          <p:cNvSpPr/>
          <p:nvPr userDrawn="1"/>
        </p:nvSpPr>
        <p:spPr>
          <a:xfrm>
            <a:off x="5664570" y="125360"/>
            <a:ext cx="176394" cy="176394"/>
          </a:xfrm>
          <a:prstGeom prst="ellipse">
            <a:avLst/>
          </a:pr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7DACF2F-5D4D-434D-8786-E4DF0385E6F6}"/>
              </a:ext>
            </a:extLst>
          </p:cNvPr>
          <p:cNvSpPr/>
          <p:nvPr userDrawn="1"/>
        </p:nvSpPr>
        <p:spPr>
          <a:xfrm>
            <a:off x="458087" y="5430446"/>
            <a:ext cx="99011" cy="99011"/>
          </a:xfrm>
          <a:prstGeom prst="ellipse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FE816CC-CBCA-7946-B9E5-E9649EF369BE}"/>
              </a:ext>
            </a:extLst>
          </p:cNvPr>
          <p:cNvSpPr/>
          <p:nvPr userDrawn="1"/>
        </p:nvSpPr>
        <p:spPr>
          <a:xfrm>
            <a:off x="11383587" y="6035040"/>
            <a:ext cx="776923" cy="776923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278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C950F4E3-11A9-2549-A00D-601AEF6E49A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97279" y="2160508"/>
            <a:ext cx="2919413" cy="2919413"/>
          </a:xfrm>
          <a:prstGeom prst="ellipse">
            <a:avLst/>
          </a:prstGeom>
          <a:solidFill>
            <a:srgbClr val="EDEFF7"/>
          </a:solidFill>
          <a:ln w="38100">
            <a:solidFill>
              <a:schemeClr val="accent3"/>
            </a:solidFill>
          </a:ln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21B5A175-E633-E74F-AE3B-DF58F989F44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59186" y="2160508"/>
            <a:ext cx="2919413" cy="2919413"/>
          </a:xfrm>
          <a:prstGeom prst="ellipse">
            <a:avLst/>
          </a:prstGeom>
          <a:solidFill>
            <a:srgbClr val="EDEFF7"/>
          </a:solidFill>
          <a:ln w="38100">
            <a:solidFill>
              <a:schemeClr val="accent6"/>
            </a:solidFill>
          </a:ln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261D2778-BA56-D247-9B2C-28D010C9D4E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21093" y="2160508"/>
            <a:ext cx="2919413" cy="2919413"/>
          </a:xfrm>
          <a:prstGeom prst="ellipse">
            <a:avLst/>
          </a:prstGeom>
          <a:solidFill>
            <a:srgbClr val="EDEFF7"/>
          </a:solidFill>
          <a:ln w="38100">
            <a:solidFill>
              <a:schemeClr val="accent1"/>
            </a:solidFill>
          </a:ln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2DAF6EFF-134E-BA40-8B51-917FDE13C07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97279" y="5486968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Name Goes Here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188BF917-678C-1249-95B9-7FD2AC7B2231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666773" y="5486968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Name Goes Here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BAFF17AE-3EA2-2D47-BCDD-E5587B127062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236267" y="5486968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Name Goes Here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2D7EDB7-7C02-0245-8A1F-553F094A4429}"/>
              </a:ext>
            </a:extLst>
          </p:cNvPr>
          <p:cNvGrpSpPr/>
          <p:nvPr userDrawn="1"/>
        </p:nvGrpSpPr>
        <p:grpSpPr>
          <a:xfrm rot="5400000">
            <a:off x="-21619" y="1088453"/>
            <a:ext cx="910099" cy="99010"/>
            <a:chOff x="622418" y="280927"/>
            <a:chExt cx="2335705" cy="254101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CF5D165-4F6F-2447-8B9E-8B0D94808ED3}"/>
                </a:ext>
              </a:extLst>
            </p:cNvPr>
            <p:cNvSpPr/>
            <p:nvPr userDrawn="1"/>
          </p:nvSpPr>
          <p:spPr>
            <a:xfrm>
              <a:off x="1038739" y="280927"/>
              <a:ext cx="254101" cy="254101"/>
            </a:xfrm>
            <a:prstGeom prst="ellips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46C35C7-7133-4C43-BBF7-575440F7BAD3}"/>
                </a:ext>
              </a:extLst>
            </p:cNvPr>
            <p:cNvSpPr/>
            <p:nvPr userDrawn="1"/>
          </p:nvSpPr>
          <p:spPr>
            <a:xfrm>
              <a:off x="1455060" y="280927"/>
              <a:ext cx="254101" cy="254101"/>
            </a:xfrm>
            <a:prstGeom prst="ellipse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33DD7BE-C379-5C42-9FB0-EF72161049F4}"/>
                </a:ext>
              </a:extLst>
            </p:cNvPr>
            <p:cNvSpPr/>
            <p:nvPr userDrawn="1"/>
          </p:nvSpPr>
          <p:spPr>
            <a:xfrm>
              <a:off x="1871381" y="280927"/>
              <a:ext cx="254101" cy="254101"/>
            </a:xfrm>
            <a:prstGeom prst="ellipse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43DFC41-C6DE-7942-9358-E23A1EE8759D}"/>
                </a:ext>
              </a:extLst>
            </p:cNvPr>
            <p:cNvSpPr/>
            <p:nvPr userDrawn="1"/>
          </p:nvSpPr>
          <p:spPr>
            <a:xfrm>
              <a:off x="2287702" y="280927"/>
              <a:ext cx="254101" cy="254101"/>
            </a:xfrm>
            <a:prstGeom prst="ellipse">
              <a:avLst/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2ABB593-7229-9548-8BCC-C947B1BF8D93}"/>
                </a:ext>
              </a:extLst>
            </p:cNvPr>
            <p:cNvSpPr/>
            <p:nvPr userDrawn="1"/>
          </p:nvSpPr>
          <p:spPr>
            <a:xfrm>
              <a:off x="2704022" y="280927"/>
              <a:ext cx="254101" cy="254101"/>
            </a:xfrm>
            <a:prstGeom prst="ellips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86D2413-D60D-484E-ACAB-31891AFDA133}"/>
                </a:ext>
              </a:extLst>
            </p:cNvPr>
            <p:cNvSpPr/>
            <p:nvPr userDrawn="1"/>
          </p:nvSpPr>
          <p:spPr>
            <a:xfrm>
              <a:off x="622418" y="280927"/>
              <a:ext cx="254101" cy="254101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4" name="Title 1">
            <a:extLst>
              <a:ext uri="{FF2B5EF4-FFF2-40B4-BE49-F238E27FC236}">
                <a16:creationId xmlns:a16="http://schemas.microsoft.com/office/drawing/2014/main" id="{86090E0F-345E-3D4B-8886-95D8A4A77C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421817"/>
            <a:ext cx="10058400" cy="1369074"/>
          </a:xfrm>
          <a:prstGeom prst="rect">
            <a:avLst/>
          </a:prstGeom>
        </p:spPr>
        <p:txBody>
          <a:bodyPr lIns="0" rIns="0" anchor="ctr">
            <a:normAutofit/>
          </a:bodyPr>
          <a:lstStyle>
            <a:lvl1pPr>
              <a:defRPr sz="4000" cap="all" baseline="0"/>
            </a:lvl1pPr>
          </a:lstStyle>
          <a:p>
            <a:r>
              <a:rPr lang="en-US" dirty="0"/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3258682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7873" y="758952"/>
            <a:ext cx="7356255" cy="356616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ctr">
              <a:lnSpc>
                <a:spcPct val="9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17873" y="4663440"/>
            <a:ext cx="7356255" cy="1143000"/>
          </a:xfrm>
        </p:spPr>
        <p:txBody>
          <a:bodyPr lIns="91440" rIns="91440" anchor="t" anchorCtr="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158240" y="4485132"/>
            <a:ext cx="987552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675A452-E352-BE40-9E44-7C0E90F4DBC5}"/>
              </a:ext>
            </a:extLst>
          </p:cNvPr>
          <p:cNvSpPr/>
          <p:nvPr userDrawn="1"/>
        </p:nvSpPr>
        <p:spPr>
          <a:xfrm>
            <a:off x="10429390" y="360726"/>
            <a:ext cx="1035859" cy="1035859"/>
          </a:xfrm>
          <a:prstGeom prst="ellipse">
            <a:avLst/>
          </a:prstGeom>
          <a:noFill/>
          <a:ln w="3810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2E00246-7C7C-8E48-B95E-02BE89F197F5}"/>
              </a:ext>
            </a:extLst>
          </p:cNvPr>
          <p:cNvSpPr/>
          <p:nvPr userDrawn="1"/>
        </p:nvSpPr>
        <p:spPr>
          <a:xfrm>
            <a:off x="10337662" y="4398630"/>
            <a:ext cx="1700492" cy="1700492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BF1652A-A323-BC48-9A00-7ECF1C4E1DA4}"/>
              </a:ext>
            </a:extLst>
          </p:cNvPr>
          <p:cNvSpPr/>
          <p:nvPr userDrawn="1"/>
        </p:nvSpPr>
        <p:spPr>
          <a:xfrm>
            <a:off x="11634902" y="2565781"/>
            <a:ext cx="283407" cy="283407"/>
          </a:xfrm>
          <a:prstGeom prst="ellipse">
            <a:avLst/>
          </a:prstGeom>
          <a:solidFill>
            <a:schemeClr val="accent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733BC29-8FD1-CB45-8FF6-0C7CC3CB423D}"/>
              </a:ext>
            </a:extLst>
          </p:cNvPr>
          <p:cNvSpPr/>
          <p:nvPr userDrawn="1"/>
        </p:nvSpPr>
        <p:spPr>
          <a:xfrm>
            <a:off x="458087" y="5430446"/>
            <a:ext cx="99011" cy="99011"/>
          </a:xfrm>
          <a:prstGeom prst="ellipse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C67EB1F-C984-B840-BD1F-FD174D01A3AF}"/>
              </a:ext>
            </a:extLst>
          </p:cNvPr>
          <p:cNvSpPr/>
          <p:nvPr userDrawn="1"/>
        </p:nvSpPr>
        <p:spPr>
          <a:xfrm>
            <a:off x="6135" y="0"/>
            <a:ext cx="1700492" cy="1700492"/>
          </a:xfrm>
          <a:prstGeom prst="ellipse">
            <a:avLst/>
          </a:prstGeom>
          <a:noFill/>
          <a:ln w="3810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D75F8B1-A294-E349-BD08-B06B2954212A}"/>
              </a:ext>
            </a:extLst>
          </p:cNvPr>
          <p:cNvGrpSpPr/>
          <p:nvPr userDrawn="1"/>
        </p:nvGrpSpPr>
        <p:grpSpPr>
          <a:xfrm>
            <a:off x="495300" y="0"/>
            <a:ext cx="11201400" cy="6880860"/>
            <a:chOff x="495300" y="0"/>
            <a:chExt cx="11201400" cy="6880860"/>
          </a:xfrm>
        </p:grpSpPr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5942EFAD-842E-9C46-9853-C0F135D24007}"/>
                </a:ext>
              </a:extLst>
            </p:cNvPr>
            <p:cNvSpPr/>
            <p:nvPr userDrawn="1"/>
          </p:nvSpPr>
          <p:spPr>
            <a:xfrm>
              <a:off x="495300" y="0"/>
              <a:ext cx="1337265" cy="6880860"/>
            </a:xfrm>
            <a:custGeom>
              <a:avLst/>
              <a:gdLst>
                <a:gd name="connsiteX0" fmla="*/ 1173967 w 1337265"/>
                <a:gd name="connsiteY0" fmla="*/ 0 h 6880860"/>
                <a:gd name="connsiteX1" fmla="*/ 1319300 w 1337265"/>
                <a:gd name="connsiteY1" fmla="*/ 0 h 6880860"/>
                <a:gd name="connsiteX2" fmla="*/ 1204253 w 1337265"/>
                <a:gd name="connsiteY2" fmla="*/ 146399 h 6880860"/>
                <a:gd name="connsiteX3" fmla="*/ 114300 w 1337265"/>
                <a:gd name="connsiteY3" fmla="*/ 3429000 h 6880860"/>
                <a:gd name="connsiteX4" fmla="*/ 1204253 w 1337265"/>
                <a:gd name="connsiteY4" fmla="*/ 6711601 h 6880860"/>
                <a:gd name="connsiteX5" fmla="*/ 1337265 w 1337265"/>
                <a:gd name="connsiteY5" fmla="*/ 6880860 h 6880860"/>
                <a:gd name="connsiteX6" fmla="*/ 1191931 w 1337265"/>
                <a:gd name="connsiteY6" fmla="*/ 6880860 h 6880860"/>
                <a:gd name="connsiteX7" fmla="*/ 1112661 w 1337265"/>
                <a:gd name="connsiteY7" fmla="*/ 6779988 h 6880860"/>
                <a:gd name="connsiteX8" fmla="*/ 0 w 1337265"/>
                <a:gd name="connsiteY8" fmla="*/ 3429000 h 6880860"/>
                <a:gd name="connsiteX9" fmla="*/ 1112661 w 1337265"/>
                <a:gd name="connsiteY9" fmla="*/ 78012 h 6880860"/>
                <a:gd name="connsiteX10" fmla="*/ 1173967 w 1337265"/>
                <a:gd name="connsiteY10" fmla="*/ 0 h 688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7265" h="6880860">
                  <a:moveTo>
                    <a:pt x="1173967" y="0"/>
                  </a:moveTo>
                  <a:lnTo>
                    <a:pt x="1319300" y="0"/>
                  </a:lnTo>
                  <a:lnTo>
                    <a:pt x="1204253" y="146399"/>
                  </a:lnTo>
                  <a:cubicBezTo>
                    <a:pt x="519693" y="1061765"/>
                    <a:pt x="114300" y="2198040"/>
                    <a:pt x="114300" y="3429000"/>
                  </a:cubicBezTo>
                  <a:cubicBezTo>
                    <a:pt x="114300" y="4659960"/>
                    <a:pt x="519693" y="5796235"/>
                    <a:pt x="1204253" y="6711601"/>
                  </a:cubicBezTo>
                  <a:lnTo>
                    <a:pt x="1337265" y="6880860"/>
                  </a:lnTo>
                  <a:lnTo>
                    <a:pt x="1191931" y="6880860"/>
                  </a:lnTo>
                  <a:lnTo>
                    <a:pt x="1112661" y="6779988"/>
                  </a:lnTo>
                  <a:cubicBezTo>
                    <a:pt x="413839" y="5845552"/>
                    <a:pt x="0" y="4685605"/>
                    <a:pt x="0" y="3429000"/>
                  </a:cubicBezTo>
                  <a:cubicBezTo>
                    <a:pt x="0" y="2172395"/>
                    <a:pt x="413839" y="1012448"/>
                    <a:pt x="1112661" y="78012"/>
                  </a:cubicBezTo>
                  <a:lnTo>
                    <a:pt x="117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BE0B7AF7-52C0-EB45-93DE-79DFF44F5AAE}"/>
                </a:ext>
              </a:extLst>
            </p:cNvPr>
            <p:cNvSpPr/>
            <p:nvPr userDrawn="1"/>
          </p:nvSpPr>
          <p:spPr>
            <a:xfrm>
              <a:off x="10359435" y="0"/>
              <a:ext cx="1337265" cy="6880860"/>
            </a:xfrm>
            <a:custGeom>
              <a:avLst/>
              <a:gdLst>
                <a:gd name="connsiteX0" fmla="*/ 17965 w 1337265"/>
                <a:gd name="connsiteY0" fmla="*/ 0 h 6880860"/>
                <a:gd name="connsiteX1" fmla="*/ 163299 w 1337265"/>
                <a:gd name="connsiteY1" fmla="*/ 0 h 6880860"/>
                <a:gd name="connsiteX2" fmla="*/ 224604 w 1337265"/>
                <a:gd name="connsiteY2" fmla="*/ 78012 h 6880860"/>
                <a:gd name="connsiteX3" fmla="*/ 1337265 w 1337265"/>
                <a:gd name="connsiteY3" fmla="*/ 3429000 h 6880860"/>
                <a:gd name="connsiteX4" fmla="*/ 224604 w 1337265"/>
                <a:gd name="connsiteY4" fmla="*/ 6779988 h 6880860"/>
                <a:gd name="connsiteX5" fmla="*/ 145334 w 1337265"/>
                <a:gd name="connsiteY5" fmla="*/ 6880860 h 6880860"/>
                <a:gd name="connsiteX6" fmla="*/ 0 w 1337265"/>
                <a:gd name="connsiteY6" fmla="*/ 6880860 h 6880860"/>
                <a:gd name="connsiteX7" fmla="*/ 133012 w 1337265"/>
                <a:gd name="connsiteY7" fmla="*/ 6711601 h 6880860"/>
                <a:gd name="connsiteX8" fmla="*/ 1222965 w 1337265"/>
                <a:gd name="connsiteY8" fmla="*/ 3429000 h 6880860"/>
                <a:gd name="connsiteX9" fmla="*/ 133012 w 1337265"/>
                <a:gd name="connsiteY9" fmla="*/ 146399 h 6880860"/>
                <a:gd name="connsiteX10" fmla="*/ 17965 w 1337265"/>
                <a:gd name="connsiteY10" fmla="*/ 0 h 688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7265" h="6880860">
                  <a:moveTo>
                    <a:pt x="17965" y="0"/>
                  </a:moveTo>
                  <a:lnTo>
                    <a:pt x="163299" y="0"/>
                  </a:lnTo>
                  <a:lnTo>
                    <a:pt x="224604" y="78012"/>
                  </a:lnTo>
                  <a:cubicBezTo>
                    <a:pt x="923426" y="1012448"/>
                    <a:pt x="1337265" y="2172395"/>
                    <a:pt x="1337265" y="3429000"/>
                  </a:cubicBezTo>
                  <a:cubicBezTo>
                    <a:pt x="1337265" y="4685605"/>
                    <a:pt x="923426" y="5845552"/>
                    <a:pt x="224604" y="6779988"/>
                  </a:cubicBezTo>
                  <a:lnTo>
                    <a:pt x="145334" y="6880860"/>
                  </a:lnTo>
                  <a:lnTo>
                    <a:pt x="0" y="6880860"/>
                  </a:lnTo>
                  <a:lnTo>
                    <a:pt x="133012" y="6711601"/>
                  </a:lnTo>
                  <a:cubicBezTo>
                    <a:pt x="817572" y="5796235"/>
                    <a:pt x="1222965" y="4659960"/>
                    <a:pt x="1222965" y="3429000"/>
                  </a:cubicBezTo>
                  <a:cubicBezTo>
                    <a:pt x="1222965" y="2198040"/>
                    <a:pt x="817572" y="1061765"/>
                    <a:pt x="133012" y="146399"/>
                  </a:cubicBezTo>
                  <a:lnTo>
                    <a:pt x="179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96984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6E6D77-4CA3-764C-99E1-7D2CFE6B929E}"/>
              </a:ext>
            </a:extLst>
          </p:cNvPr>
          <p:cNvGrpSpPr/>
          <p:nvPr userDrawn="1"/>
        </p:nvGrpSpPr>
        <p:grpSpPr>
          <a:xfrm rot="5400000">
            <a:off x="-21619" y="1088453"/>
            <a:ext cx="910099" cy="99010"/>
            <a:chOff x="622418" y="280927"/>
            <a:chExt cx="2335705" cy="254101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D155117-8A2A-414B-9598-C2919DF747DC}"/>
                </a:ext>
              </a:extLst>
            </p:cNvPr>
            <p:cNvSpPr/>
            <p:nvPr userDrawn="1"/>
          </p:nvSpPr>
          <p:spPr>
            <a:xfrm>
              <a:off x="1038739" y="280927"/>
              <a:ext cx="254101" cy="254101"/>
            </a:xfrm>
            <a:prstGeom prst="ellips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3838F88-99DE-9246-A83B-9C7DB6AE99EF}"/>
                </a:ext>
              </a:extLst>
            </p:cNvPr>
            <p:cNvSpPr/>
            <p:nvPr userDrawn="1"/>
          </p:nvSpPr>
          <p:spPr>
            <a:xfrm>
              <a:off x="1455060" y="280927"/>
              <a:ext cx="254101" cy="254101"/>
            </a:xfrm>
            <a:prstGeom prst="ellipse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031FBA2-FD0D-7346-8941-4861923E15CF}"/>
                </a:ext>
              </a:extLst>
            </p:cNvPr>
            <p:cNvSpPr/>
            <p:nvPr userDrawn="1"/>
          </p:nvSpPr>
          <p:spPr>
            <a:xfrm>
              <a:off x="1871381" y="280927"/>
              <a:ext cx="254101" cy="254101"/>
            </a:xfrm>
            <a:prstGeom prst="ellipse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22D5D5E-3339-5D47-9E1C-8897082672DB}"/>
                </a:ext>
              </a:extLst>
            </p:cNvPr>
            <p:cNvSpPr/>
            <p:nvPr userDrawn="1"/>
          </p:nvSpPr>
          <p:spPr>
            <a:xfrm>
              <a:off x="2287702" y="280927"/>
              <a:ext cx="254101" cy="254101"/>
            </a:xfrm>
            <a:prstGeom prst="ellipse">
              <a:avLst/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3BE7267-458F-A141-8480-10E9FB553671}"/>
                </a:ext>
              </a:extLst>
            </p:cNvPr>
            <p:cNvSpPr/>
            <p:nvPr userDrawn="1"/>
          </p:nvSpPr>
          <p:spPr>
            <a:xfrm>
              <a:off x="2704022" y="280927"/>
              <a:ext cx="254101" cy="254101"/>
            </a:xfrm>
            <a:prstGeom prst="ellips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71A438B-57BE-F445-AFBB-BBB2270E9BB4}"/>
                </a:ext>
              </a:extLst>
            </p:cNvPr>
            <p:cNvSpPr/>
            <p:nvPr userDrawn="1"/>
          </p:nvSpPr>
          <p:spPr>
            <a:xfrm>
              <a:off x="622418" y="280927"/>
              <a:ext cx="254101" cy="254101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040C74AA-3663-2A49-AA62-C9207F22BF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421817"/>
            <a:ext cx="10058400" cy="1369074"/>
          </a:xfrm>
          <a:prstGeom prst="rect">
            <a:avLst/>
          </a:prstGeom>
        </p:spPr>
        <p:txBody>
          <a:bodyPr lIns="0" rIns="0" anchor="ctr">
            <a:normAutofit/>
          </a:bodyPr>
          <a:lstStyle>
            <a:lvl1pPr>
              <a:defRPr sz="4000" cap="all" baseline="0"/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E70AAE0-F405-8C4D-B2F2-BC73ABD2560F}"/>
              </a:ext>
            </a:extLst>
          </p:cNvPr>
          <p:cNvSpPr/>
          <p:nvPr userDrawn="1"/>
        </p:nvSpPr>
        <p:spPr>
          <a:xfrm>
            <a:off x="10429390" y="360726"/>
            <a:ext cx="1035859" cy="1035859"/>
          </a:xfrm>
          <a:prstGeom prst="ellipse">
            <a:avLst/>
          </a:prstGeom>
          <a:noFill/>
          <a:ln w="3810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C72AC8A-19AA-5641-88DA-414732A1A643}"/>
              </a:ext>
            </a:extLst>
          </p:cNvPr>
          <p:cNvSpPr/>
          <p:nvPr userDrawn="1"/>
        </p:nvSpPr>
        <p:spPr>
          <a:xfrm>
            <a:off x="458087" y="5430446"/>
            <a:ext cx="99011" cy="99011"/>
          </a:xfrm>
          <a:prstGeom prst="ellipse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0FF4153-FE4A-204C-B4B4-F331F8058F73}"/>
              </a:ext>
            </a:extLst>
          </p:cNvPr>
          <p:cNvSpPr/>
          <p:nvPr userDrawn="1"/>
        </p:nvSpPr>
        <p:spPr>
          <a:xfrm>
            <a:off x="5664570" y="125360"/>
            <a:ext cx="176394" cy="176394"/>
          </a:xfrm>
          <a:prstGeom prst="ellipse">
            <a:avLst/>
          </a:pr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0910027-B57E-5C4C-B196-C2CF16EB6B83}"/>
              </a:ext>
            </a:extLst>
          </p:cNvPr>
          <p:cNvSpPr/>
          <p:nvPr userDrawn="1"/>
        </p:nvSpPr>
        <p:spPr>
          <a:xfrm>
            <a:off x="11383587" y="6035040"/>
            <a:ext cx="776923" cy="776923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972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D896C11-7092-DD43-9676-23A81081B759}"/>
              </a:ext>
            </a:extLst>
          </p:cNvPr>
          <p:cNvGrpSpPr/>
          <p:nvPr userDrawn="1"/>
        </p:nvGrpSpPr>
        <p:grpSpPr>
          <a:xfrm rot="5400000">
            <a:off x="-21619" y="1088453"/>
            <a:ext cx="910099" cy="99010"/>
            <a:chOff x="622418" y="280927"/>
            <a:chExt cx="2335705" cy="25410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9FB8D4-533A-0C44-89B5-487470B0B82B}"/>
                </a:ext>
              </a:extLst>
            </p:cNvPr>
            <p:cNvSpPr/>
            <p:nvPr userDrawn="1"/>
          </p:nvSpPr>
          <p:spPr>
            <a:xfrm>
              <a:off x="1038739" y="280927"/>
              <a:ext cx="254101" cy="254101"/>
            </a:xfrm>
            <a:prstGeom prst="ellips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642B0AB-C322-C14B-B2A1-E9F144473219}"/>
                </a:ext>
              </a:extLst>
            </p:cNvPr>
            <p:cNvSpPr/>
            <p:nvPr userDrawn="1"/>
          </p:nvSpPr>
          <p:spPr>
            <a:xfrm>
              <a:off x="1455060" y="280927"/>
              <a:ext cx="254101" cy="254101"/>
            </a:xfrm>
            <a:prstGeom prst="ellipse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7ABE4C7-7926-3949-9205-07E33FB2D2CE}"/>
                </a:ext>
              </a:extLst>
            </p:cNvPr>
            <p:cNvSpPr/>
            <p:nvPr userDrawn="1"/>
          </p:nvSpPr>
          <p:spPr>
            <a:xfrm>
              <a:off x="1871381" y="280927"/>
              <a:ext cx="254101" cy="254101"/>
            </a:xfrm>
            <a:prstGeom prst="ellipse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1B43F26-6C7C-4D43-9D1C-A0F792F54874}"/>
                </a:ext>
              </a:extLst>
            </p:cNvPr>
            <p:cNvSpPr/>
            <p:nvPr userDrawn="1"/>
          </p:nvSpPr>
          <p:spPr>
            <a:xfrm>
              <a:off x="2287702" y="280927"/>
              <a:ext cx="254101" cy="254101"/>
            </a:xfrm>
            <a:prstGeom prst="ellipse">
              <a:avLst/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53D175F-F9D4-DD4E-81B9-495A2E867249}"/>
                </a:ext>
              </a:extLst>
            </p:cNvPr>
            <p:cNvSpPr/>
            <p:nvPr userDrawn="1"/>
          </p:nvSpPr>
          <p:spPr>
            <a:xfrm>
              <a:off x="2704022" y="280927"/>
              <a:ext cx="254101" cy="254101"/>
            </a:xfrm>
            <a:prstGeom prst="ellips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52D03A0-BBCF-2042-832A-8082F1377835}"/>
                </a:ext>
              </a:extLst>
            </p:cNvPr>
            <p:cNvSpPr/>
            <p:nvPr userDrawn="1"/>
          </p:nvSpPr>
          <p:spPr>
            <a:xfrm>
              <a:off x="622418" y="280927"/>
              <a:ext cx="254101" cy="254101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E2831508-70C2-2F43-998D-55CE4837BA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421817"/>
            <a:ext cx="10058400" cy="1369074"/>
          </a:xfrm>
          <a:prstGeom prst="rect">
            <a:avLst/>
          </a:prstGeom>
        </p:spPr>
        <p:txBody>
          <a:bodyPr lIns="0" rIns="0" anchor="ctr">
            <a:normAutofit/>
          </a:bodyPr>
          <a:lstStyle>
            <a:lvl1pPr>
              <a:defRPr sz="4000" cap="all" baseline="0"/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232ACE3-4E65-6243-9416-19BFA39FD92C}"/>
              </a:ext>
            </a:extLst>
          </p:cNvPr>
          <p:cNvSpPr/>
          <p:nvPr userDrawn="1"/>
        </p:nvSpPr>
        <p:spPr>
          <a:xfrm>
            <a:off x="10429390" y="360726"/>
            <a:ext cx="1035859" cy="1035859"/>
          </a:xfrm>
          <a:prstGeom prst="ellipse">
            <a:avLst/>
          </a:prstGeom>
          <a:noFill/>
          <a:ln w="3810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A372105-F1CB-9149-A4B9-C151B3CCB9B4}"/>
              </a:ext>
            </a:extLst>
          </p:cNvPr>
          <p:cNvSpPr/>
          <p:nvPr userDrawn="1"/>
        </p:nvSpPr>
        <p:spPr>
          <a:xfrm>
            <a:off x="458087" y="5430446"/>
            <a:ext cx="99011" cy="99011"/>
          </a:xfrm>
          <a:prstGeom prst="ellipse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AE2DDF3-5C18-5644-8994-8CD902656DE8}"/>
              </a:ext>
            </a:extLst>
          </p:cNvPr>
          <p:cNvSpPr/>
          <p:nvPr userDrawn="1"/>
        </p:nvSpPr>
        <p:spPr>
          <a:xfrm>
            <a:off x="5664570" y="125360"/>
            <a:ext cx="176394" cy="176394"/>
          </a:xfrm>
          <a:prstGeom prst="ellipse">
            <a:avLst/>
          </a:pr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383F4E3-E6C1-BB40-90E6-290C140F9A07}"/>
              </a:ext>
            </a:extLst>
          </p:cNvPr>
          <p:cNvSpPr/>
          <p:nvPr userDrawn="1"/>
        </p:nvSpPr>
        <p:spPr>
          <a:xfrm>
            <a:off x="11383587" y="6035040"/>
            <a:ext cx="776923" cy="776923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94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2C09A16-A6B6-E04E-A40A-F482C0A95C0A}"/>
              </a:ext>
            </a:extLst>
          </p:cNvPr>
          <p:cNvGrpSpPr/>
          <p:nvPr userDrawn="1"/>
        </p:nvGrpSpPr>
        <p:grpSpPr>
          <a:xfrm rot="5400000">
            <a:off x="-21619" y="1088453"/>
            <a:ext cx="910099" cy="99010"/>
            <a:chOff x="622418" y="280927"/>
            <a:chExt cx="2335705" cy="25410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6B2DF34-338D-4F43-B8F7-D7A00348B68B}"/>
                </a:ext>
              </a:extLst>
            </p:cNvPr>
            <p:cNvSpPr/>
            <p:nvPr userDrawn="1"/>
          </p:nvSpPr>
          <p:spPr>
            <a:xfrm>
              <a:off x="1038739" y="280927"/>
              <a:ext cx="254101" cy="254101"/>
            </a:xfrm>
            <a:prstGeom prst="ellips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3778C21-4171-774D-A73F-77BEBF2E4C18}"/>
                </a:ext>
              </a:extLst>
            </p:cNvPr>
            <p:cNvSpPr/>
            <p:nvPr userDrawn="1"/>
          </p:nvSpPr>
          <p:spPr>
            <a:xfrm>
              <a:off x="1455060" y="280927"/>
              <a:ext cx="254101" cy="254101"/>
            </a:xfrm>
            <a:prstGeom prst="ellipse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C25D2EF-AE01-A247-8BC3-8F35F863C0A6}"/>
                </a:ext>
              </a:extLst>
            </p:cNvPr>
            <p:cNvSpPr/>
            <p:nvPr userDrawn="1"/>
          </p:nvSpPr>
          <p:spPr>
            <a:xfrm>
              <a:off x="1871381" y="280927"/>
              <a:ext cx="254101" cy="254101"/>
            </a:xfrm>
            <a:prstGeom prst="ellipse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F860801-109B-EB4F-96A8-35D76B759583}"/>
                </a:ext>
              </a:extLst>
            </p:cNvPr>
            <p:cNvSpPr/>
            <p:nvPr userDrawn="1"/>
          </p:nvSpPr>
          <p:spPr>
            <a:xfrm>
              <a:off x="2287702" y="280927"/>
              <a:ext cx="254101" cy="254101"/>
            </a:xfrm>
            <a:prstGeom prst="ellipse">
              <a:avLst/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7337F70-9199-7242-BD8B-8F96606A18A1}"/>
                </a:ext>
              </a:extLst>
            </p:cNvPr>
            <p:cNvSpPr/>
            <p:nvPr userDrawn="1"/>
          </p:nvSpPr>
          <p:spPr>
            <a:xfrm>
              <a:off x="2704022" y="280927"/>
              <a:ext cx="254101" cy="254101"/>
            </a:xfrm>
            <a:prstGeom prst="ellips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F9320B7-AD58-7649-BC95-614ED90F4E69}"/>
                </a:ext>
              </a:extLst>
            </p:cNvPr>
            <p:cNvSpPr/>
            <p:nvPr userDrawn="1"/>
          </p:nvSpPr>
          <p:spPr>
            <a:xfrm>
              <a:off x="622418" y="280927"/>
              <a:ext cx="254101" cy="254101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0C0DE796-998A-F84E-9B56-1958C6777C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421817"/>
            <a:ext cx="10058400" cy="1369074"/>
          </a:xfrm>
          <a:prstGeom prst="rect">
            <a:avLst/>
          </a:prstGeom>
        </p:spPr>
        <p:txBody>
          <a:bodyPr lIns="0" rIns="0" anchor="ctr">
            <a:normAutofit/>
          </a:bodyPr>
          <a:lstStyle>
            <a:lvl1pPr>
              <a:defRPr sz="4000" cap="all" baseline="0"/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B23D2B0-E152-D14D-8154-8DD47BD10DF3}"/>
              </a:ext>
            </a:extLst>
          </p:cNvPr>
          <p:cNvSpPr/>
          <p:nvPr userDrawn="1"/>
        </p:nvSpPr>
        <p:spPr>
          <a:xfrm>
            <a:off x="10429390" y="360726"/>
            <a:ext cx="1035859" cy="1035859"/>
          </a:xfrm>
          <a:prstGeom prst="ellipse">
            <a:avLst/>
          </a:prstGeom>
          <a:noFill/>
          <a:ln w="3810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A3BEDF6-5ABA-3B42-99BB-4438813B1A4B}"/>
              </a:ext>
            </a:extLst>
          </p:cNvPr>
          <p:cNvSpPr/>
          <p:nvPr userDrawn="1"/>
        </p:nvSpPr>
        <p:spPr>
          <a:xfrm>
            <a:off x="458087" y="5430446"/>
            <a:ext cx="99011" cy="99011"/>
          </a:xfrm>
          <a:prstGeom prst="ellipse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9CF8BE7-F2AC-AB4C-900F-F64D55111EFC}"/>
              </a:ext>
            </a:extLst>
          </p:cNvPr>
          <p:cNvSpPr/>
          <p:nvPr userDrawn="1"/>
        </p:nvSpPr>
        <p:spPr>
          <a:xfrm>
            <a:off x="5664570" y="125360"/>
            <a:ext cx="176394" cy="176394"/>
          </a:xfrm>
          <a:prstGeom prst="ellipse">
            <a:avLst/>
          </a:pr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EF4254B-D281-684E-BD0B-63AEC0AC197C}"/>
              </a:ext>
            </a:extLst>
          </p:cNvPr>
          <p:cNvSpPr/>
          <p:nvPr userDrawn="1"/>
        </p:nvSpPr>
        <p:spPr>
          <a:xfrm>
            <a:off x="11383587" y="6035040"/>
            <a:ext cx="776923" cy="776923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013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2C09A16-A6B6-E04E-A40A-F482C0A95C0A}"/>
              </a:ext>
            </a:extLst>
          </p:cNvPr>
          <p:cNvGrpSpPr/>
          <p:nvPr userDrawn="1"/>
        </p:nvGrpSpPr>
        <p:grpSpPr>
          <a:xfrm rot="5400000">
            <a:off x="-21619" y="1088453"/>
            <a:ext cx="910099" cy="99010"/>
            <a:chOff x="622418" y="280927"/>
            <a:chExt cx="2335705" cy="25410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6B2DF34-338D-4F43-B8F7-D7A00348B68B}"/>
                </a:ext>
              </a:extLst>
            </p:cNvPr>
            <p:cNvSpPr/>
            <p:nvPr userDrawn="1"/>
          </p:nvSpPr>
          <p:spPr>
            <a:xfrm>
              <a:off x="1038739" y="280927"/>
              <a:ext cx="254101" cy="254101"/>
            </a:xfrm>
            <a:prstGeom prst="ellips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3778C21-4171-774D-A73F-77BEBF2E4C18}"/>
                </a:ext>
              </a:extLst>
            </p:cNvPr>
            <p:cNvSpPr/>
            <p:nvPr userDrawn="1"/>
          </p:nvSpPr>
          <p:spPr>
            <a:xfrm>
              <a:off x="1455060" y="280927"/>
              <a:ext cx="254101" cy="254101"/>
            </a:xfrm>
            <a:prstGeom prst="ellipse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C25D2EF-AE01-A247-8BC3-8F35F863C0A6}"/>
                </a:ext>
              </a:extLst>
            </p:cNvPr>
            <p:cNvSpPr/>
            <p:nvPr userDrawn="1"/>
          </p:nvSpPr>
          <p:spPr>
            <a:xfrm>
              <a:off x="1871381" y="280927"/>
              <a:ext cx="254101" cy="254101"/>
            </a:xfrm>
            <a:prstGeom prst="ellipse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F860801-109B-EB4F-96A8-35D76B759583}"/>
                </a:ext>
              </a:extLst>
            </p:cNvPr>
            <p:cNvSpPr/>
            <p:nvPr userDrawn="1"/>
          </p:nvSpPr>
          <p:spPr>
            <a:xfrm>
              <a:off x="2287702" y="280927"/>
              <a:ext cx="254101" cy="254101"/>
            </a:xfrm>
            <a:prstGeom prst="ellipse">
              <a:avLst/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7337F70-9199-7242-BD8B-8F96606A18A1}"/>
                </a:ext>
              </a:extLst>
            </p:cNvPr>
            <p:cNvSpPr/>
            <p:nvPr userDrawn="1"/>
          </p:nvSpPr>
          <p:spPr>
            <a:xfrm>
              <a:off x="2704022" y="280927"/>
              <a:ext cx="254101" cy="254101"/>
            </a:xfrm>
            <a:prstGeom prst="ellips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F9320B7-AD58-7649-BC95-614ED90F4E69}"/>
                </a:ext>
              </a:extLst>
            </p:cNvPr>
            <p:cNvSpPr/>
            <p:nvPr userDrawn="1"/>
          </p:nvSpPr>
          <p:spPr>
            <a:xfrm>
              <a:off x="622418" y="280927"/>
              <a:ext cx="254101" cy="254101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0C0DE796-998A-F84E-9B56-1958C6777C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421817"/>
            <a:ext cx="5751389" cy="1369074"/>
          </a:xfrm>
          <a:prstGeom prst="rect">
            <a:avLst/>
          </a:prstGeom>
        </p:spPr>
        <p:txBody>
          <a:bodyPr lIns="0" rIns="0" anchor="ctr">
            <a:normAutofit/>
          </a:bodyPr>
          <a:lstStyle>
            <a:lvl1pPr>
              <a:defRPr sz="4000" cap="all" baseline="0"/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384D173E-9054-4C40-98EA-A6EAC4D8511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21641" y="0"/>
            <a:ext cx="4270360" cy="6858001"/>
          </a:xfrm>
          <a:custGeom>
            <a:avLst/>
            <a:gdLst>
              <a:gd name="connsiteX0" fmla="*/ 1904091 w 4305219"/>
              <a:gd name="connsiteY0" fmla="*/ 0 h 6913983"/>
              <a:gd name="connsiteX1" fmla="*/ 4305219 w 4305219"/>
              <a:gd name="connsiteY1" fmla="*/ 0 h 6913983"/>
              <a:gd name="connsiteX2" fmla="*/ 4305219 w 4305219"/>
              <a:gd name="connsiteY2" fmla="*/ 6913983 h 6913983"/>
              <a:gd name="connsiteX3" fmla="*/ 1818156 w 4305219"/>
              <a:gd name="connsiteY3" fmla="*/ 6913983 h 6913983"/>
              <a:gd name="connsiteX4" fmla="*/ 1507580 w 4305219"/>
              <a:gd name="connsiteY4" fmla="*/ 6681739 h 6913983"/>
              <a:gd name="connsiteX5" fmla="*/ 0 w 4305219"/>
              <a:gd name="connsiteY5" fmla="*/ 3484983 h 6913983"/>
              <a:gd name="connsiteX6" fmla="*/ 1826504 w 4305219"/>
              <a:gd name="connsiteY6" fmla="*/ 49741 h 6913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05219" h="6913983">
                <a:moveTo>
                  <a:pt x="1904091" y="0"/>
                </a:moveTo>
                <a:lnTo>
                  <a:pt x="4305219" y="0"/>
                </a:lnTo>
                <a:lnTo>
                  <a:pt x="4305219" y="6913983"/>
                </a:lnTo>
                <a:lnTo>
                  <a:pt x="1818156" y="6913983"/>
                </a:lnTo>
                <a:lnTo>
                  <a:pt x="1507580" y="6681739"/>
                </a:lnTo>
                <a:cubicBezTo>
                  <a:pt x="586863" y="5921896"/>
                  <a:pt x="0" y="4771974"/>
                  <a:pt x="0" y="3484983"/>
                </a:cubicBezTo>
                <a:cubicBezTo>
                  <a:pt x="0" y="2054993"/>
                  <a:pt x="724522" y="794225"/>
                  <a:pt x="1826504" y="4974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lumMod val="89000"/>
                </a:schemeClr>
              </a:gs>
              <a:gs pos="23000">
                <a:schemeClr val="accent6">
                  <a:lumMod val="89000"/>
                </a:schemeClr>
              </a:gs>
              <a:gs pos="69000">
                <a:schemeClr val="accent6">
                  <a:lumMod val="75000"/>
                </a:schemeClr>
              </a:gs>
              <a:gs pos="97000">
                <a:schemeClr val="accent6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81322FE-E286-E344-B332-CF37E6CAD2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8" y="2322728"/>
            <a:ext cx="5751389" cy="4032225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985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507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88729E-4BF3-45A0-8596-BF6A401AB92F}" type="datetimeFigureOut">
              <a:rPr lang="ru-RU" smtClean="0"/>
              <a:pPr>
                <a:defRPr/>
              </a:pPr>
              <a:t>27.10.2026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C577AD-A3EC-4B35-B6AB-B40BFDDDE6A0}" type="slidenum">
              <a:rPr lang="ru-RU" altLang="ru-BY" smtClean="0"/>
              <a:pPr/>
              <a:t>‹#›</a:t>
            </a:fld>
            <a:endParaRPr lang="ru-RU" altLang="ru-BY"/>
          </a:p>
        </p:txBody>
      </p:sp>
    </p:spTree>
    <p:extLst>
      <p:ext uri="{BB962C8B-B14F-4D97-AF65-F5344CB8AC3E}">
        <p14:creationId xmlns:p14="http://schemas.microsoft.com/office/powerpoint/2010/main" val="2524100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285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22" r:id="rId3"/>
    <p:sldLayoutId id="2147483708" r:id="rId4"/>
    <p:sldLayoutId id="2147483709" r:id="rId5"/>
    <p:sldLayoutId id="2147483716" r:id="rId6"/>
    <p:sldLayoutId id="2147483710" r:id="rId7"/>
    <p:sldLayoutId id="2147483724" r:id="rId8"/>
    <p:sldLayoutId id="2147483711" r:id="rId9"/>
    <p:sldLayoutId id="2147483725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chart" Target="../charts/char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0.png"/><Relationship Id="rId4" Type="http://schemas.openxmlformats.org/officeDocument/2006/relationships/chart" Target="../charts/char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0.xml"/><Relationship Id="rId5" Type="http://schemas.openxmlformats.org/officeDocument/2006/relationships/chart" Target="../charts/chart7.xml"/><Relationship Id="rId4" Type="http://schemas.openxmlformats.org/officeDocument/2006/relationships/image" Target="../media/image8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chart" Target="../charts/chart9.xml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6" Type="http://schemas.openxmlformats.org/officeDocument/2006/relationships/chart" Target="../charts/chart11.xml"/><Relationship Id="rId5" Type="http://schemas.openxmlformats.org/officeDocument/2006/relationships/chart" Target="../charts/chart10.xml"/><Relationship Id="rId4" Type="http://schemas.openxmlformats.org/officeDocument/2006/relationships/image" Target="../media/image2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4" Type="http://schemas.openxmlformats.org/officeDocument/2006/relationships/image" Target="../media/image2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4" Type="http://schemas.openxmlformats.org/officeDocument/2006/relationships/chart" Target="../charts/chart1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50278-9A9A-0F4E-BDCF-6351BE173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21817"/>
            <a:ext cx="5751389" cy="1369074"/>
          </a:xfrm>
        </p:spPr>
        <p:txBody>
          <a:bodyPr anchor="ctr">
            <a:normAutofit/>
          </a:bodyPr>
          <a:lstStyle/>
          <a:p>
            <a:r>
              <a:rPr lang="ru-RU" sz="3200" dirty="0"/>
              <a:t>НЕЙРОННЫЕ СЕТИ И МАШИННОЕ ОБУЧЕНИЕ</a:t>
            </a:r>
            <a:endParaRPr lang="en-US" sz="3100" dirty="0"/>
          </a:p>
        </p:txBody>
      </p:sp>
      <p:pic>
        <p:nvPicPr>
          <p:cNvPr id="5" name="Видео 4" descr="Серверы компьютеров">
            <a:extLst>
              <a:ext uri="{FF2B5EF4-FFF2-40B4-BE49-F238E27FC236}">
                <a16:creationId xmlns:a16="http://schemas.microsoft.com/office/drawing/2014/main" id="{071B05F5-3A33-9453-980E-5563FF3361A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8252" r="56622" b="-1"/>
          <a:stretch>
            <a:fillRect/>
          </a:stretch>
        </p:blipFill>
        <p:spPr>
          <a:xfrm>
            <a:off x="7921641" y="10"/>
            <a:ext cx="4270360" cy="6857991"/>
          </a:xfrm>
          <a:custGeom>
            <a:avLst/>
            <a:gdLst>
              <a:gd name="connsiteX0" fmla="*/ 1904091 w 4305219"/>
              <a:gd name="connsiteY0" fmla="*/ 0 h 6913983"/>
              <a:gd name="connsiteX1" fmla="*/ 4305219 w 4305219"/>
              <a:gd name="connsiteY1" fmla="*/ 0 h 6913983"/>
              <a:gd name="connsiteX2" fmla="*/ 4305219 w 4305219"/>
              <a:gd name="connsiteY2" fmla="*/ 6913983 h 6913983"/>
              <a:gd name="connsiteX3" fmla="*/ 1818156 w 4305219"/>
              <a:gd name="connsiteY3" fmla="*/ 6913983 h 6913983"/>
              <a:gd name="connsiteX4" fmla="*/ 1507580 w 4305219"/>
              <a:gd name="connsiteY4" fmla="*/ 6681739 h 6913983"/>
              <a:gd name="connsiteX5" fmla="*/ 0 w 4305219"/>
              <a:gd name="connsiteY5" fmla="*/ 3484983 h 6913983"/>
              <a:gd name="connsiteX6" fmla="*/ 1826504 w 4305219"/>
              <a:gd name="connsiteY6" fmla="*/ 49741 h 6913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05219" h="6913983">
                <a:moveTo>
                  <a:pt x="1904091" y="0"/>
                </a:moveTo>
                <a:lnTo>
                  <a:pt x="4305219" y="0"/>
                </a:lnTo>
                <a:lnTo>
                  <a:pt x="4305219" y="6913983"/>
                </a:lnTo>
                <a:lnTo>
                  <a:pt x="1818156" y="6913983"/>
                </a:lnTo>
                <a:lnTo>
                  <a:pt x="1507580" y="6681739"/>
                </a:lnTo>
                <a:cubicBezTo>
                  <a:pt x="586863" y="5921896"/>
                  <a:pt x="0" y="4771974"/>
                  <a:pt x="0" y="3484983"/>
                </a:cubicBezTo>
                <a:cubicBezTo>
                  <a:pt x="0" y="2054993"/>
                  <a:pt x="724522" y="794225"/>
                  <a:pt x="1826504" y="49741"/>
                </a:cubicBezTo>
                <a:close/>
              </a:path>
            </a:pathLst>
          </a:custGeom>
          <a:noFill/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117F481B-9C2C-084A-8DF1-0582D2DA4B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8" y="2322728"/>
            <a:ext cx="5751389" cy="4032225"/>
          </a:xfrm>
        </p:spPr>
        <p:txBody>
          <a:bodyPr anchor="t">
            <a:normAutofit/>
          </a:bodyPr>
          <a:lstStyle/>
          <a:p>
            <a:r>
              <a:rPr lang="ru-RU" dirty="0"/>
              <a:t>Лекция </a:t>
            </a:r>
            <a:r>
              <a:rPr lang="en-GB" dirty="0"/>
              <a:t>3</a:t>
            </a:r>
            <a:r>
              <a:rPr lang="ru-RU" dirty="0"/>
              <a:t>. </a:t>
            </a:r>
          </a:p>
          <a:p>
            <a:r>
              <a:rPr lang="ru-RU" spc="-10" dirty="0">
                <a:effectLst/>
              </a:rPr>
              <a:t>Представление о датасете. </a:t>
            </a:r>
            <a:br>
              <a:rPr lang="ru-RU" spc="-10" dirty="0">
                <a:effectLst/>
              </a:rPr>
            </a:br>
            <a:r>
              <a:rPr lang="ru-RU" spc="-10" dirty="0">
                <a:effectLst/>
              </a:rPr>
              <a:t>Постановка задачи в матричном виде. </a:t>
            </a:r>
            <a:br>
              <a:rPr lang="ru-RU" spc="-10" dirty="0">
                <a:effectLst/>
              </a:rPr>
            </a:br>
            <a:r>
              <a:rPr lang="ru-RU" spc="-10" dirty="0">
                <a:effectLst/>
              </a:rPr>
              <a:t>Предварительная обработка датасета. </a:t>
            </a:r>
            <a:br>
              <a:rPr lang="ru-RU" spc="-10" dirty="0">
                <a:effectLst/>
              </a:rPr>
            </a:br>
            <a:r>
              <a:rPr lang="ru-RU" spc="-10" dirty="0">
                <a:effectLst/>
              </a:rPr>
              <a:t>Профилирование и формирование отчета</a:t>
            </a:r>
            <a:br>
              <a:rPr lang="en-US" spc="-10" dirty="0">
                <a:effectLst/>
              </a:rPr>
            </a:br>
            <a:r>
              <a:rPr lang="ru-RU" dirty="0"/>
              <a:t>Регрессионный анализ. </a:t>
            </a:r>
            <a:br>
              <a:rPr lang="ru-RU" dirty="0"/>
            </a:br>
            <a:r>
              <a:rPr lang="ru-RU" dirty="0"/>
              <a:t>Линейная регрессия. Метрики качества</a:t>
            </a:r>
            <a:endParaRPr lang="en-GB" spc="-1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27693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5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B00C7-0803-8A43-A9F3-6FF24BDCB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5400" dirty="0"/>
              <a:t>ПРЕДСТАВЛЕНИЕ </a:t>
            </a:r>
            <a:br>
              <a:rPr lang="ru-RU" sz="5400" dirty="0"/>
            </a:br>
            <a:r>
              <a:rPr lang="ru-RU" sz="5400" dirty="0"/>
              <a:t>О ДАТАСЕТЕ</a:t>
            </a:r>
            <a:endParaRPr lang="en-US" sz="5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89A574-F452-49EE-9B41-B6208C501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889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12388E-7232-4DE5-A61D-8D1E8E755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768102-DA32-4932-9999-2138FFA00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Рисунок 2" descr="Изображение выглядит как карта, текст, снимок экрана">
            <a:extLst>
              <a:ext uri="{FF2B5EF4-FFF2-40B4-BE49-F238E27FC236}">
                <a16:creationId xmlns:a16="http://schemas.microsoft.com/office/drawing/2014/main" id="{C2480291-24E8-2A1B-FF10-236534D81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768"/>
            <a:ext cx="12192000" cy="576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342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Набор обучающих данных</a:t>
            </a:r>
            <a:br>
              <a:rPr lang="en-US" dirty="0"/>
            </a:br>
            <a:endParaRPr lang="en-US" dirty="0"/>
          </a:p>
        </p:txBody>
      </p:sp>
      <p:sp>
        <p:nvSpPr>
          <p:cNvPr id="8" name="Left Brace 7"/>
          <p:cNvSpPr/>
          <p:nvPr/>
        </p:nvSpPr>
        <p:spPr>
          <a:xfrm>
            <a:off x="2206418" y="2998450"/>
            <a:ext cx="236562" cy="1925980"/>
          </a:xfrm>
          <a:prstGeom prst="leftBrac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920672" y="3776025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090738" y="2348880"/>
                <a:ext cx="3182540" cy="38116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dirty="0"/>
                  <a:t>- </a:t>
                </a:r>
                <a:r>
                  <a:rPr lang="ru-RU" dirty="0"/>
                  <a:t>входное значение (признак)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выходное значение (цель)</a:t>
                </a:r>
              </a:p>
              <a:p>
                <a:r>
                  <a:rPr lang="en-US" i="1" dirty="0"/>
                  <a:t>m</a:t>
                </a:r>
                <a:r>
                  <a:rPr lang="en-US" dirty="0"/>
                  <a:t> – </a:t>
                </a:r>
                <a:r>
                  <a:rPr lang="ru-RU" dirty="0"/>
                  <a:t>размер обучающей выборки</a:t>
                </a:r>
              </a:p>
              <a:p>
                <a:r>
                  <a:rPr lang="en-US" i="1" dirty="0"/>
                  <a:t>n – </a:t>
                </a:r>
                <a:r>
                  <a:rPr lang="ru-RU" dirty="0"/>
                  <a:t>количество входных признаков</a:t>
                </a:r>
                <a:endParaRPr lang="ru-RU" i="1" dirty="0"/>
              </a:p>
              <a:p>
                <a:r>
                  <a:rPr lang="en-US" i="1" dirty="0" err="1"/>
                  <a:t>i</a:t>
                </a:r>
                <a:r>
                  <a:rPr lang="en-US" dirty="0"/>
                  <a:t> – </a:t>
                </a:r>
                <a:r>
                  <a:rPr lang="ru-RU" dirty="0"/>
                  <a:t>номер (индекс) данного значения в обучающей выборке</a:t>
                </a:r>
                <a:endParaRPr lang="en-US" dirty="0"/>
              </a:p>
              <a:p>
                <a:r>
                  <a:rPr lang="en-US" i="1" dirty="0"/>
                  <a:t>j – </a:t>
                </a:r>
                <a:r>
                  <a:rPr lang="ru-RU" dirty="0"/>
                  <a:t>номер признака</a:t>
                </a:r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0738" y="2348880"/>
                <a:ext cx="3182540" cy="3811684"/>
              </a:xfrm>
              <a:prstGeom prst="rect">
                <a:avLst/>
              </a:prstGeom>
              <a:blipFill>
                <a:blip r:embed="rId2"/>
                <a:stretch>
                  <a:fillRect l="-1533" r="-3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3452102"/>
              </p:ext>
            </p:extLst>
          </p:nvPr>
        </p:nvGraphicFramePr>
        <p:xfrm>
          <a:off x="2492762" y="2951668"/>
          <a:ext cx="4456844" cy="19274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0501">
                  <a:extLst>
                    <a:ext uri="{9D8B030D-6E8A-4147-A177-3AD203B41FA5}">
                      <a16:colId xmlns:a16="http://schemas.microsoft.com/office/drawing/2014/main" val="3772030588"/>
                    </a:ext>
                  </a:extLst>
                </a:gridCol>
                <a:gridCol w="1276065">
                  <a:extLst>
                    <a:ext uri="{9D8B030D-6E8A-4147-A177-3AD203B41FA5}">
                      <a16:colId xmlns:a16="http://schemas.microsoft.com/office/drawing/2014/main" val="1178522499"/>
                    </a:ext>
                  </a:extLst>
                </a:gridCol>
                <a:gridCol w="600501">
                  <a:extLst>
                    <a:ext uri="{9D8B030D-6E8A-4147-A177-3AD203B41FA5}">
                      <a16:colId xmlns:a16="http://schemas.microsoft.com/office/drawing/2014/main" val="2718702336"/>
                    </a:ext>
                  </a:extLst>
                </a:gridCol>
                <a:gridCol w="1379276">
                  <a:extLst>
                    <a:ext uri="{9D8B030D-6E8A-4147-A177-3AD203B41FA5}">
                      <a16:colId xmlns:a16="http://schemas.microsoft.com/office/drawing/2014/main" val="2115649169"/>
                    </a:ext>
                  </a:extLst>
                </a:gridCol>
                <a:gridCol w="600501">
                  <a:extLst>
                    <a:ext uri="{9D8B030D-6E8A-4147-A177-3AD203B41FA5}">
                      <a16:colId xmlns:a16="http://schemas.microsoft.com/office/drawing/2014/main" val="89263605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 dirty="0">
                          <a:effectLst/>
                        </a:rPr>
                        <a:t>Площадь (м2)</a:t>
                      </a:r>
                      <a:endParaRPr lang="ru-RU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 dirty="0">
                          <a:effectLst/>
                        </a:rPr>
                        <a:t>Год постройки</a:t>
                      </a:r>
                      <a:endParaRPr lang="ru-RU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 dirty="0">
                          <a:effectLst/>
                        </a:rPr>
                        <a:t>Этаж</a:t>
                      </a:r>
                      <a:endParaRPr lang="ru-RU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 dirty="0">
                          <a:effectLst/>
                        </a:rPr>
                        <a:t>Количество комнат</a:t>
                      </a:r>
                      <a:endParaRPr lang="ru-RU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 dirty="0">
                          <a:effectLst/>
                        </a:rPr>
                        <a:t>Цена (</a:t>
                      </a:r>
                      <a:r>
                        <a:rPr lang="en-US" sz="1100" u="none" strike="noStrike" dirty="0">
                          <a:effectLst/>
                        </a:rPr>
                        <a:t>BYN)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277031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42.9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2009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137591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34411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68.2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1997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155504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922576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74.1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2014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332660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417921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73.5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2005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196840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572798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94.8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2012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275576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437556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163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2008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246050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915949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63.2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1995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121057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00735472"/>
                  </a:ext>
                </a:extLst>
              </a:tr>
              <a:tr h="249173"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41429568"/>
                  </a:ext>
                </a:extLst>
              </a:tr>
            </a:tbl>
          </a:graphicData>
        </a:graphic>
      </p:graphicFrame>
      <p:sp>
        <p:nvSpPr>
          <p:cNvPr id="13" name="Left Brace 12"/>
          <p:cNvSpPr/>
          <p:nvPr/>
        </p:nvSpPr>
        <p:spPr>
          <a:xfrm rot="16200000">
            <a:off x="4251335" y="3223783"/>
            <a:ext cx="303804" cy="3817574"/>
          </a:xfrm>
          <a:prstGeom prst="leftBrace">
            <a:avLst>
              <a:gd name="adj1" fmla="val 8333"/>
              <a:gd name="adj2" fmla="val 49795"/>
            </a:avLst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4232291" y="528447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532980" y="2472932"/>
                <a:ext cx="48962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2980" y="2472932"/>
                <a:ext cx="489621" cy="369332"/>
              </a:xfrm>
              <a:prstGeom prst="rect">
                <a:avLst/>
              </a:prstGeom>
              <a:blipFill>
                <a:blip r:embed="rId3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3503712" y="2480816"/>
                <a:ext cx="4949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712" y="2480816"/>
                <a:ext cx="494944" cy="369332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4412311" y="2480816"/>
                <a:ext cx="4949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2311" y="2480816"/>
                <a:ext cx="494944" cy="369332"/>
              </a:xfrm>
              <a:prstGeom prst="rect">
                <a:avLst/>
              </a:prstGeom>
              <a:blipFill>
                <a:blip r:embed="rId5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5447928" y="2480816"/>
                <a:ext cx="4949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928" y="2480816"/>
                <a:ext cx="494944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6408236" y="2480816"/>
                <a:ext cx="40023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8236" y="2480816"/>
                <a:ext cx="400238" cy="369332"/>
              </a:xfrm>
              <a:prstGeom prst="rect">
                <a:avLst/>
              </a:prstGeom>
              <a:blipFill>
                <a:blip r:embed="rId7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697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679945"/>
                <a:ext cx="10058400" cy="4189148"/>
              </a:xfrm>
            </p:spPr>
            <p:txBody>
              <a:bodyPr/>
              <a:lstStyle/>
              <a:p>
                <a:r>
                  <a:rPr lang="ru-RU" dirty="0"/>
                  <a:t>Чему равно значение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ru-RU" dirty="0"/>
                  <a:t>? </a:t>
                </a:r>
              </a:p>
              <a:p>
                <a:r>
                  <a:rPr lang="ru-RU" dirty="0"/>
                  <a:t>Чему равно значение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679945"/>
                <a:ext cx="10058400" cy="4189148"/>
              </a:xfrm>
              <a:blipFill>
                <a:blip r:embed="rId2"/>
                <a:stretch>
                  <a:fillRect l="-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819367"/>
              </p:ext>
            </p:extLst>
          </p:nvPr>
        </p:nvGraphicFramePr>
        <p:xfrm>
          <a:off x="1733107" y="2873149"/>
          <a:ext cx="8323332" cy="31339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7382">
                  <a:extLst>
                    <a:ext uri="{9D8B030D-6E8A-4147-A177-3AD203B41FA5}">
                      <a16:colId xmlns:a16="http://schemas.microsoft.com/office/drawing/2014/main" val="3772030588"/>
                    </a:ext>
                  </a:extLst>
                </a:gridCol>
                <a:gridCol w="2288490">
                  <a:extLst>
                    <a:ext uri="{9D8B030D-6E8A-4147-A177-3AD203B41FA5}">
                      <a16:colId xmlns:a16="http://schemas.microsoft.com/office/drawing/2014/main" val="1178522499"/>
                    </a:ext>
                  </a:extLst>
                </a:gridCol>
                <a:gridCol w="1076936">
                  <a:extLst>
                    <a:ext uri="{9D8B030D-6E8A-4147-A177-3AD203B41FA5}">
                      <a16:colId xmlns:a16="http://schemas.microsoft.com/office/drawing/2014/main" val="2718702336"/>
                    </a:ext>
                  </a:extLst>
                </a:gridCol>
                <a:gridCol w="1617359">
                  <a:extLst>
                    <a:ext uri="{9D8B030D-6E8A-4147-A177-3AD203B41FA5}">
                      <a16:colId xmlns:a16="http://schemas.microsoft.com/office/drawing/2014/main" val="2115649169"/>
                    </a:ext>
                  </a:extLst>
                </a:gridCol>
                <a:gridCol w="1933165">
                  <a:extLst>
                    <a:ext uri="{9D8B030D-6E8A-4147-A177-3AD203B41FA5}">
                      <a16:colId xmlns:a16="http://schemas.microsoft.com/office/drawing/2014/main" val="892636058"/>
                    </a:ext>
                  </a:extLst>
                </a:gridCol>
              </a:tblGrid>
              <a:tr h="560634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effectLst/>
                        </a:rPr>
                        <a:t>Площадь (м2)</a:t>
                      </a:r>
                      <a:endParaRPr lang="ru-RU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>
                          <a:effectLst/>
                        </a:rPr>
                        <a:t>Год постройки</a:t>
                      </a:r>
                      <a:endParaRPr lang="ru-RU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>
                          <a:effectLst/>
                        </a:rPr>
                        <a:t>Этаж</a:t>
                      </a:r>
                      <a:endParaRPr lang="ru-RU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effectLst/>
                        </a:rPr>
                        <a:t>Количество комнат</a:t>
                      </a:r>
                      <a:endParaRPr lang="ru-RU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>
                          <a:effectLst/>
                        </a:rPr>
                        <a:t>Цена (</a:t>
                      </a:r>
                      <a:r>
                        <a:rPr lang="en-US" sz="1800" u="none" strike="noStrike">
                          <a:effectLst/>
                        </a:rPr>
                        <a:t>BYN)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27703169"/>
                  </a:ext>
                </a:extLst>
              </a:tr>
              <a:tr h="3097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42.9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2009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137591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3441136"/>
                  </a:ext>
                </a:extLst>
              </a:tr>
              <a:tr h="3097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68.2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1997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155504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92257687"/>
                  </a:ext>
                </a:extLst>
              </a:tr>
              <a:tr h="3097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74.1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2014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332660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41792198"/>
                  </a:ext>
                </a:extLst>
              </a:tr>
              <a:tr h="3097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73.5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2005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8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3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196840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57279896"/>
                  </a:ext>
                </a:extLst>
              </a:tr>
              <a:tr h="3097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94.8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2012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275576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43755653"/>
                  </a:ext>
                </a:extLst>
              </a:tr>
              <a:tr h="3097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163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2008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3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246050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91594926"/>
                  </a:ext>
                </a:extLst>
              </a:tr>
              <a:tr h="3097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63.2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1995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3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121057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00735472"/>
                  </a:ext>
                </a:extLst>
              </a:tr>
              <a:tr h="405142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41429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0118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81963"/>
                <a:ext cx="10058400" cy="398712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dirty="0"/>
                  <a:t> = [ 73.5   2005   8   3]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ru-RU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u-RU" dirty="0"/>
                  <a:t>)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81963"/>
                <a:ext cx="10058400" cy="3987129"/>
              </a:xfrm>
              <a:blipFill>
                <a:blip r:embed="rId2"/>
                <a:stretch>
                  <a:fillRect t="-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Входные векторы признаков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79577" y="2708921"/>
          <a:ext cx="7776863" cy="31339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7830">
                  <a:extLst>
                    <a:ext uri="{9D8B030D-6E8A-4147-A177-3AD203B41FA5}">
                      <a16:colId xmlns:a16="http://schemas.microsoft.com/office/drawing/2014/main" val="3772030588"/>
                    </a:ext>
                  </a:extLst>
                </a:gridCol>
                <a:gridCol w="2226639">
                  <a:extLst>
                    <a:ext uri="{9D8B030D-6E8A-4147-A177-3AD203B41FA5}">
                      <a16:colId xmlns:a16="http://schemas.microsoft.com/office/drawing/2014/main" val="1178522499"/>
                    </a:ext>
                  </a:extLst>
                </a:gridCol>
                <a:gridCol w="1047830">
                  <a:extLst>
                    <a:ext uri="{9D8B030D-6E8A-4147-A177-3AD203B41FA5}">
                      <a16:colId xmlns:a16="http://schemas.microsoft.com/office/drawing/2014/main" val="2718702336"/>
                    </a:ext>
                  </a:extLst>
                </a:gridCol>
                <a:gridCol w="2406734">
                  <a:extLst>
                    <a:ext uri="{9D8B030D-6E8A-4147-A177-3AD203B41FA5}">
                      <a16:colId xmlns:a16="http://schemas.microsoft.com/office/drawing/2014/main" val="2115649169"/>
                    </a:ext>
                  </a:extLst>
                </a:gridCol>
                <a:gridCol w="1047830">
                  <a:extLst>
                    <a:ext uri="{9D8B030D-6E8A-4147-A177-3AD203B41FA5}">
                      <a16:colId xmlns:a16="http://schemas.microsoft.com/office/drawing/2014/main" val="892636058"/>
                    </a:ext>
                  </a:extLst>
                </a:gridCol>
              </a:tblGrid>
              <a:tr h="560634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>
                          <a:effectLst/>
                        </a:rPr>
                        <a:t>Площадь (м2)</a:t>
                      </a:r>
                      <a:endParaRPr lang="ru-RU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>
                          <a:effectLst/>
                        </a:rPr>
                        <a:t>Год постройки</a:t>
                      </a:r>
                      <a:endParaRPr lang="ru-RU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>
                          <a:effectLst/>
                        </a:rPr>
                        <a:t>Этаж</a:t>
                      </a:r>
                      <a:endParaRPr lang="ru-RU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effectLst/>
                        </a:rPr>
                        <a:t>Количество комнат</a:t>
                      </a:r>
                      <a:endParaRPr lang="ru-RU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>
                          <a:effectLst/>
                        </a:rPr>
                        <a:t>Цена (</a:t>
                      </a:r>
                      <a:r>
                        <a:rPr lang="en-US" sz="1800" u="none" strike="noStrike">
                          <a:effectLst/>
                        </a:rPr>
                        <a:t>BYN)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27703169"/>
                  </a:ext>
                </a:extLst>
              </a:tr>
              <a:tr h="3097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42.9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2009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137591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3441136"/>
                  </a:ext>
                </a:extLst>
              </a:tr>
              <a:tr h="3097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68.2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1997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155504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92257687"/>
                  </a:ext>
                </a:extLst>
              </a:tr>
              <a:tr h="3097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74.1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2014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332660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41792198"/>
                  </a:ext>
                </a:extLst>
              </a:tr>
              <a:tr h="3097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73.5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2005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196840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57279896"/>
                  </a:ext>
                </a:extLst>
              </a:tr>
              <a:tr h="3097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94.8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2012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275576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43755653"/>
                  </a:ext>
                </a:extLst>
              </a:tr>
              <a:tr h="3097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163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2008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246050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91594926"/>
                  </a:ext>
                </a:extLst>
              </a:tr>
              <a:tr h="3097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63.2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1995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121057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00735472"/>
                  </a:ext>
                </a:extLst>
              </a:tr>
              <a:tr h="405142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41429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0062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B00C7-0803-8A43-A9F3-6FF24BDCB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5400" dirty="0"/>
              <a:t>ПРЕДВАРИТЕЛЬНАЯ ОБРАБОТКА ДАТАСЕТА</a:t>
            </a:r>
            <a:endParaRPr lang="en-US" sz="5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89A574-F452-49EE-9B41-B6208C501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49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ПОРЯДОК ПРЕДОБРАБОТКИ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C3B106-C1E1-45EA-BF3B-6B741ECD68B0}"/>
              </a:ext>
            </a:extLst>
          </p:cNvPr>
          <p:cNvSpPr txBox="1"/>
          <p:nvPr/>
        </p:nvSpPr>
        <p:spPr>
          <a:xfrm>
            <a:off x="1097280" y="1625601"/>
            <a:ext cx="10470605" cy="515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500"/>
              </a:spcAft>
              <a:buFont typeface="+mj-lt"/>
              <a:buAutoNum type="arabicPeriod"/>
            </a:pPr>
            <a:r>
              <a:rPr lang="ru-RU" sz="2000" dirty="0"/>
              <a:t>Разделение на обучающую и тестовую выборки</a:t>
            </a:r>
          </a:p>
          <a:p>
            <a:pPr marL="457200" indent="-457200">
              <a:spcAft>
                <a:spcPts val="500"/>
              </a:spcAft>
              <a:buFont typeface="+mj-lt"/>
              <a:buAutoNum type="arabicPeriod"/>
            </a:pPr>
            <a:r>
              <a:rPr lang="ru-RU" sz="2000" dirty="0"/>
              <a:t>Унификация значений и приведение типов</a:t>
            </a:r>
          </a:p>
          <a:p>
            <a:pPr marL="457200" indent="-457200">
              <a:spcAft>
                <a:spcPts val="500"/>
              </a:spcAft>
              <a:buFont typeface="+mj-lt"/>
              <a:buAutoNum type="arabicPeriod"/>
            </a:pPr>
            <a:r>
              <a:rPr lang="ru-RU" sz="2000" dirty="0"/>
              <a:t>Поиск дубликатов</a:t>
            </a:r>
          </a:p>
          <a:p>
            <a:pPr marL="457200" indent="-457200">
              <a:spcAft>
                <a:spcPts val="500"/>
              </a:spcAft>
              <a:buFont typeface="+mj-lt"/>
              <a:buAutoNum type="arabicPeriod"/>
            </a:pPr>
            <a:r>
              <a:rPr lang="ru-RU" sz="2000" dirty="0"/>
              <a:t>Очистка: удаление лишних признаков и объектов</a:t>
            </a:r>
          </a:p>
          <a:p>
            <a:pPr marL="457200" indent="-457200">
              <a:spcAft>
                <a:spcPts val="500"/>
              </a:spcAft>
              <a:buFont typeface="+mj-lt"/>
              <a:buAutoNum type="arabicPeriod"/>
            </a:pPr>
            <a:r>
              <a:rPr lang="ru-RU" sz="2000" dirty="0"/>
              <a:t>Заполнение пропусков</a:t>
            </a:r>
          </a:p>
          <a:p>
            <a:pPr marL="457200" indent="-457200">
              <a:spcAft>
                <a:spcPts val="500"/>
              </a:spcAft>
              <a:buFont typeface="+mj-lt"/>
              <a:buAutoNum type="arabicPeriod"/>
            </a:pPr>
            <a:r>
              <a:rPr lang="ru-RU" sz="2000" dirty="0"/>
              <a:t>Поиск и обработка выбросов</a:t>
            </a:r>
          </a:p>
          <a:p>
            <a:pPr marL="457200" indent="-457200">
              <a:spcAft>
                <a:spcPts val="500"/>
              </a:spcAft>
              <a:buFont typeface="+mj-lt"/>
              <a:buAutoNum type="arabicPeriod"/>
            </a:pPr>
            <a:r>
              <a:rPr lang="ru-RU" sz="2000" dirty="0"/>
              <a:t>Нормализация</a:t>
            </a:r>
          </a:p>
          <a:p>
            <a:pPr marL="457200" indent="-457200">
              <a:spcAft>
                <a:spcPts val="500"/>
              </a:spcAft>
              <a:buFont typeface="+mj-lt"/>
              <a:buAutoNum type="arabicPeriod"/>
            </a:pPr>
            <a:r>
              <a:rPr lang="ru-RU" sz="2000" dirty="0"/>
              <a:t>Корреляционный анализ</a:t>
            </a:r>
          </a:p>
          <a:p>
            <a:pPr marL="457200" indent="-457200">
              <a:spcAft>
                <a:spcPts val="500"/>
              </a:spcAft>
              <a:buFont typeface="+mj-lt"/>
              <a:buAutoNum type="arabicPeriod"/>
            </a:pPr>
            <a:r>
              <a:rPr lang="ru-RU" sz="2000" dirty="0"/>
              <a:t>Профилирование и отчёт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1800" i="1" dirty="0">
                <a:solidFill>
                  <a:srgbClr val="404040"/>
                </a:solidFill>
              </a:rPr>
              <a:t>Статистики для шагов 5–7 (среднее, медиана, σ, min/max) считаются только по обучающей выборке</a:t>
            </a:r>
          </a:p>
        </p:txBody>
      </p:sp>
    </p:spTree>
    <p:extLst>
      <p:ext uri="{BB962C8B-B14F-4D97-AF65-F5344CB8AC3E}">
        <p14:creationId xmlns:p14="http://schemas.microsoft.com/office/powerpoint/2010/main" val="3564321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УНИФИКАЦИЯ ЗНАЧЕНИЙ</a:t>
            </a:r>
            <a:endParaRPr lang="en-US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6210144B-F579-4C08-8A9F-E4C3AAD50F9B}"/>
              </a:ext>
            </a:extLst>
          </p:cNvPr>
          <p:cNvSpPr/>
          <p:nvPr/>
        </p:nvSpPr>
        <p:spPr>
          <a:xfrm>
            <a:off x="4011023" y="1901816"/>
            <a:ext cx="466635" cy="31809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6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6B0565-6DF3-4C07-A83A-789B9D7148E0}"/>
              </a:ext>
            </a:extLst>
          </p:cNvPr>
          <p:cNvSpPr/>
          <p:nvPr/>
        </p:nvSpPr>
        <p:spPr>
          <a:xfrm>
            <a:off x="676367" y="1739787"/>
            <a:ext cx="3294742" cy="6463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Различные единицы измерения</a:t>
            </a:r>
            <a:endParaRPr lang="LID4096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263385-6B00-4578-A019-85CE4A45E81E}"/>
              </a:ext>
            </a:extLst>
          </p:cNvPr>
          <p:cNvSpPr/>
          <p:nvPr/>
        </p:nvSpPr>
        <p:spPr>
          <a:xfrm>
            <a:off x="4517572" y="1739787"/>
            <a:ext cx="4256314" cy="64633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Приведение к общим единицам измерения, удаление обозначения</a:t>
            </a:r>
            <a:endParaRPr lang="LID4096" sz="1600" dirty="0"/>
          </a:p>
        </p:txBody>
      </p:sp>
      <p:graphicFrame>
        <p:nvGraphicFramePr>
          <p:cNvPr id="21" name="Table 21">
            <a:extLst>
              <a:ext uri="{FF2B5EF4-FFF2-40B4-BE49-F238E27FC236}">
                <a16:creationId xmlns:a16="http://schemas.microsoft.com/office/drawing/2014/main" id="{57A13F72-270A-4BBD-9E9C-1EDCE3293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508412"/>
              </p:ext>
            </p:extLst>
          </p:nvPr>
        </p:nvGraphicFramePr>
        <p:xfrm>
          <a:off x="9027159" y="1717020"/>
          <a:ext cx="1087847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847">
                  <a:extLst>
                    <a:ext uri="{9D8B030D-6E8A-4147-A177-3AD203B41FA5}">
                      <a16:colId xmlns:a16="http://schemas.microsoft.com/office/drawing/2014/main" val="1579572823"/>
                    </a:ext>
                  </a:extLst>
                </a:gridCol>
              </a:tblGrid>
              <a:tr h="169477">
                <a:tc>
                  <a:txBody>
                    <a:bodyPr/>
                    <a:lstStyle/>
                    <a:p>
                      <a:r>
                        <a:rPr lang="en-US" sz="1100" dirty="0"/>
                        <a:t>Distance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588783"/>
                  </a:ext>
                </a:extLst>
              </a:tr>
              <a:tr h="169477">
                <a:tc>
                  <a:txBody>
                    <a:bodyPr/>
                    <a:lstStyle/>
                    <a:p>
                      <a:r>
                        <a:rPr lang="en-US" sz="1100" dirty="0"/>
                        <a:t>140m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290075"/>
                  </a:ext>
                </a:extLst>
              </a:tr>
              <a:tr h="169477">
                <a:tc>
                  <a:txBody>
                    <a:bodyPr/>
                    <a:lstStyle/>
                    <a:p>
                      <a:r>
                        <a:rPr lang="en-US" sz="1100" dirty="0"/>
                        <a:t>4km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368856"/>
                  </a:ext>
                </a:extLst>
              </a:tr>
            </a:tbl>
          </a:graphicData>
        </a:graphic>
      </p:graphicFrame>
      <p:graphicFrame>
        <p:nvGraphicFramePr>
          <p:cNvPr id="23" name="Table 21">
            <a:extLst>
              <a:ext uri="{FF2B5EF4-FFF2-40B4-BE49-F238E27FC236}">
                <a16:creationId xmlns:a16="http://schemas.microsoft.com/office/drawing/2014/main" id="{966DA0F1-AF69-400C-82DB-A758228063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697059"/>
              </p:ext>
            </p:extLst>
          </p:nvPr>
        </p:nvGraphicFramePr>
        <p:xfrm>
          <a:off x="10651670" y="1723191"/>
          <a:ext cx="1249318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318">
                  <a:extLst>
                    <a:ext uri="{9D8B030D-6E8A-4147-A177-3AD203B41FA5}">
                      <a16:colId xmlns:a16="http://schemas.microsoft.com/office/drawing/2014/main" val="1579572823"/>
                    </a:ext>
                  </a:extLst>
                </a:gridCol>
              </a:tblGrid>
              <a:tr h="169477">
                <a:tc>
                  <a:txBody>
                    <a:bodyPr/>
                    <a:lstStyle/>
                    <a:p>
                      <a:r>
                        <a:rPr lang="en-US" sz="1100" dirty="0"/>
                        <a:t>Distance, m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588783"/>
                  </a:ext>
                </a:extLst>
              </a:tr>
              <a:tr h="169477">
                <a:tc>
                  <a:txBody>
                    <a:bodyPr/>
                    <a:lstStyle/>
                    <a:p>
                      <a:r>
                        <a:rPr lang="en-US" sz="1100" dirty="0"/>
                        <a:t>140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290075"/>
                  </a:ext>
                </a:extLst>
              </a:tr>
              <a:tr h="169477">
                <a:tc>
                  <a:txBody>
                    <a:bodyPr/>
                    <a:lstStyle/>
                    <a:p>
                      <a:r>
                        <a:rPr lang="en-US" sz="1100" dirty="0"/>
                        <a:t>4000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368856"/>
                  </a:ext>
                </a:extLst>
              </a:tr>
            </a:tbl>
          </a:graphicData>
        </a:graphic>
      </p:graphicFrame>
      <p:sp>
        <p:nvSpPr>
          <p:cNvPr id="25" name="Arrow: Right 24">
            <a:extLst>
              <a:ext uri="{FF2B5EF4-FFF2-40B4-BE49-F238E27FC236}">
                <a16:creationId xmlns:a16="http://schemas.microsoft.com/office/drawing/2014/main" id="{70A9DE25-799A-46ED-B7BD-BFF091C6C5E7}"/>
              </a:ext>
            </a:extLst>
          </p:cNvPr>
          <p:cNvSpPr/>
          <p:nvPr/>
        </p:nvSpPr>
        <p:spPr>
          <a:xfrm>
            <a:off x="10233231" y="1954526"/>
            <a:ext cx="300209" cy="31809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A80B0D6F-C6D6-4190-A361-9DA89E3297F8}"/>
              </a:ext>
            </a:extLst>
          </p:cNvPr>
          <p:cNvSpPr/>
          <p:nvPr/>
        </p:nvSpPr>
        <p:spPr>
          <a:xfrm>
            <a:off x="4011023" y="2990140"/>
            <a:ext cx="466635" cy="31809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6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E8FDBE-365D-4411-A984-77121520FEF4}"/>
              </a:ext>
            </a:extLst>
          </p:cNvPr>
          <p:cNvSpPr/>
          <p:nvPr/>
        </p:nvSpPr>
        <p:spPr>
          <a:xfrm>
            <a:off x="676367" y="2828111"/>
            <a:ext cx="3294742" cy="6463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Различные форматы представления</a:t>
            </a:r>
            <a:endParaRPr lang="LID4096" sz="16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5B6DB3E-C7A3-4E20-8295-28006A0834E5}"/>
              </a:ext>
            </a:extLst>
          </p:cNvPr>
          <p:cNvSpPr/>
          <p:nvPr/>
        </p:nvSpPr>
        <p:spPr>
          <a:xfrm>
            <a:off x="4517572" y="2828111"/>
            <a:ext cx="4256314" cy="64633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Приведение к общему формату</a:t>
            </a:r>
            <a:endParaRPr lang="LID4096" sz="1600" dirty="0"/>
          </a:p>
        </p:txBody>
      </p:sp>
      <p:graphicFrame>
        <p:nvGraphicFramePr>
          <p:cNvPr id="29" name="Table 21">
            <a:extLst>
              <a:ext uri="{FF2B5EF4-FFF2-40B4-BE49-F238E27FC236}">
                <a16:creationId xmlns:a16="http://schemas.microsoft.com/office/drawing/2014/main" id="{F11D84E9-7777-45CC-AFB6-DFE9E883FB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504041"/>
              </p:ext>
            </p:extLst>
          </p:nvPr>
        </p:nvGraphicFramePr>
        <p:xfrm>
          <a:off x="9027159" y="2814386"/>
          <a:ext cx="1087847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847">
                  <a:extLst>
                    <a:ext uri="{9D8B030D-6E8A-4147-A177-3AD203B41FA5}">
                      <a16:colId xmlns:a16="http://schemas.microsoft.com/office/drawing/2014/main" val="1579572823"/>
                    </a:ext>
                  </a:extLst>
                </a:gridCol>
              </a:tblGrid>
              <a:tr h="169477">
                <a:tc>
                  <a:txBody>
                    <a:bodyPr/>
                    <a:lstStyle/>
                    <a:p>
                      <a:r>
                        <a:rPr lang="en-US" sz="1100" dirty="0"/>
                        <a:t>Mask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588783"/>
                  </a:ext>
                </a:extLst>
              </a:tr>
              <a:tr h="169477">
                <a:tc>
                  <a:txBody>
                    <a:bodyPr/>
                    <a:lstStyle/>
                    <a:p>
                      <a:r>
                        <a:rPr lang="en-US" sz="1100" dirty="0"/>
                        <a:t>255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290075"/>
                  </a:ext>
                </a:extLst>
              </a:tr>
              <a:tr h="169477">
                <a:tc>
                  <a:txBody>
                    <a:bodyPr/>
                    <a:lstStyle/>
                    <a:p>
                      <a:r>
                        <a:rPr lang="en-US" sz="1100" dirty="0"/>
                        <a:t>0xFF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368856"/>
                  </a:ext>
                </a:extLst>
              </a:tr>
            </a:tbl>
          </a:graphicData>
        </a:graphic>
      </p:graphicFrame>
      <p:graphicFrame>
        <p:nvGraphicFramePr>
          <p:cNvPr id="30" name="Table 21">
            <a:extLst>
              <a:ext uri="{FF2B5EF4-FFF2-40B4-BE49-F238E27FC236}">
                <a16:creationId xmlns:a16="http://schemas.microsoft.com/office/drawing/2014/main" id="{62BE5A5C-EDC8-4A5D-AD42-B7A530EB91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153489"/>
              </p:ext>
            </p:extLst>
          </p:nvPr>
        </p:nvGraphicFramePr>
        <p:xfrm>
          <a:off x="10651670" y="2811515"/>
          <a:ext cx="1249318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318">
                  <a:extLst>
                    <a:ext uri="{9D8B030D-6E8A-4147-A177-3AD203B41FA5}">
                      <a16:colId xmlns:a16="http://schemas.microsoft.com/office/drawing/2014/main" val="1579572823"/>
                    </a:ext>
                  </a:extLst>
                </a:gridCol>
              </a:tblGrid>
              <a:tr h="169477">
                <a:tc>
                  <a:txBody>
                    <a:bodyPr/>
                    <a:lstStyle/>
                    <a:p>
                      <a:r>
                        <a:rPr lang="en-US" sz="1100" dirty="0"/>
                        <a:t>Mask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588783"/>
                  </a:ext>
                </a:extLst>
              </a:tr>
              <a:tr h="169477">
                <a:tc>
                  <a:txBody>
                    <a:bodyPr/>
                    <a:lstStyle/>
                    <a:p>
                      <a:r>
                        <a:rPr lang="en-US" sz="1100" dirty="0"/>
                        <a:t>255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290075"/>
                  </a:ext>
                </a:extLst>
              </a:tr>
              <a:tr h="169477">
                <a:tc>
                  <a:txBody>
                    <a:bodyPr/>
                    <a:lstStyle/>
                    <a:p>
                      <a:r>
                        <a:rPr lang="en-US" sz="1100" dirty="0"/>
                        <a:t>255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368856"/>
                  </a:ext>
                </a:extLst>
              </a:tr>
            </a:tbl>
          </a:graphicData>
        </a:graphic>
      </p:graphicFrame>
      <p:sp>
        <p:nvSpPr>
          <p:cNvPr id="31" name="Arrow: Right 30">
            <a:extLst>
              <a:ext uri="{FF2B5EF4-FFF2-40B4-BE49-F238E27FC236}">
                <a16:creationId xmlns:a16="http://schemas.microsoft.com/office/drawing/2014/main" id="{B86914B8-B22F-476A-B361-94CA4466E2CC}"/>
              </a:ext>
            </a:extLst>
          </p:cNvPr>
          <p:cNvSpPr/>
          <p:nvPr/>
        </p:nvSpPr>
        <p:spPr>
          <a:xfrm>
            <a:off x="10233232" y="3042850"/>
            <a:ext cx="300209" cy="31809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F042F051-F49A-4D86-AC5D-CD95871182EA}"/>
              </a:ext>
            </a:extLst>
          </p:cNvPr>
          <p:cNvSpPr/>
          <p:nvPr/>
        </p:nvSpPr>
        <p:spPr>
          <a:xfrm>
            <a:off x="4011023" y="4161122"/>
            <a:ext cx="466635" cy="31809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6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590E483-69D6-4408-A4BE-3FBCE3777CFD}"/>
              </a:ext>
            </a:extLst>
          </p:cNvPr>
          <p:cNvSpPr/>
          <p:nvPr/>
        </p:nvSpPr>
        <p:spPr>
          <a:xfrm>
            <a:off x="676367" y="3999093"/>
            <a:ext cx="3294742" cy="6463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Различная точность измерений</a:t>
            </a:r>
            <a:endParaRPr lang="LID4096" sz="16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2A4C3F-B7E2-492F-A15C-1ED80DB6CB46}"/>
              </a:ext>
            </a:extLst>
          </p:cNvPr>
          <p:cNvSpPr/>
          <p:nvPr/>
        </p:nvSpPr>
        <p:spPr>
          <a:xfrm>
            <a:off x="4517572" y="3999093"/>
            <a:ext cx="4256314" cy="64633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Округление до наименьшей точности</a:t>
            </a:r>
            <a:endParaRPr lang="LID4096" sz="1600" dirty="0"/>
          </a:p>
        </p:txBody>
      </p:sp>
      <p:graphicFrame>
        <p:nvGraphicFramePr>
          <p:cNvPr id="35" name="Table 21">
            <a:extLst>
              <a:ext uri="{FF2B5EF4-FFF2-40B4-BE49-F238E27FC236}">
                <a16:creationId xmlns:a16="http://schemas.microsoft.com/office/drawing/2014/main" id="{3630A659-8CBD-4326-87A2-8CEC659314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217750"/>
              </p:ext>
            </p:extLst>
          </p:nvPr>
        </p:nvGraphicFramePr>
        <p:xfrm>
          <a:off x="9027159" y="3975398"/>
          <a:ext cx="1087847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847">
                  <a:extLst>
                    <a:ext uri="{9D8B030D-6E8A-4147-A177-3AD203B41FA5}">
                      <a16:colId xmlns:a16="http://schemas.microsoft.com/office/drawing/2014/main" val="1579572823"/>
                    </a:ext>
                  </a:extLst>
                </a:gridCol>
              </a:tblGrid>
              <a:tr h="169477">
                <a:tc>
                  <a:txBody>
                    <a:bodyPr/>
                    <a:lstStyle/>
                    <a:p>
                      <a:r>
                        <a:rPr lang="en-US" sz="1100" dirty="0"/>
                        <a:t>Width, mm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588783"/>
                  </a:ext>
                </a:extLst>
              </a:tr>
              <a:tr h="169477">
                <a:tc>
                  <a:txBody>
                    <a:bodyPr/>
                    <a:lstStyle/>
                    <a:p>
                      <a:r>
                        <a:rPr lang="en-US" sz="1100" dirty="0"/>
                        <a:t>0.591423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290075"/>
                  </a:ext>
                </a:extLst>
              </a:tr>
              <a:tr h="169477">
                <a:tc>
                  <a:txBody>
                    <a:bodyPr/>
                    <a:lstStyle/>
                    <a:p>
                      <a:r>
                        <a:rPr lang="en-US" sz="1100" dirty="0"/>
                        <a:t>10.3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368856"/>
                  </a:ext>
                </a:extLst>
              </a:tr>
            </a:tbl>
          </a:graphicData>
        </a:graphic>
      </p:graphicFrame>
      <p:graphicFrame>
        <p:nvGraphicFramePr>
          <p:cNvPr id="36" name="Table 21">
            <a:extLst>
              <a:ext uri="{FF2B5EF4-FFF2-40B4-BE49-F238E27FC236}">
                <a16:creationId xmlns:a16="http://schemas.microsoft.com/office/drawing/2014/main" id="{C1F25265-461D-4FC4-B4A9-16244C7DC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507693"/>
              </p:ext>
            </p:extLst>
          </p:nvPr>
        </p:nvGraphicFramePr>
        <p:xfrm>
          <a:off x="10651670" y="3982497"/>
          <a:ext cx="1249318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318">
                  <a:extLst>
                    <a:ext uri="{9D8B030D-6E8A-4147-A177-3AD203B41FA5}">
                      <a16:colId xmlns:a16="http://schemas.microsoft.com/office/drawing/2014/main" val="1579572823"/>
                    </a:ext>
                  </a:extLst>
                </a:gridCol>
              </a:tblGrid>
              <a:tr h="1694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Width, mm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588783"/>
                  </a:ext>
                </a:extLst>
              </a:tr>
              <a:tr h="169477">
                <a:tc>
                  <a:txBody>
                    <a:bodyPr/>
                    <a:lstStyle/>
                    <a:p>
                      <a:r>
                        <a:rPr lang="en-US" sz="1100" dirty="0"/>
                        <a:t>0.6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290075"/>
                  </a:ext>
                </a:extLst>
              </a:tr>
              <a:tr h="169477">
                <a:tc>
                  <a:txBody>
                    <a:bodyPr/>
                    <a:lstStyle/>
                    <a:p>
                      <a:r>
                        <a:rPr lang="en-US" sz="1100" dirty="0"/>
                        <a:t>10.3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368856"/>
                  </a:ext>
                </a:extLst>
              </a:tr>
            </a:tbl>
          </a:graphicData>
        </a:graphic>
      </p:graphicFrame>
      <p:sp>
        <p:nvSpPr>
          <p:cNvPr id="37" name="Arrow: Right 36">
            <a:extLst>
              <a:ext uri="{FF2B5EF4-FFF2-40B4-BE49-F238E27FC236}">
                <a16:creationId xmlns:a16="http://schemas.microsoft.com/office/drawing/2014/main" id="{7DE6CD63-B387-470E-B59F-05A970B565FD}"/>
              </a:ext>
            </a:extLst>
          </p:cNvPr>
          <p:cNvSpPr/>
          <p:nvPr/>
        </p:nvSpPr>
        <p:spPr>
          <a:xfrm>
            <a:off x="10233233" y="4213832"/>
            <a:ext cx="300209" cy="31809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341D1C40-4FBF-40E4-B686-5243B4EFD05C}"/>
              </a:ext>
            </a:extLst>
          </p:cNvPr>
          <p:cNvSpPr/>
          <p:nvPr/>
        </p:nvSpPr>
        <p:spPr>
          <a:xfrm>
            <a:off x="4011024" y="5603841"/>
            <a:ext cx="466635" cy="31809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6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0EC6D84-213D-4ABF-9D86-35C7EAC0FFC6}"/>
              </a:ext>
            </a:extLst>
          </p:cNvPr>
          <p:cNvSpPr/>
          <p:nvPr/>
        </p:nvSpPr>
        <p:spPr>
          <a:xfrm>
            <a:off x="676368" y="5441812"/>
            <a:ext cx="3294742" cy="6463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Различные обозначения одних и тех же значений</a:t>
            </a:r>
            <a:endParaRPr lang="LID4096" sz="16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A1726CD-A9B0-4299-BD15-DC96DD47B755}"/>
              </a:ext>
            </a:extLst>
          </p:cNvPr>
          <p:cNvSpPr/>
          <p:nvPr/>
        </p:nvSpPr>
        <p:spPr>
          <a:xfrm>
            <a:off x="4517573" y="5441812"/>
            <a:ext cx="4256314" cy="64633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Очистка пробельных символов, приведение к общему регистру</a:t>
            </a:r>
            <a:endParaRPr lang="LID4096" sz="1600" dirty="0"/>
          </a:p>
        </p:txBody>
      </p:sp>
      <p:graphicFrame>
        <p:nvGraphicFramePr>
          <p:cNvPr id="41" name="Table 21">
            <a:extLst>
              <a:ext uri="{FF2B5EF4-FFF2-40B4-BE49-F238E27FC236}">
                <a16:creationId xmlns:a16="http://schemas.microsoft.com/office/drawing/2014/main" id="{FE1883E5-EF6A-4477-A523-8A86873DE9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029438"/>
              </p:ext>
            </p:extLst>
          </p:nvPr>
        </p:nvGraphicFramePr>
        <p:xfrm>
          <a:off x="9027159" y="5093588"/>
          <a:ext cx="1087847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847">
                  <a:extLst>
                    <a:ext uri="{9D8B030D-6E8A-4147-A177-3AD203B41FA5}">
                      <a16:colId xmlns:a16="http://schemas.microsoft.com/office/drawing/2014/main" val="1579572823"/>
                    </a:ext>
                  </a:extLst>
                </a:gridCol>
              </a:tblGrid>
              <a:tr h="169477">
                <a:tc>
                  <a:txBody>
                    <a:bodyPr/>
                    <a:lstStyle/>
                    <a:p>
                      <a:r>
                        <a:rPr lang="en-US" sz="1100" dirty="0"/>
                        <a:t>Encoding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588783"/>
                  </a:ext>
                </a:extLst>
              </a:tr>
              <a:tr h="169477">
                <a:tc>
                  <a:txBody>
                    <a:bodyPr/>
                    <a:lstStyle/>
                    <a:p>
                      <a:r>
                        <a:rPr lang="en-US" sz="1100" dirty="0"/>
                        <a:t>utf8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290075"/>
                  </a:ext>
                </a:extLst>
              </a:tr>
              <a:tr h="169477">
                <a:tc>
                  <a:txBody>
                    <a:bodyPr/>
                    <a:lstStyle/>
                    <a:p>
                      <a:r>
                        <a:rPr lang="en-US" sz="1100" dirty="0"/>
                        <a:t>UTF-8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368856"/>
                  </a:ext>
                </a:extLst>
              </a:tr>
              <a:tr h="169477">
                <a:tc>
                  <a:txBody>
                    <a:bodyPr/>
                    <a:lstStyle/>
                    <a:p>
                      <a:r>
                        <a:rPr lang="en-US" sz="1100" dirty="0" err="1"/>
                        <a:t>utf</a:t>
                      </a:r>
                      <a:r>
                        <a:rPr lang="en-US" sz="1100" dirty="0"/>
                        <a:t> – 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186410"/>
                  </a:ext>
                </a:extLst>
              </a:tr>
              <a:tr h="169477">
                <a:tc>
                  <a:txBody>
                    <a:bodyPr/>
                    <a:lstStyle/>
                    <a:p>
                      <a:r>
                        <a:rPr lang="en-US" sz="1100" dirty="0"/>
                        <a:t>   utf8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45302"/>
                  </a:ext>
                </a:extLst>
              </a:tr>
            </a:tbl>
          </a:graphicData>
        </a:graphic>
      </p:graphicFrame>
      <p:graphicFrame>
        <p:nvGraphicFramePr>
          <p:cNvPr id="42" name="Table 21">
            <a:extLst>
              <a:ext uri="{FF2B5EF4-FFF2-40B4-BE49-F238E27FC236}">
                <a16:creationId xmlns:a16="http://schemas.microsoft.com/office/drawing/2014/main" id="{0B0AC2E0-54C1-4205-9123-0BED2478FE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332501"/>
              </p:ext>
            </p:extLst>
          </p:nvPr>
        </p:nvGraphicFramePr>
        <p:xfrm>
          <a:off x="10651671" y="5093588"/>
          <a:ext cx="1249317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317">
                  <a:extLst>
                    <a:ext uri="{9D8B030D-6E8A-4147-A177-3AD203B41FA5}">
                      <a16:colId xmlns:a16="http://schemas.microsoft.com/office/drawing/2014/main" val="1579572823"/>
                    </a:ext>
                  </a:extLst>
                </a:gridCol>
              </a:tblGrid>
              <a:tr h="169477">
                <a:tc>
                  <a:txBody>
                    <a:bodyPr/>
                    <a:lstStyle/>
                    <a:p>
                      <a:r>
                        <a:rPr lang="en-US" sz="1100" dirty="0"/>
                        <a:t>Encoding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588783"/>
                  </a:ext>
                </a:extLst>
              </a:tr>
              <a:tr h="169477">
                <a:tc>
                  <a:txBody>
                    <a:bodyPr/>
                    <a:lstStyle/>
                    <a:p>
                      <a:r>
                        <a:rPr lang="en-US" sz="1100" dirty="0"/>
                        <a:t>utf8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290075"/>
                  </a:ext>
                </a:extLst>
              </a:tr>
              <a:tr h="169477">
                <a:tc>
                  <a:txBody>
                    <a:bodyPr/>
                    <a:lstStyle/>
                    <a:p>
                      <a:r>
                        <a:rPr lang="en-US" sz="1100" dirty="0"/>
                        <a:t>utf8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368856"/>
                  </a:ext>
                </a:extLst>
              </a:tr>
              <a:tr h="169477">
                <a:tc>
                  <a:txBody>
                    <a:bodyPr/>
                    <a:lstStyle/>
                    <a:p>
                      <a:r>
                        <a:rPr lang="en-US" sz="1100" dirty="0"/>
                        <a:t>utf8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186410"/>
                  </a:ext>
                </a:extLst>
              </a:tr>
              <a:tr h="169477">
                <a:tc>
                  <a:txBody>
                    <a:bodyPr/>
                    <a:lstStyle/>
                    <a:p>
                      <a:r>
                        <a:rPr lang="en-US" sz="1100" dirty="0"/>
                        <a:t>utf8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45302"/>
                  </a:ext>
                </a:extLst>
              </a:tr>
            </a:tbl>
          </a:graphicData>
        </a:graphic>
      </p:graphicFrame>
      <p:sp>
        <p:nvSpPr>
          <p:cNvPr id="43" name="Arrow: Right 42">
            <a:extLst>
              <a:ext uri="{FF2B5EF4-FFF2-40B4-BE49-F238E27FC236}">
                <a16:creationId xmlns:a16="http://schemas.microsoft.com/office/drawing/2014/main" id="{597AFA66-3208-4FA5-9669-1CDDFE35A452}"/>
              </a:ext>
            </a:extLst>
          </p:cNvPr>
          <p:cNvSpPr/>
          <p:nvPr/>
        </p:nvSpPr>
        <p:spPr>
          <a:xfrm>
            <a:off x="10233232" y="5575902"/>
            <a:ext cx="300209" cy="31809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27444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8240" y="0"/>
            <a:ext cx="10058400" cy="1369074"/>
          </a:xfrm>
        </p:spPr>
        <p:txBody>
          <a:bodyPr>
            <a:normAutofit/>
          </a:bodyPr>
          <a:lstStyle/>
          <a:p>
            <a:r>
              <a:rPr lang="ru-RU" dirty="0"/>
              <a:t>ПРИВЕДЕНИЕ ТИПОВ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24D089-A5B5-42CF-B18A-3A8C9756EE63}"/>
              </a:ext>
            </a:extLst>
          </p:cNvPr>
          <p:cNvSpPr txBox="1"/>
          <p:nvPr/>
        </p:nvSpPr>
        <p:spPr>
          <a:xfrm>
            <a:off x="1036320" y="1067677"/>
            <a:ext cx="10180320" cy="557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ru-RU" b="1" dirty="0"/>
              <a:t>Целые числа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dirty="0"/>
              <a:t>Без изменений</a:t>
            </a:r>
          </a:p>
          <a:p>
            <a:pPr>
              <a:spcAft>
                <a:spcPts val="300"/>
              </a:spcAft>
            </a:pPr>
            <a:r>
              <a:rPr lang="ru-RU" b="1" dirty="0"/>
              <a:t>Вещественные числа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dirty="0"/>
              <a:t>Без изменений</a:t>
            </a:r>
          </a:p>
          <a:p>
            <a:pPr>
              <a:spcAft>
                <a:spcPts val="300"/>
              </a:spcAft>
            </a:pPr>
            <a:r>
              <a:rPr lang="ru-RU" b="1" dirty="0"/>
              <a:t>Булевы значения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true =&gt; 1, false =&gt; 0</a:t>
            </a:r>
          </a:p>
          <a:p>
            <a:pPr>
              <a:spcAft>
                <a:spcPts val="300"/>
              </a:spcAft>
            </a:pPr>
            <a:r>
              <a:rPr lang="ru-RU" b="1" dirty="0"/>
              <a:t>Дата и/или время, временной интервал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dirty="0"/>
              <a:t>Преобразование к набору отдельных признаков – год, месяц, день, час, минута, секунда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dirty="0"/>
              <a:t>Преобразование в целочисленный </a:t>
            </a:r>
            <a:r>
              <a:rPr lang="en-US" dirty="0"/>
              <a:t>UNIX Timestamp – </a:t>
            </a:r>
            <a:r>
              <a:rPr lang="ru-RU" dirty="0"/>
              <a:t>количество секунд с 1 января 1970 г.</a:t>
            </a:r>
          </a:p>
          <a:p>
            <a:pPr>
              <a:spcAft>
                <a:spcPts val="300"/>
              </a:spcAft>
            </a:pPr>
            <a:r>
              <a:rPr lang="ru-RU" b="1" dirty="0"/>
              <a:t>Строки из ограниченного множества (</a:t>
            </a:r>
            <a:r>
              <a:rPr lang="en-US" b="1" dirty="0" err="1"/>
              <a:t>enum</a:t>
            </a:r>
            <a:r>
              <a:rPr lang="en-US" b="1" dirty="0"/>
              <a:t>)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dirty="0"/>
              <a:t>Номер категории (Label Encoding) — задаёт ложный порядок между категориями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dirty="0"/>
              <a:t>Вектор из нулей и одной единицы (One-Hot Encoding) — предпочтителен для линейных моделей</a:t>
            </a:r>
          </a:p>
          <a:p>
            <a:pPr>
              <a:spcAft>
                <a:spcPts val="300"/>
              </a:spcAft>
            </a:pPr>
            <a:r>
              <a:rPr lang="ru-RU" b="1" dirty="0"/>
              <a:t>Остальные типы данных (произвольные строки, бинарные данные определенного формата и т.д.)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dirty="0"/>
              <a:t>Извлечение признаков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581930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21817"/>
            <a:ext cx="10058400" cy="1369074"/>
          </a:xfrm>
        </p:spPr>
        <p:txBody>
          <a:bodyPr>
            <a:normAutofit/>
          </a:bodyPr>
          <a:lstStyle/>
          <a:p>
            <a:r>
              <a:rPr lang="ru-RU" dirty="0"/>
              <a:t>Поиск дубликатов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24D089-A5B5-42CF-B18A-3A8C9756EE63}"/>
              </a:ext>
            </a:extLst>
          </p:cNvPr>
          <p:cNvSpPr txBox="1"/>
          <p:nvPr/>
        </p:nvSpPr>
        <p:spPr>
          <a:xfrm>
            <a:off x="1097280" y="1606225"/>
            <a:ext cx="10572206" cy="4355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dirty="0"/>
              <a:t>Аналогичные данные из сборных </a:t>
            </a:r>
            <a:r>
              <a:rPr lang="ru-RU" dirty="0" err="1"/>
              <a:t>датасетов</a:t>
            </a:r>
            <a:endParaRPr lang="ru-RU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dirty="0"/>
              <a:t>Дублирование одного и того же экземпляра в рамках одного </a:t>
            </a:r>
            <a:r>
              <a:rPr lang="ru-RU" dirty="0" err="1"/>
              <a:t>датасета</a:t>
            </a:r>
            <a:endParaRPr lang="ru-RU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dirty="0"/>
              <a:t>Поиск по совпадению идентифицирующей информации (</a:t>
            </a:r>
            <a:r>
              <a:rPr lang="en-US" dirty="0"/>
              <a:t>id, </a:t>
            </a:r>
            <a:r>
              <a:rPr lang="ru-RU" dirty="0"/>
              <a:t>ФИО, </a:t>
            </a:r>
            <a:r>
              <a:rPr lang="en-US" dirty="0"/>
              <a:t>timestamp </a:t>
            </a:r>
            <a:r>
              <a:rPr lang="ru-RU" dirty="0"/>
              <a:t>и т.п.)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dirty="0"/>
              <a:t>Поиск по совпадению всех значений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dirty="0"/>
              <a:t>Поиск по частичному совпадению значений (разница между значениями, не превышающая порог)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b="1" dirty="0"/>
              <a:t>Совпадение != дубликат</a:t>
            </a:r>
            <a:br>
              <a:rPr lang="ru-RU" b="1" dirty="0"/>
            </a:br>
            <a:br>
              <a:rPr lang="ru-RU" b="1" dirty="0"/>
            </a:br>
            <a:r>
              <a:rPr lang="ru-RU" b="1" dirty="0"/>
              <a:t>Виды дубликатов</a:t>
            </a:r>
          </a:p>
          <a:p>
            <a:pPr marL="342900" indent="-342900">
              <a:spcAft>
                <a:spcPts val="300"/>
              </a:spcAft>
              <a:buAutoNum type="arabicPeriod"/>
            </a:pPr>
            <a:r>
              <a:rPr lang="ru-RU" b="1" dirty="0"/>
              <a:t>Полный дубликат (все поля совпадают)</a:t>
            </a:r>
          </a:p>
          <a:p>
            <a:pPr marL="342900" indent="-342900">
              <a:spcAft>
                <a:spcPts val="300"/>
              </a:spcAft>
              <a:buAutoNum type="arabicPeriod"/>
            </a:pPr>
            <a:r>
              <a:rPr lang="ru-RU" b="1" dirty="0"/>
              <a:t>Дубликат по идентификатору</a:t>
            </a:r>
          </a:p>
          <a:p>
            <a:pPr marL="342900" indent="-342900">
              <a:spcAft>
                <a:spcPts val="300"/>
              </a:spcAft>
              <a:buAutoNum type="arabicPeriod"/>
            </a:pPr>
            <a:r>
              <a:rPr lang="ru-RU" b="1" dirty="0"/>
              <a:t>Частичные дубликаты </a:t>
            </a:r>
          </a:p>
        </p:txBody>
      </p:sp>
    </p:spTree>
    <p:extLst>
      <p:ext uri="{BB962C8B-B14F-4D97-AF65-F5344CB8AC3E}">
        <p14:creationId xmlns:p14="http://schemas.microsoft.com/office/powerpoint/2010/main" val="695081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ОЧИСТКА ДАТАСЕТА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B1689D-760A-4491-952D-4D8FDAC3B9E0}"/>
              </a:ext>
            </a:extLst>
          </p:cNvPr>
          <p:cNvSpPr txBox="1"/>
          <p:nvPr/>
        </p:nvSpPr>
        <p:spPr>
          <a:xfrm>
            <a:off x="1097280" y="1538513"/>
            <a:ext cx="10180320" cy="5370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Фильтрация </a:t>
            </a:r>
            <a:r>
              <a:rPr lang="ru-RU" b="1" dirty="0"/>
              <a:t>признаков</a:t>
            </a:r>
            <a:r>
              <a:rPr lang="ru-RU" dirty="0"/>
              <a:t> </a:t>
            </a:r>
            <a:r>
              <a:rPr lang="ru-RU" dirty="0" err="1"/>
              <a:t>датасета</a:t>
            </a:r>
            <a:r>
              <a:rPr lang="ru-RU" dirty="0"/>
              <a:t> по </a:t>
            </a:r>
            <a:r>
              <a:rPr lang="ru-RU" dirty="0" err="1"/>
              <a:t>некоторому</a:t>
            </a:r>
            <a:r>
              <a:rPr lang="ru-RU" dirty="0"/>
              <a:t> критерию, например: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/>
              <a:t>Признак не заполнен для значительной части элементов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/>
              <a:t>Признак содержит личную информацию (например, ФИО в задаче медицинской диагностики)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/>
              <a:t>Признак не важен в контексте задачи (например, имя получателя в задаче классификации сообщений со спамом, </a:t>
            </a:r>
            <a:r>
              <a:rPr lang="en-US" dirty="0"/>
              <a:t>id </a:t>
            </a:r>
            <a:r>
              <a:rPr lang="ru-RU" dirty="0"/>
              <a:t>записи)</a:t>
            </a:r>
          </a:p>
          <a:p>
            <a:pPr>
              <a:spcAft>
                <a:spcPts val="600"/>
              </a:spcAft>
            </a:pPr>
            <a:endParaRPr lang="ru-RU" dirty="0"/>
          </a:p>
          <a:p>
            <a:pPr>
              <a:spcAft>
                <a:spcPts val="600"/>
              </a:spcAft>
            </a:pPr>
            <a:r>
              <a:rPr lang="ru-RU" dirty="0"/>
              <a:t>Фильтрация </a:t>
            </a:r>
            <a:r>
              <a:rPr lang="ru-RU" b="1" dirty="0"/>
              <a:t>элементов</a:t>
            </a:r>
            <a:r>
              <a:rPr lang="ru-RU" dirty="0"/>
              <a:t> </a:t>
            </a:r>
            <a:r>
              <a:rPr lang="ru-RU" dirty="0" err="1"/>
              <a:t>датасета</a:t>
            </a:r>
            <a:r>
              <a:rPr lang="ru-RU" dirty="0"/>
              <a:t> по некоторому критерию, например: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/>
              <a:t>Значительная часть признаков не заполнена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/>
              <a:t>Один из признаков имеет значение, которое можно отнести к выбросу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/>
              <a:t>Значение вне интервала x̄ ± 3σ (правило трёх сигм; для распределений, близких к нормальному)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/>
              <a:t>Значение меньше Q1 − 1,5·IQR или больше Q3 + 1,5·IQR, где IQR = Q3 − Q1</a:t>
            </a:r>
          </a:p>
          <a:p>
            <a:pPr>
              <a:spcAft>
                <a:spcPts val="600"/>
              </a:spcAft>
            </a:pPr>
            <a:endParaRPr lang="ru-RU" dirty="0"/>
          </a:p>
          <a:p>
            <a:pPr>
              <a:spcAft>
                <a:spcPts val="600"/>
              </a:spcAft>
            </a:pP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896609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ЗАПОЛНЕНИЕ ПРОПУСКОВ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C3B106-C1E1-45EA-BF3B-6B741ECD68B0}"/>
              </a:ext>
            </a:extLst>
          </p:cNvPr>
          <p:cNvSpPr txBox="1"/>
          <p:nvPr/>
        </p:nvSpPr>
        <p:spPr>
          <a:xfrm>
            <a:off x="1097280" y="1625601"/>
            <a:ext cx="10470605" cy="515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Заполнение фиксированным значением (например, 0)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Заполнение средним арифметическим признака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Заполнение медианой признака (устойчива к выбросам)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Заполнение модой (самым частым значением) признака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Заполнение случайными значениями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Можно использовать произвольный закон распределения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Заполнение с помощью модели (импутация)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Для признака с пропусками строится регрессионная модель, в которой в качестве входных значений используются остальные, а выходным является искомый признак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Данные, для которых значения не пропущены, используются как обучающая выборка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Чаще всего для регрессии используется байесовская линейная модель (</a:t>
            </a:r>
            <a:r>
              <a:rPr lang="en-US" sz="1600" dirty="0"/>
              <a:t>Bayesian Ridge)</a:t>
            </a:r>
            <a:endParaRPr lang="ru-RU" dirty="0"/>
          </a:p>
          <a:p>
            <a:pPr marL="285750" indent="-28575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Удаление строк с пропущенными значениями</a:t>
            </a:r>
          </a:p>
          <a:p>
            <a:pPr marL="285750" indent="-28575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Использование алгоритмов, устойчивых к пропускам (например, градиентный бустинг)</a:t>
            </a:r>
          </a:p>
        </p:txBody>
      </p:sp>
    </p:spTree>
    <p:extLst>
      <p:ext uri="{BB962C8B-B14F-4D97-AF65-F5344CB8AC3E}">
        <p14:creationId xmlns:p14="http://schemas.microsoft.com/office/powerpoint/2010/main" val="3564321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Заголовок 2">
                <a:extLst>
                  <a:ext uri="{FF2B5EF4-FFF2-40B4-BE49-F238E27FC236}">
                    <a16:creationId xmlns:a16="http://schemas.microsoft.com/office/drawing/2014/main" id="{BC980298-0D42-302C-B07A-C50AC56E359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097280" y="286603"/>
                <a:ext cx="10058400" cy="1450757"/>
              </a:xfrm>
            </p:spPr>
            <p:txBody>
              <a:bodyPr anchor="b">
                <a:normAutofit/>
              </a:bodyPr>
              <a:lstStyle/>
              <a:p>
                <a:r>
                  <a:rPr lang="ru-RU" dirty="0"/>
                  <a:t>Правило 3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Заголовок 2">
                <a:extLst>
                  <a:ext uri="{FF2B5EF4-FFF2-40B4-BE49-F238E27FC236}">
                    <a16:creationId xmlns:a16="http://schemas.microsoft.com/office/drawing/2014/main" id="{BC980298-0D42-302C-B07A-C50AC56E35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097280" y="286603"/>
                <a:ext cx="10058400" cy="1450757"/>
              </a:xfrm>
              <a:blipFill>
                <a:blip r:embed="rId2"/>
                <a:stretch>
                  <a:fillRect l="-2727" b="-222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2" name="Picture 8" descr="Описательная статистика (Descriptive statistics)">
            <a:extLst>
              <a:ext uri="{FF2B5EF4-FFF2-40B4-BE49-F238E27FC236}">
                <a16:creationId xmlns:a16="http://schemas.microsoft.com/office/drawing/2014/main" id="{6803CEF7-16B9-BB28-3D71-E1FD0902296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65589" y="2108201"/>
            <a:ext cx="7521782" cy="3760891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957981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4DBDC6-E320-29CD-8446-AA16C1752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ru-RU" dirty="0"/>
              <a:t>Метод </a:t>
            </a:r>
            <a:r>
              <a:rPr lang="en-GB" dirty="0"/>
              <a:t>IQR</a:t>
            </a:r>
            <a:endParaRPr lang="ru-RU" dirty="0"/>
          </a:p>
        </p:txBody>
      </p:sp>
      <p:pic>
        <p:nvPicPr>
          <p:cNvPr id="2050" name="Picture 2" descr="Quartiles and Box Plots - Data Science Discovery">
            <a:extLst>
              <a:ext uri="{FF2B5EF4-FFF2-40B4-BE49-F238E27FC236}">
                <a16:creationId xmlns:a16="http://schemas.microsoft.com/office/drawing/2014/main" id="{17B03AFD-2867-B5B0-CEAF-D496EEEBC3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27600" y="2108201"/>
            <a:ext cx="7597760" cy="3760891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044616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733603"/>
                <a:ext cx="10058400" cy="4993768"/>
              </a:xfrm>
            </p:spPr>
            <p:txBody>
              <a:bodyPr/>
              <a:lstStyle/>
              <a:p>
                <a:r>
                  <a:rPr lang="ru-RU" sz="1800" dirty="0"/>
                  <a:t>Стандартизация (z-нормализация): среднее 0, дисперсия 1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sz="1800" dirty="0"/>
                  <a:t>Min-max нормализация на заданный диапазон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  <a:p>
                <a:r>
                  <a:rPr lang="en-US" dirty="0"/>
                  <a:t>Max-abs </a:t>
                </a:r>
                <a:r>
                  <a:rPr lang="ru-RU" dirty="0"/>
                  <a:t>нормализация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733603"/>
                <a:ext cx="10058400" cy="4993768"/>
              </a:xfrm>
              <a:blipFill>
                <a:blip r:embed="rId2"/>
                <a:stretch>
                  <a:fillRect l="-606" t="-61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НОРМАЛИЗАЦИЯ И ЦЕНТРИРОВАНИЕ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918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362F16E-E3E0-4C8A-9950-4F6C5F1EE0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2108200"/>
                <a:ext cx="10058400" cy="4480560"/>
              </a:xfrm>
            </p:spPr>
            <p:txBody>
              <a:bodyPr>
                <a:normAutofit/>
              </a:bodyPr>
              <a:lstStyle/>
              <a:p>
                <a:r>
                  <a:rPr lang="ru-RU" dirty="0"/>
                  <a:t>Корреляция – степень статистической </a:t>
                </a:r>
                <a:r>
                  <a:rPr lang="ru-RU" b="1" dirty="0"/>
                  <a:t>линейной</a:t>
                </a:r>
                <a:r>
                  <a:rPr lang="ru-RU" dirty="0"/>
                  <a:t> </a:t>
                </a:r>
                <a:br>
                  <a:rPr lang="ru-RU" dirty="0"/>
                </a:br>
                <a:r>
                  <a:rPr lang="ru-RU" dirty="0"/>
                  <a:t>зависимости между двумя величинами</a:t>
                </a:r>
              </a:p>
              <a:p>
                <a:r>
                  <a:rPr lang="ru-RU" dirty="0"/>
                  <a:t>Ковариация (второй смешанный центральный момент):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endParaRPr lang="ru-RU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𝑋𝑌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e>
                    </m:rad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𝑐𝑜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𝑋𝑌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e>
                            </m:d>
                          </m:e>
                        </m:nary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nary>
                              <m:naryPr>
                                <m:chr m:val="∑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nary>
                              <m:naryPr>
                                <m:chr m:val="∑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e>
                        </m:rad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362F16E-E3E0-4C8A-9950-4F6C5F1EE0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2108200"/>
                <a:ext cx="10058400" cy="4480560"/>
              </a:xfrm>
              <a:blipFill>
                <a:blip r:embed="rId3"/>
                <a:stretch>
                  <a:fillRect l="-1515" t="-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23AB9FF-E981-40A0-8A4F-A792039EB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Корреляционный анализ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A04FEF-495E-40D3-A9C9-EB8B5BBCCA7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763" t="37428" r="29211" b="16724"/>
          <a:stretch/>
        </p:blipFill>
        <p:spPr>
          <a:xfrm>
            <a:off x="6896728" y="2600618"/>
            <a:ext cx="4476666" cy="349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8986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УТЕЧКА ДАННЫХ (DATA LEAKAGE)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C3B106-C1E1-45EA-BF3B-6B741ECD68B0}"/>
              </a:ext>
            </a:extLst>
          </p:cNvPr>
          <p:cNvSpPr txBox="1"/>
          <p:nvPr/>
        </p:nvSpPr>
        <p:spPr>
          <a:xfrm>
            <a:off x="1097280" y="1625601"/>
            <a:ext cx="10470605" cy="515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Утечка — попадание информации из тестовой выборки в обучение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Пример: среднее для нормализации посчитано по всему датасету — модель «подсмотрела» в тест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Правило: параметры преобразований вычисляются на обучающей выборке и применяются к обеим</a:t>
            </a:r>
          </a:p>
          <a:p>
            <a:pPr marL="742950" indent="0"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2200" dirty="0">
                <a:latin typeface="Cambria Math"/>
                <a:cs typeface="Cambria Math"/>
              </a:rPr>
              <a:t>scaler.fit(X_train)  →  scaler.transform(X_train),  scaler.transform(X_test)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Типичное разбиение: 70–80 % — обучение, 20–30 % — тест; для подбора настроек модели — ещё валидационная выборка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Утечка и через признак, известный только после события (дата продажи при прогнозе цены)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1800" i="1" dirty="0">
                <a:solidFill>
                  <a:srgbClr val="404040"/>
                </a:solidFill>
              </a:rPr>
              <a:t>Следствие утечки — завышенная оценка качества, которая не подтверждается на новых данных</a:t>
            </a:r>
          </a:p>
        </p:txBody>
      </p:sp>
    </p:spTree>
    <p:extLst>
      <p:ext uri="{BB962C8B-B14F-4D97-AF65-F5344CB8AC3E}">
        <p14:creationId xmlns:p14="http://schemas.microsoft.com/office/powerpoint/2010/main" val="3564321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ПРОФИЛИРОВАНИЕ И ФОРМИРОВАНИЕ ОТЧЕТА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CDA559-F427-465B-A455-BCBDB656F957}"/>
              </a:ext>
            </a:extLst>
          </p:cNvPr>
          <p:cNvSpPr txBox="1"/>
          <p:nvPr/>
        </p:nvSpPr>
        <p:spPr>
          <a:xfrm>
            <a:off x="1097280" y="1625601"/>
            <a:ext cx="10470605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/>
              <a:t>Описание преобразований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Ошибки в преобразованиях и их причины</a:t>
            </a:r>
            <a:endParaRPr lang="en-US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/>
              <a:t>Описание признаков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Тип данных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Диапазон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Сводная статистика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Описание выходного признака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Диапазон и сводная статистика для регрессии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Распределение по классам для классификации (проверка на дисбаланс)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Понижение размерности и визуализация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TSNE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PCA</a:t>
            </a:r>
            <a:endParaRPr lang="ru-RU" sz="1600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3588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328855-FF22-47C4-A7B1-ED1B7566A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679944"/>
            <a:ext cx="10058400" cy="4624603"/>
          </a:xfrm>
        </p:spPr>
        <p:txBody>
          <a:bodyPr>
            <a:normAutofit/>
          </a:bodyPr>
          <a:lstStyle/>
          <a:p>
            <a:endParaRPr lang="en-US" sz="1400" b="1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606A71-C08C-4357-B263-7121F3CAC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Вопросы, встречающиеся на собеседованиях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0CEAC0-5EB7-4615-B688-EAB4BAF058C3}"/>
              </a:ext>
            </a:extLst>
          </p:cNvPr>
          <p:cNvSpPr txBox="1"/>
          <p:nvPr/>
        </p:nvSpPr>
        <p:spPr>
          <a:xfrm>
            <a:off x="1097280" y="1790891"/>
            <a:ext cx="1047060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Почему предобработка данных важна для их дальнейшего анализа?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Опишите основные этапы предварительной обработки </a:t>
            </a:r>
            <a:r>
              <a:rPr lang="ru-RU" dirty="0" err="1"/>
              <a:t>датасета</a:t>
            </a:r>
            <a:r>
              <a:rPr lang="ru-RU" dirty="0"/>
              <a:t>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Как работать с наборами данных для бинарной классификации, в которых выходное значение не сбалансировано?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Для чего необходима нормализация и центрирование данных?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Можно ли пропущенные значения в </a:t>
            </a:r>
            <a:r>
              <a:rPr lang="ru-RU" dirty="0" err="1"/>
              <a:t>датасете</a:t>
            </a:r>
            <a:r>
              <a:rPr lang="ru-RU" dirty="0"/>
              <a:t> заменить средним арифметическим?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Как работать с пропущенными значениями в </a:t>
            </a:r>
            <a:r>
              <a:rPr lang="ru-RU" dirty="0" err="1"/>
              <a:t>датасете</a:t>
            </a:r>
            <a:r>
              <a:rPr lang="ru-RU" dirty="0"/>
              <a:t>?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Для чего используется корреляционный анализ?</a:t>
            </a:r>
          </a:p>
        </p:txBody>
      </p:sp>
    </p:spTree>
    <p:extLst>
      <p:ext uri="{BB962C8B-B14F-4D97-AF65-F5344CB8AC3E}">
        <p14:creationId xmlns:p14="http://schemas.microsoft.com/office/powerpoint/2010/main" val="27865108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B00C7-0803-8A43-A9F3-6FF24BDCB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ПОИСК ХАРАКТЕРА ПРЕДПОЛАГАЕМОЙ ЗАВИСИМОСТИ В ДАННЫХ. </a:t>
            </a:r>
            <a:br>
              <a:rPr lang="ru-RU" sz="3200" dirty="0"/>
            </a:br>
            <a:r>
              <a:rPr lang="ru-RU" sz="3200" dirty="0"/>
              <a:t>РЕГРЕССИОННЫЙ АНАЛИЗ</a:t>
            </a:r>
            <a:endParaRPr lang="en-US" sz="3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89A574-F452-49EE-9B41-B6208C501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0887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9D462-81A4-9EE0-38F7-CA5FDCCB2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58098-AF53-3027-EB4F-D4CE14D41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Понятие машинного обучения</a:t>
            </a:r>
            <a:br>
              <a:rPr lang="ru-RU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F0AAF60-DE48-472D-DEAA-F839F7D4DE7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91544" y="1412777"/>
          <a:ext cx="8060704" cy="4718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61E50AE-7C79-47DA-6E4F-CA9EF46B80EC}"/>
              </a:ext>
            </a:extLst>
          </p:cNvPr>
          <p:cNvSpPr txBox="1"/>
          <p:nvPr/>
        </p:nvSpPr>
        <p:spPr>
          <a:xfrm>
            <a:off x="2003000" y="4077072"/>
            <a:ext cx="2524473" cy="92768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/>
              <a:t>Задачи:</a:t>
            </a:r>
          </a:p>
          <a:p>
            <a:pPr marL="285750" indent="-285750">
              <a:buFontTx/>
              <a:buChar char="-"/>
            </a:pPr>
            <a:r>
              <a:rPr lang="ru-RU" dirty="0"/>
              <a:t>Регрессии</a:t>
            </a:r>
          </a:p>
          <a:p>
            <a:pPr marL="285750" indent="-285750">
              <a:buFontTx/>
              <a:buChar char="-"/>
            </a:pPr>
            <a:r>
              <a:rPr lang="ru-RU" dirty="0"/>
              <a:t>Классификации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1849ED-D30D-DD88-2ED1-7899EFB46190}"/>
              </a:ext>
            </a:extLst>
          </p:cNvPr>
          <p:cNvSpPr txBox="1"/>
          <p:nvPr/>
        </p:nvSpPr>
        <p:spPr>
          <a:xfrm>
            <a:off x="4833764" y="4077073"/>
            <a:ext cx="2304256" cy="64633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/>
              <a:t>Задачи:</a:t>
            </a:r>
          </a:p>
          <a:p>
            <a:pPr marL="285750" indent="-285750">
              <a:buFontTx/>
              <a:buChar char="-"/>
            </a:pPr>
            <a:r>
              <a:rPr lang="ru-RU" dirty="0"/>
              <a:t>Кластеризации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0FCDA7-AA91-AEEE-DD6B-7DE47C33E13C}"/>
              </a:ext>
            </a:extLst>
          </p:cNvPr>
          <p:cNvSpPr txBox="1"/>
          <p:nvPr/>
        </p:nvSpPr>
        <p:spPr>
          <a:xfrm>
            <a:off x="7664527" y="4027308"/>
            <a:ext cx="2839921" cy="120032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ru-RU" dirty="0"/>
              <a:t>Обучение с подкреплением</a:t>
            </a:r>
          </a:p>
          <a:p>
            <a:pPr marL="285750" indent="-285750">
              <a:buFontTx/>
              <a:buChar char="-"/>
            </a:pPr>
            <a:r>
              <a:rPr lang="ru-RU" dirty="0"/>
              <a:t>Рекомендательные системы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47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>
            <a:graphicFrameLocks/>
          </p:cNvGraphicFramePr>
          <p:nvPr/>
        </p:nvGraphicFramePr>
        <p:xfrm>
          <a:off x="5303912" y="764705"/>
          <a:ext cx="4742656" cy="3021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495600" y="744999"/>
          <a:ext cx="1944216" cy="51125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4705">
                  <a:extLst>
                    <a:ext uri="{9D8B030D-6E8A-4147-A177-3AD203B41FA5}">
                      <a16:colId xmlns:a16="http://schemas.microsoft.com/office/drawing/2014/main" val="2858770103"/>
                    </a:ext>
                  </a:extLst>
                </a:gridCol>
                <a:gridCol w="889511">
                  <a:extLst>
                    <a:ext uri="{9D8B030D-6E8A-4147-A177-3AD203B41FA5}">
                      <a16:colId xmlns:a16="http://schemas.microsoft.com/office/drawing/2014/main" val="740703912"/>
                    </a:ext>
                  </a:extLst>
                </a:gridCol>
              </a:tblGrid>
              <a:tr h="170419"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u="none" strike="noStrike" dirty="0">
                          <a:effectLst/>
                        </a:rPr>
                        <a:t>Площадь (м2)</a:t>
                      </a:r>
                      <a:endParaRPr lang="ru-RU" sz="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u="none" strike="noStrike">
                          <a:effectLst/>
                        </a:rPr>
                        <a:t>Цена (</a:t>
                      </a:r>
                      <a:r>
                        <a:rPr lang="en-US" sz="800" u="none" strike="noStrike">
                          <a:effectLst/>
                        </a:rPr>
                        <a:t>BYN)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extLst>
                  <a:ext uri="{0D108BD9-81ED-4DB2-BD59-A6C34878D82A}">
                    <a16:rowId xmlns:a16="http://schemas.microsoft.com/office/drawing/2014/main" val="3263307954"/>
                  </a:ext>
                </a:extLst>
              </a:tr>
              <a:tr h="1704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42.9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137591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extLst>
                  <a:ext uri="{0D108BD9-81ED-4DB2-BD59-A6C34878D82A}">
                    <a16:rowId xmlns:a16="http://schemas.microsoft.com/office/drawing/2014/main" val="2470628720"/>
                  </a:ext>
                </a:extLst>
              </a:tr>
              <a:tr h="1704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68.2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155504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extLst>
                  <a:ext uri="{0D108BD9-81ED-4DB2-BD59-A6C34878D82A}">
                    <a16:rowId xmlns:a16="http://schemas.microsoft.com/office/drawing/2014/main" val="2206819569"/>
                  </a:ext>
                </a:extLst>
              </a:tr>
              <a:tr h="1704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74.1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332660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extLst>
                  <a:ext uri="{0D108BD9-81ED-4DB2-BD59-A6C34878D82A}">
                    <a16:rowId xmlns:a16="http://schemas.microsoft.com/office/drawing/2014/main" val="278205934"/>
                  </a:ext>
                </a:extLst>
              </a:tr>
              <a:tr h="1704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73.5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196840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extLst>
                  <a:ext uri="{0D108BD9-81ED-4DB2-BD59-A6C34878D82A}">
                    <a16:rowId xmlns:a16="http://schemas.microsoft.com/office/drawing/2014/main" val="2260113238"/>
                  </a:ext>
                </a:extLst>
              </a:tr>
              <a:tr h="1704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94.8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275576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extLst>
                  <a:ext uri="{0D108BD9-81ED-4DB2-BD59-A6C34878D82A}">
                    <a16:rowId xmlns:a16="http://schemas.microsoft.com/office/drawing/2014/main" val="1965515068"/>
                  </a:ext>
                </a:extLst>
              </a:tr>
              <a:tr h="1704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163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246050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extLst>
                  <a:ext uri="{0D108BD9-81ED-4DB2-BD59-A6C34878D82A}">
                    <a16:rowId xmlns:a16="http://schemas.microsoft.com/office/drawing/2014/main" val="3443012435"/>
                  </a:ext>
                </a:extLst>
              </a:tr>
              <a:tr h="1704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63.2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121057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extLst>
                  <a:ext uri="{0D108BD9-81ED-4DB2-BD59-A6C34878D82A}">
                    <a16:rowId xmlns:a16="http://schemas.microsoft.com/office/drawing/2014/main" val="2943392928"/>
                  </a:ext>
                </a:extLst>
              </a:tr>
              <a:tr h="1704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48.7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95271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extLst>
                  <a:ext uri="{0D108BD9-81ED-4DB2-BD59-A6C34878D82A}">
                    <a16:rowId xmlns:a16="http://schemas.microsoft.com/office/drawing/2014/main" val="3503091553"/>
                  </a:ext>
                </a:extLst>
              </a:tr>
              <a:tr h="1704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61.4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107278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extLst>
                  <a:ext uri="{0D108BD9-81ED-4DB2-BD59-A6C34878D82A}">
                    <a16:rowId xmlns:a16="http://schemas.microsoft.com/office/drawing/2014/main" val="1058495757"/>
                  </a:ext>
                </a:extLst>
              </a:tr>
              <a:tr h="1704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75.5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173022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extLst>
                  <a:ext uri="{0D108BD9-81ED-4DB2-BD59-A6C34878D82A}">
                    <a16:rowId xmlns:a16="http://schemas.microsoft.com/office/drawing/2014/main" val="1634403583"/>
                  </a:ext>
                </a:extLst>
              </a:tr>
              <a:tr h="1704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61.9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168298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extLst>
                  <a:ext uri="{0D108BD9-81ED-4DB2-BD59-A6C34878D82A}">
                    <a16:rowId xmlns:a16="http://schemas.microsoft.com/office/drawing/2014/main" val="1347265067"/>
                  </a:ext>
                </a:extLst>
              </a:tr>
              <a:tr h="1704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58.2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98223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extLst>
                  <a:ext uri="{0D108BD9-81ED-4DB2-BD59-A6C34878D82A}">
                    <a16:rowId xmlns:a16="http://schemas.microsoft.com/office/drawing/2014/main" val="1626647127"/>
                  </a:ext>
                </a:extLst>
              </a:tr>
              <a:tr h="1704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75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122041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extLst>
                  <a:ext uri="{0D108BD9-81ED-4DB2-BD59-A6C34878D82A}">
                    <a16:rowId xmlns:a16="http://schemas.microsoft.com/office/drawing/2014/main" val="3660985842"/>
                  </a:ext>
                </a:extLst>
              </a:tr>
              <a:tr h="1704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41.2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112337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extLst>
                  <a:ext uri="{0D108BD9-81ED-4DB2-BD59-A6C34878D82A}">
                    <a16:rowId xmlns:a16="http://schemas.microsoft.com/office/drawing/2014/main" val="2908915290"/>
                  </a:ext>
                </a:extLst>
              </a:tr>
              <a:tr h="1704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179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285418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extLst>
                  <a:ext uri="{0D108BD9-81ED-4DB2-BD59-A6C34878D82A}">
                    <a16:rowId xmlns:a16="http://schemas.microsoft.com/office/drawing/2014/main" val="379213422"/>
                  </a:ext>
                </a:extLst>
              </a:tr>
              <a:tr h="1704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83.3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344470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extLst>
                  <a:ext uri="{0D108BD9-81ED-4DB2-BD59-A6C34878D82A}">
                    <a16:rowId xmlns:a16="http://schemas.microsoft.com/office/drawing/2014/main" val="3529833122"/>
                  </a:ext>
                </a:extLst>
              </a:tr>
              <a:tr h="1704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99.6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222429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extLst>
                  <a:ext uri="{0D108BD9-81ED-4DB2-BD59-A6C34878D82A}">
                    <a16:rowId xmlns:a16="http://schemas.microsoft.com/office/drawing/2014/main" val="2537923765"/>
                  </a:ext>
                </a:extLst>
              </a:tr>
              <a:tr h="1704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144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423206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extLst>
                  <a:ext uri="{0D108BD9-81ED-4DB2-BD59-A6C34878D82A}">
                    <a16:rowId xmlns:a16="http://schemas.microsoft.com/office/drawing/2014/main" val="3064238824"/>
                  </a:ext>
                </a:extLst>
              </a:tr>
              <a:tr h="1704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56.4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152551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extLst>
                  <a:ext uri="{0D108BD9-81ED-4DB2-BD59-A6C34878D82A}">
                    <a16:rowId xmlns:a16="http://schemas.microsoft.com/office/drawing/2014/main" val="1344179159"/>
                  </a:ext>
                </a:extLst>
              </a:tr>
              <a:tr h="1704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59.1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305102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extLst>
                  <a:ext uri="{0D108BD9-81ED-4DB2-BD59-A6C34878D82A}">
                    <a16:rowId xmlns:a16="http://schemas.microsoft.com/office/drawing/2014/main" val="4207362268"/>
                  </a:ext>
                </a:extLst>
              </a:tr>
              <a:tr h="1704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250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332660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extLst>
                  <a:ext uri="{0D108BD9-81ED-4DB2-BD59-A6C34878D82A}">
                    <a16:rowId xmlns:a16="http://schemas.microsoft.com/office/drawing/2014/main" val="4133753557"/>
                  </a:ext>
                </a:extLst>
              </a:tr>
              <a:tr h="1704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251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840507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extLst>
                  <a:ext uri="{0D108BD9-81ED-4DB2-BD59-A6C34878D82A}">
                    <a16:rowId xmlns:a16="http://schemas.microsoft.com/office/drawing/2014/main" val="2459547227"/>
                  </a:ext>
                </a:extLst>
              </a:tr>
              <a:tr h="1704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42.1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86177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extLst>
                  <a:ext uri="{0D108BD9-81ED-4DB2-BD59-A6C34878D82A}">
                    <a16:rowId xmlns:a16="http://schemas.microsoft.com/office/drawing/2014/main" val="1177926467"/>
                  </a:ext>
                </a:extLst>
              </a:tr>
              <a:tr h="1704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240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984200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extLst>
                  <a:ext uri="{0D108BD9-81ED-4DB2-BD59-A6C34878D82A}">
                    <a16:rowId xmlns:a16="http://schemas.microsoft.com/office/drawing/2014/main" val="1224691446"/>
                  </a:ext>
                </a:extLst>
              </a:tr>
              <a:tr h="1704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50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167117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extLst>
                  <a:ext uri="{0D108BD9-81ED-4DB2-BD59-A6C34878D82A}">
                    <a16:rowId xmlns:a16="http://schemas.microsoft.com/office/drawing/2014/main" val="2642178430"/>
                  </a:ext>
                </a:extLst>
              </a:tr>
              <a:tr h="1704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51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122041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extLst>
                  <a:ext uri="{0D108BD9-81ED-4DB2-BD59-A6C34878D82A}">
                    <a16:rowId xmlns:a16="http://schemas.microsoft.com/office/drawing/2014/main" val="1771085225"/>
                  </a:ext>
                </a:extLst>
              </a:tr>
              <a:tr h="1704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100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472416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extLst>
                  <a:ext uri="{0D108BD9-81ED-4DB2-BD59-A6C34878D82A}">
                    <a16:rowId xmlns:a16="http://schemas.microsoft.com/office/drawing/2014/main" val="3406430705"/>
                  </a:ext>
                </a:extLst>
              </a:tr>
              <a:tr h="1704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67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234240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extLst>
                  <a:ext uri="{0D108BD9-81ED-4DB2-BD59-A6C34878D82A}">
                    <a16:rowId xmlns:a16="http://schemas.microsoft.com/office/drawing/2014/main" val="2477391953"/>
                  </a:ext>
                </a:extLst>
              </a:tr>
              <a:tr h="1704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41.3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74799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97" marR="7297" marT="7297" marB="0" anchor="b"/>
                </a:tc>
                <a:extLst>
                  <a:ext uri="{0D108BD9-81ED-4DB2-BD59-A6C34878D82A}">
                    <a16:rowId xmlns:a16="http://schemas.microsoft.com/office/drawing/2014/main" val="2922172349"/>
                  </a:ext>
                </a:extLst>
              </a:tr>
            </a:tbl>
          </a:graphicData>
        </a:graphic>
      </p:graphicFrame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5303912" y="4365105"/>
            <a:ext cx="4297288" cy="1765821"/>
          </a:xfrm>
        </p:spPr>
        <p:txBody>
          <a:bodyPr/>
          <a:lstStyle/>
          <a:p>
            <a:r>
              <a:rPr lang="ru-RU" dirty="0"/>
              <a:t>Обучение с учителем</a:t>
            </a:r>
          </a:p>
          <a:p>
            <a:r>
              <a:rPr lang="ru-RU" dirty="0"/>
              <a:t>Случай регрессии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5010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533400"/>
            <a:ext cx="6934200" cy="879376"/>
          </a:xfrm>
        </p:spPr>
        <p:txBody>
          <a:bodyPr/>
          <a:lstStyle/>
          <a:p>
            <a:r>
              <a:rPr lang="ru-RU" dirty="0"/>
              <a:t>Обучение с учителем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2024" y="2002720"/>
            <a:ext cx="3744416" cy="3586521"/>
          </a:xfrm>
        </p:spPr>
        <p:txBody>
          <a:bodyPr/>
          <a:lstStyle/>
          <a:p>
            <a:r>
              <a:rPr lang="ru-RU" dirty="0"/>
              <a:t>Функция </a:t>
            </a:r>
            <a:r>
              <a:rPr lang="en-US" dirty="0"/>
              <a:t>h </a:t>
            </a:r>
            <a:r>
              <a:rPr lang="ru-RU" dirty="0"/>
              <a:t>называется гипотезой.</a:t>
            </a:r>
          </a:p>
          <a:p>
            <a:r>
              <a:rPr lang="en-US" dirty="0"/>
              <a:t>h (x) = ax + b</a:t>
            </a:r>
            <a:endParaRPr lang="ru-RU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2667000" y="2276872"/>
            <a:ext cx="2780928" cy="707128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Обучающая выборка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2667000" y="3356992"/>
            <a:ext cx="2780928" cy="64807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Алгоритм обучения</a:t>
            </a:r>
            <a:endParaRPr lang="en-US" dirty="0"/>
          </a:p>
        </p:txBody>
      </p:sp>
      <p:cxnSp>
        <p:nvCxnSpPr>
          <p:cNvPr id="8" name="Straight Arrow Connector 7"/>
          <p:cNvCxnSpPr>
            <a:stCxn id="5" idx="2"/>
            <a:endCxn id="6" idx="0"/>
          </p:cNvCxnSpPr>
          <p:nvPr/>
        </p:nvCxnSpPr>
        <p:spPr>
          <a:xfrm>
            <a:off x="4057464" y="2984000"/>
            <a:ext cx="0" cy="3729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69432" y="4378700"/>
            <a:ext cx="576064" cy="50405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cxnSp>
        <p:nvCxnSpPr>
          <p:cNvPr id="11" name="Straight Arrow Connector 10"/>
          <p:cNvCxnSpPr>
            <a:stCxn id="6" idx="2"/>
            <a:endCxn id="10" idx="0"/>
          </p:cNvCxnSpPr>
          <p:nvPr/>
        </p:nvCxnSpPr>
        <p:spPr>
          <a:xfrm>
            <a:off x="4057464" y="4005064"/>
            <a:ext cx="0" cy="3736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988191" y="4391920"/>
            <a:ext cx="1294171" cy="4776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площадь</a:t>
            </a:r>
            <a:endParaRPr lang="en-US" dirty="0"/>
          </a:p>
        </p:txBody>
      </p:sp>
      <p:sp>
        <p:nvSpPr>
          <p:cNvPr id="16" name="Rounded Rectangle 15"/>
          <p:cNvSpPr/>
          <p:nvPr/>
        </p:nvSpPr>
        <p:spPr>
          <a:xfrm>
            <a:off x="4832566" y="4391919"/>
            <a:ext cx="1218810" cy="4776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цена</a:t>
            </a:r>
            <a:endParaRPr lang="en-US" dirty="0"/>
          </a:p>
        </p:txBody>
      </p:sp>
      <p:cxnSp>
        <p:nvCxnSpPr>
          <p:cNvPr id="18" name="Straight Arrow Connector 17"/>
          <p:cNvCxnSpPr>
            <a:cxnSpLocks/>
            <a:stCxn id="15" idx="3"/>
            <a:endCxn id="10" idx="1"/>
          </p:cNvCxnSpPr>
          <p:nvPr/>
        </p:nvCxnSpPr>
        <p:spPr>
          <a:xfrm flipV="1">
            <a:off x="3282362" y="4630728"/>
            <a:ext cx="48707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0" idx="3"/>
            <a:endCxn id="16" idx="1"/>
          </p:cNvCxnSpPr>
          <p:nvPr/>
        </p:nvCxnSpPr>
        <p:spPr>
          <a:xfrm flipV="1">
            <a:off x="4345496" y="4630728"/>
            <a:ext cx="48707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Chart 21"/>
          <p:cNvGraphicFramePr>
            <a:graphicFrameLocks/>
          </p:cNvGraphicFramePr>
          <p:nvPr/>
        </p:nvGraphicFramePr>
        <p:xfrm>
          <a:off x="6330280" y="3431456"/>
          <a:ext cx="3726160" cy="30700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730721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533400"/>
            <a:ext cx="6934200" cy="681658"/>
          </a:xfrm>
        </p:spPr>
        <p:txBody>
          <a:bodyPr>
            <a:normAutofit fontScale="90000"/>
          </a:bodyPr>
          <a:lstStyle/>
          <a:p>
            <a:r>
              <a:rPr lang="ru-RU" dirty="0"/>
              <a:t>Линейная регрессия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435680" y="1412777"/>
                <a:ext cx="4849596" cy="4378325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ru-RU" dirty="0"/>
                  <a:t>Подбор коэффициентов = Задача минимизации разницы между </a:t>
                </a:r>
                <a:r>
                  <a:rPr lang="en-US" dirty="0"/>
                  <a:t>h(x) </a:t>
                </a:r>
                <a:r>
                  <a:rPr lang="ru-RU" dirty="0"/>
                  <a:t>и </a:t>
                </a:r>
                <a:r>
                  <a:rPr lang="en-US" dirty="0"/>
                  <a:t>y.</a:t>
                </a:r>
                <a:endParaRPr lang="ru-RU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ℎ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ru-RU" dirty="0"/>
              </a:p>
              <a:p>
                <a:r>
                  <a:rPr lang="ru-RU" dirty="0"/>
                  <a:t>Проблема: найти значения </a:t>
                </a:r>
                <a:r>
                  <a:rPr lang="en-US" dirty="0"/>
                  <a:t>a </a:t>
                </a:r>
                <a:r>
                  <a:rPr lang="ru-RU" dirty="0"/>
                  <a:t>и </a:t>
                </a:r>
                <a:r>
                  <a:rPr lang="en-US" dirty="0"/>
                  <a:t>b</a:t>
                </a:r>
                <a:r>
                  <a:rPr lang="ru-RU" dirty="0"/>
                  <a:t>, при которых будет минимальным средний квадрат разницы между реальным и ожидаемым значениями.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J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ℎ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/>
                  <a:t> - </a:t>
                </a:r>
                <a:r>
                  <a:rPr lang="ru-RU" dirty="0"/>
                  <a:t>функция стоимости</a:t>
                </a:r>
              </a:p>
              <a:p>
                <a:r>
                  <a:rPr lang="ru-RU" dirty="0"/>
                  <a:t>Проблема: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/>
              </a:p>
              <a:p>
                <a:r>
                  <a:rPr lang="ru-RU" dirty="0"/>
                  <a:t>Половина среднеквадратичной ошибки (½ — для удобства дифференцирования)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35680" y="1412777"/>
                <a:ext cx="4849596" cy="4378325"/>
              </a:xfrm>
              <a:blipFill>
                <a:blip r:embed="rId3"/>
                <a:stretch>
                  <a:fillRect l="-2767" t="-1114" r="-11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ontent Placeholder 3"/>
          <p:cNvGraphicFramePr>
            <a:graphicFrameLocks/>
          </p:cNvGraphicFramePr>
          <p:nvPr/>
        </p:nvGraphicFramePr>
        <p:xfrm>
          <a:off x="2160284" y="2001738"/>
          <a:ext cx="2578100" cy="1314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2700">
                  <a:extLst>
                    <a:ext uri="{9D8B030D-6E8A-4147-A177-3AD203B41FA5}">
                      <a16:colId xmlns:a16="http://schemas.microsoft.com/office/drawing/2014/main" val="162388246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65376218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>
                          <a:effectLst/>
                        </a:rPr>
                        <a:t>Площадь (м2)</a:t>
                      </a:r>
                      <a:endParaRPr lang="ru-RU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 dirty="0">
                          <a:effectLst/>
                        </a:rPr>
                        <a:t>Цена (</a:t>
                      </a:r>
                      <a:r>
                        <a:rPr lang="en-US" sz="1100" u="none" strike="noStrike" dirty="0">
                          <a:effectLst/>
                        </a:rPr>
                        <a:t>BYN)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941398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42.9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137591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149537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68.2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155504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240302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74.1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332660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624183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73.5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196840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4221261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…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 dirty="0">
                          <a:effectLst/>
                        </a:rPr>
                        <a:t>…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8857714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163032" y="1313953"/>
            <a:ext cx="2420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Набор обучающих данных</a:t>
            </a:r>
            <a:r>
              <a:rPr lang="en-US" dirty="0"/>
              <a:t> (x, y)</a:t>
            </a:r>
            <a:r>
              <a:rPr lang="ru-RU" dirty="0"/>
              <a:t>: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603320" y="3374484"/>
            <a:ext cx="16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Гипотеза: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603321" y="3743816"/>
            <a:ext cx="18806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 (x) = ax + b</a:t>
            </a:r>
            <a:endParaRPr lang="ru-RU" dirty="0"/>
          </a:p>
        </p:txBody>
      </p:sp>
      <p:graphicFrame>
        <p:nvGraphicFramePr>
          <p:cNvPr id="9" name="Chart 8"/>
          <p:cNvGraphicFramePr>
            <a:graphicFrameLocks/>
          </p:cNvGraphicFramePr>
          <p:nvPr/>
        </p:nvGraphicFramePr>
        <p:xfrm>
          <a:off x="2017552" y="4168832"/>
          <a:ext cx="3418128" cy="21658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11" name="Straight Connector 10"/>
          <p:cNvCxnSpPr/>
          <p:nvPr/>
        </p:nvCxnSpPr>
        <p:spPr>
          <a:xfrm flipV="1">
            <a:off x="2855640" y="4653136"/>
            <a:ext cx="2160240" cy="1224136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2927648" y="4805536"/>
            <a:ext cx="2240632" cy="1071736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2898480" y="4538165"/>
            <a:ext cx="1685440" cy="1252937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2999656" y="5251740"/>
            <a:ext cx="2168624" cy="654335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2927648" y="4965792"/>
            <a:ext cx="2240632" cy="880994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2927648" y="4538165"/>
            <a:ext cx="1923672" cy="1252937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94468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533400"/>
            <a:ext cx="3356992" cy="807368"/>
          </a:xfrm>
        </p:spPr>
        <p:txBody>
          <a:bodyPr/>
          <a:lstStyle/>
          <a:p>
            <a:pPr algn="ctr"/>
            <a:r>
              <a:rPr lang="en-US" dirty="0"/>
              <a:t>h(x)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3552" y="1322504"/>
            <a:ext cx="4070548" cy="812304"/>
          </a:xfrm>
        </p:spPr>
        <p:txBody>
          <a:bodyPr/>
          <a:lstStyle/>
          <a:p>
            <a:r>
              <a:rPr lang="ru-RU" dirty="0"/>
              <a:t>Зависит от входных данных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6023992" y="533400"/>
            <a:ext cx="3356992" cy="807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9pPr>
          </a:lstStyle>
          <a:p>
            <a:pPr algn="ctr"/>
            <a:r>
              <a:rPr lang="en-US" kern="0" dirty="0"/>
              <a:t>J(</a:t>
            </a:r>
            <a:r>
              <a:rPr lang="en-US" kern="0" dirty="0" err="1"/>
              <a:t>a,b</a:t>
            </a:r>
            <a:r>
              <a:rPr lang="en-US" kern="0" dirty="0"/>
              <a:t>)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134100" y="533400"/>
            <a:ext cx="0" cy="57759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6131820" y="1340768"/>
            <a:ext cx="4070548" cy="812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Palatino Linotype" pitchFamily="18" charset="0"/>
              <a:buChar char="−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Palatino Linotype" pitchFamily="18" charset="0"/>
              <a:buChar char="−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ru-RU" kern="0" dirty="0"/>
              <a:t>Зависит от коэффициентов</a:t>
            </a:r>
            <a:endParaRPr lang="en-US" kern="0" dirty="0"/>
          </a:p>
        </p:txBody>
      </p:sp>
      <p:sp>
        <p:nvSpPr>
          <p:cNvPr id="12" name="Rectangle 11"/>
          <p:cNvSpPr/>
          <p:nvPr/>
        </p:nvSpPr>
        <p:spPr>
          <a:xfrm>
            <a:off x="2618039" y="2951008"/>
            <a:ext cx="320151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h (x) = ax + b</a:t>
            </a:r>
            <a:endParaRPr lang="ru-RU" sz="3200" dirty="0"/>
          </a:p>
        </p:txBody>
      </p:sp>
      <p:sp>
        <p:nvSpPr>
          <p:cNvPr id="13" name="TextBox 12"/>
          <p:cNvSpPr txBox="1"/>
          <p:nvPr/>
        </p:nvSpPr>
        <p:spPr>
          <a:xfrm>
            <a:off x="6528048" y="3933056"/>
            <a:ext cx="36743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Рассмотрим несколько случаев, когда </a:t>
            </a:r>
            <a:r>
              <a:rPr lang="en-US" dirty="0"/>
              <a:t>b=0, </a:t>
            </a:r>
            <a:r>
              <a:rPr lang="ru-RU" dirty="0"/>
              <a:t>то есть </a:t>
            </a:r>
            <a:r>
              <a:rPr lang="en-US" dirty="0"/>
              <a:t>h(x) </a:t>
            </a:r>
            <a:r>
              <a:rPr lang="ru-RU" dirty="0"/>
              <a:t>проходит через начало координат и </a:t>
            </a:r>
            <a:r>
              <a:rPr lang="en-US" dirty="0"/>
              <a:t>J </a:t>
            </a:r>
            <a:r>
              <a:rPr lang="ru-RU" dirty="0"/>
              <a:t>зависит только от </a:t>
            </a:r>
            <a:r>
              <a:rPr lang="en-US" dirty="0"/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6131820" y="2693115"/>
                <a:ext cx="4088748" cy="11005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400" i="1">
                          <a:latin typeface="Cambria Math" panose="02040503050406030204" pitchFamily="18" charset="0"/>
                        </a:rPr>
                        <m:t>J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820" y="2693115"/>
                <a:ext cx="4088748" cy="11005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02151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533400"/>
            <a:ext cx="3356992" cy="807368"/>
          </a:xfrm>
        </p:spPr>
        <p:txBody>
          <a:bodyPr/>
          <a:lstStyle/>
          <a:p>
            <a:pPr algn="ctr"/>
            <a:r>
              <a:rPr lang="en-US" dirty="0"/>
              <a:t>h(x)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3552" y="1322504"/>
            <a:ext cx="4070548" cy="812304"/>
          </a:xfrm>
        </p:spPr>
        <p:txBody>
          <a:bodyPr/>
          <a:lstStyle/>
          <a:p>
            <a:r>
              <a:rPr lang="ru-RU" dirty="0"/>
              <a:t>Зависит от входных данных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6023992" y="533400"/>
            <a:ext cx="3356992" cy="807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9pPr>
          </a:lstStyle>
          <a:p>
            <a:pPr algn="ctr"/>
            <a:r>
              <a:rPr lang="en-US" kern="0" dirty="0"/>
              <a:t>J(a)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134100" y="533400"/>
            <a:ext cx="0" cy="57759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6131820" y="1340768"/>
            <a:ext cx="4070548" cy="812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Palatino Linotype" pitchFamily="18" charset="0"/>
              <a:buChar char="−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Palatino Linotype" pitchFamily="18" charset="0"/>
              <a:buChar char="−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ru-RU" kern="0" dirty="0"/>
              <a:t>Зависит от коэффициентов</a:t>
            </a:r>
            <a:endParaRPr lang="en-US" kern="0" dirty="0"/>
          </a:p>
        </p:txBody>
      </p:sp>
      <p:graphicFrame>
        <p:nvGraphicFramePr>
          <p:cNvPr id="11" name="Chart 10"/>
          <p:cNvGraphicFramePr>
            <a:graphicFrameLocks/>
          </p:cNvGraphicFramePr>
          <p:nvPr/>
        </p:nvGraphicFramePr>
        <p:xfrm>
          <a:off x="2667000" y="2852936"/>
          <a:ext cx="2664296" cy="1945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7" name="Straight Connector 6"/>
          <p:cNvCxnSpPr/>
          <p:nvPr/>
        </p:nvCxnSpPr>
        <p:spPr>
          <a:xfrm flipV="1">
            <a:off x="3040784" y="2996952"/>
            <a:ext cx="2160240" cy="13681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143672" y="2309206"/>
            <a:ext cx="25314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 (x) = x</a:t>
            </a:r>
            <a:r>
              <a:rPr lang="ru-RU" dirty="0"/>
              <a:t>, </a:t>
            </a:r>
            <a:r>
              <a:rPr lang="en-US" dirty="0"/>
              <a:t>a=1, b=0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439362" y="4939921"/>
                <a:ext cx="3554114" cy="4849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J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ℎ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/>
                  <a:t>= 0</a:t>
                </a: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9362" y="4939921"/>
                <a:ext cx="3554114" cy="484941"/>
              </a:xfrm>
              <a:prstGeom prst="rect">
                <a:avLst/>
              </a:prstGeom>
              <a:blipFill>
                <a:blip r:embed="rId3"/>
                <a:stretch>
                  <a:fillRect l="-343" t="-78750" r="-515" b="-12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Chart 14"/>
          <p:cNvGraphicFramePr>
            <a:graphicFrameLocks/>
          </p:cNvGraphicFramePr>
          <p:nvPr/>
        </p:nvGraphicFramePr>
        <p:xfrm>
          <a:off x="6528049" y="2852936"/>
          <a:ext cx="3384375" cy="1990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7788451" y="4997724"/>
                <a:ext cx="99341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J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= 0</a:t>
                </a: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8451" y="4997724"/>
                <a:ext cx="993413" cy="369332"/>
              </a:xfrm>
              <a:prstGeom prst="rect">
                <a:avLst/>
              </a:prstGeom>
              <a:blipFill>
                <a:blip r:embed="rId5"/>
                <a:stretch>
                  <a:fillRect l="-1227" t="-10000" r="-3681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stCxn id="16" idx="0"/>
          </p:cNvCxnSpPr>
          <p:nvPr/>
        </p:nvCxnSpPr>
        <p:spPr>
          <a:xfrm flipV="1">
            <a:off x="8285157" y="4498428"/>
            <a:ext cx="396388" cy="4992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8554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533400"/>
            <a:ext cx="3356992" cy="807368"/>
          </a:xfrm>
        </p:spPr>
        <p:txBody>
          <a:bodyPr/>
          <a:lstStyle/>
          <a:p>
            <a:pPr algn="ctr"/>
            <a:r>
              <a:rPr lang="en-US" dirty="0"/>
              <a:t>h(x)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3552" y="1322504"/>
            <a:ext cx="4070548" cy="812304"/>
          </a:xfrm>
        </p:spPr>
        <p:txBody>
          <a:bodyPr/>
          <a:lstStyle/>
          <a:p>
            <a:r>
              <a:rPr lang="ru-RU" dirty="0"/>
              <a:t>Зависит от входных данных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6023992" y="533400"/>
            <a:ext cx="3356992" cy="807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9pPr>
          </a:lstStyle>
          <a:p>
            <a:pPr algn="ctr"/>
            <a:r>
              <a:rPr lang="en-US" kern="0" dirty="0"/>
              <a:t>J(a)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134100" y="533400"/>
            <a:ext cx="0" cy="57759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6131820" y="1340768"/>
            <a:ext cx="4070548" cy="812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Palatino Linotype" pitchFamily="18" charset="0"/>
              <a:buChar char="−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Palatino Linotype" pitchFamily="18" charset="0"/>
              <a:buChar char="−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ru-RU" kern="0" dirty="0"/>
              <a:t>Зависит от коэффициентов</a:t>
            </a:r>
            <a:endParaRPr lang="en-US" kern="0" dirty="0"/>
          </a:p>
        </p:txBody>
      </p:sp>
      <p:graphicFrame>
        <p:nvGraphicFramePr>
          <p:cNvPr id="11" name="Chart 10"/>
          <p:cNvGraphicFramePr>
            <a:graphicFrameLocks/>
          </p:cNvGraphicFramePr>
          <p:nvPr/>
        </p:nvGraphicFramePr>
        <p:xfrm>
          <a:off x="2667000" y="2852936"/>
          <a:ext cx="2664296" cy="1945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7" name="Straight Connector 6"/>
          <p:cNvCxnSpPr/>
          <p:nvPr/>
        </p:nvCxnSpPr>
        <p:spPr>
          <a:xfrm flipV="1">
            <a:off x="3040784" y="3717032"/>
            <a:ext cx="2119112" cy="6480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143673" y="2309206"/>
            <a:ext cx="27622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 (x) = 0.5x</a:t>
            </a:r>
            <a:r>
              <a:rPr lang="ru-RU" dirty="0"/>
              <a:t>, </a:t>
            </a:r>
            <a:r>
              <a:rPr lang="en-US" dirty="0"/>
              <a:t>a=0.5, b=0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439362" y="4939920"/>
                <a:ext cx="3406638" cy="8774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J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ℎ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/>
                  <a:t>= </a:t>
                </a:r>
              </a:p>
              <a:p>
                <a:r>
                  <a:rPr lang="en-US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∗3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0.25+1+2.25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≈0.58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9362" y="4939920"/>
                <a:ext cx="3406638" cy="877484"/>
              </a:xfrm>
              <a:prstGeom prst="rect">
                <a:avLst/>
              </a:prstGeom>
              <a:blipFill>
                <a:blip r:embed="rId3"/>
                <a:stretch>
                  <a:fillRect l="-1431" t="-43750" r="-537" b="-27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7688211" y="5171138"/>
                <a:ext cx="1562479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J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= 0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J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0.5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≈ </m:t>
                    </m:r>
                  </m:oMath>
                </a14:m>
                <a:r>
                  <a:rPr lang="en-US" dirty="0"/>
                  <a:t>0.58</a:t>
                </a: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8211" y="5171138"/>
                <a:ext cx="1562479" cy="646331"/>
              </a:xfrm>
              <a:prstGeom prst="rect">
                <a:avLst/>
              </a:prstGeom>
              <a:blipFill>
                <a:blip r:embed="rId4"/>
                <a:stretch>
                  <a:fillRect l="-778" t="-4717" r="-2335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eft Brace 7"/>
          <p:cNvSpPr/>
          <p:nvPr/>
        </p:nvSpPr>
        <p:spPr>
          <a:xfrm>
            <a:off x="3865200" y="3703716"/>
            <a:ext cx="133949" cy="337352"/>
          </a:xfrm>
          <a:prstGeom prst="lef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Left Brace 16"/>
          <p:cNvSpPr/>
          <p:nvPr/>
        </p:nvSpPr>
        <p:spPr>
          <a:xfrm>
            <a:off x="4421611" y="3361652"/>
            <a:ext cx="116280" cy="490678"/>
          </a:xfrm>
          <a:prstGeom prst="lef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Left Brace 17"/>
          <p:cNvSpPr/>
          <p:nvPr/>
        </p:nvSpPr>
        <p:spPr>
          <a:xfrm>
            <a:off x="3372406" y="4027752"/>
            <a:ext cx="98846" cy="193336"/>
          </a:xfrm>
          <a:prstGeom prst="lef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Chart 18"/>
          <p:cNvGraphicFramePr>
            <a:graphicFrameLocks/>
          </p:cNvGraphicFramePr>
          <p:nvPr/>
        </p:nvGraphicFramePr>
        <p:xfrm>
          <a:off x="6358095" y="2757422"/>
          <a:ext cx="3573016" cy="22403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1714666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533400"/>
            <a:ext cx="3356992" cy="807368"/>
          </a:xfrm>
        </p:spPr>
        <p:txBody>
          <a:bodyPr/>
          <a:lstStyle/>
          <a:p>
            <a:pPr algn="ctr"/>
            <a:r>
              <a:rPr lang="en-US" dirty="0"/>
              <a:t>h(x)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3552" y="1322504"/>
            <a:ext cx="4070548" cy="812304"/>
          </a:xfrm>
        </p:spPr>
        <p:txBody>
          <a:bodyPr/>
          <a:lstStyle/>
          <a:p>
            <a:r>
              <a:rPr lang="ru-RU" dirty="0"/>
              <a:t>Зависит от входных данных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6023992" y="533400"/>
            <a:ext cx="3356992" cy="807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Palatino Linotype" pitchFamily="18" charset="0"/>
              </a:defRPr>
            </a:lvl9pPr>
          </a:lstStyle>
          <a:p>
            <a:pPr algn="ctr"/>
            <a:r>
              <a:rPr lang="en-US" kern="0" dirty="0"/>
              <a:t>J(a)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134100" y="533400"/>
            <a:ext cx="0" cy="57759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6131820" y="1340768"/>
            <a:ext cx="4070548" cy="812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Palatino Linotype" pitchFamily="18" charset="0"/>
              <a:buChar char="−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Palatino Linotype" pitchFamily="18" charset="0"/>
              <a:buChar char="−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•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ru-RU" kern="0" dirty="0"/>
              <a:t>Зависит от коэффициентов</a:t>
            </a:r>
            <a:endParaRPr lang="en-US" kern="0" dirty="0"/>
          </a:p>
        </p:txBody>
      </p:sp>
      <p:graphicFrame>
        <p:nvGraphicFramePr>
          <p:cNvPr id="11" name="Chart 10"/>
          <p:cNvGraphicFramePr>
            <a:graphicFrameLocks/>
          </p:cNvGraphicFramePr>
          <p:nvPr/>
        </p:nvGraphicFramePr>
        <p:xfrm>
          <a:off x="2667000" y="2852936"/>
          <a:ext cx="2664296" cy="1945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7" name="Straight Connector 6"/>
          <p:cNvCxnSpPr/>
          <p:nvPr/>
        </p:nvCxnSpPr>
        <p:spPr>
          <a:xfrm flipV="1">
            <a:off x="3143672" y="3717032"/>
            <a:ext cx="2016224" cy="6480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143673" y="2309206"/>
            <a:ext cx="27622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 (x) = 0.5x</a:t>
            </a:r>
            <a:r>
              <a:rPr lang="ru-RU" dirty="0"/>
              <a:t>, </a:t>
            </a:r>
            <a:r>
              <a:rPr lang="en-US" dirty="0"/>
              <a:t>a=0.5, b=0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7111695" y="5378695"/>
                <a:ext cx="2557110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min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J</m:t>
                    </m:r>
                  </m:oMath>
                </a14:m>
                <a:r>
                  <a:rPr lang="en-US" dirty="0"/>
                  <a:t>)= 0  </a:t>
                </a:r>
                <a:r>
                  <a:rPr lang="ru-RU" dirty="0"/>
                  <a:t>при </a:t>
                </a:r>
                <a:r>
                  <a:rPr lang="en-US" dirty="0"/>
                  <a:t>a=1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1695" y="5378695"/>
                <a:ext cx="2557110" cy="646331"/>
              </a:xfrm>
              <a:prstGeom prst="rect">
                <a:avLst/>
              </a:prstGeom>
              <a:blipFill>
                <a:blip r:embed="rId4"/>
                <a:stretch>
                  <a:fillRect l="-2148" t="-4717" r="-1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Chart 19"/>
          <p:cNvGraphicFramePr>
            <a:graphicFrameLocks/>
          </p:cNvGraphicFramePr>
          <p:nvPr/>
        </p:nvGraphicFramePr>
        <p:xfrm>
          <a:off x="6201984" y="2639790"/>
          <a:ext cx="3842985" cy="23715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21" name="Straight Connector 20"/>
          <p:cNvCxnSpPr/>
          <p:nvPr/>
        </p:nvCxnSpPr>
        <p:spPr>
          <a:xfrm flipV="1">
            <a:off x="3143672" y="3033932"/>
            <a:ext cx="2012834" cy="1259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3140283" y="2907431"/>
            <a:ext cx="953507" cy="12687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3215681" y="2998904"/>
            <a:ext cx="1350831" cy="11773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698310" y="5378694"/>
            <a:ext cx="12458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 (x) = x</a:t>
            </a:r>
          </a:p>
        </p:txBody>
      </p:sp>
      <p:sp>
        <p:nvSpPr>
          <p:cNvPr id="33" name="Left Arrow 32"/>
          <p:cNvSpPr/>
          <p:nvPr/>
        </p:nvSpPr>
        <p:spPr>
          <a:xfrm>
            <a:off x="5447928" y="5378694"/>
            <a:ext cx="1296144" cy="3693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4274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ОБОЗНАЧЕНИЯ: ОТ A И B К Θ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C3B106-C1E1-45EA-BF3B-6B741ECD68B0}"/>
              </a:ext>
            </a:extLst>
          </p:cNvPr>
          <p:cNvSpPr txBox="1"/>
          <p:nvPr/>
        </p:nvSpPr>
        <p:spPr>
          <a:xfrm>
            <a:off x="1097280" y="1625601"/>
            <a:ext cx="10470605" cy="515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Было:</a:t>
            </a:r>
          </a:p>
          <a:p>
            <a:pPr marL="742950" indent="0"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2200" dirty="0">
                <a:latin typeface="Cambria Math"/>
                <a:cs typeface="Cambria Math"/>
              </a:rPr>
              <a:t>h(x) = ax + b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Стало:</a:t>
            </a:r>
          </a:p>
          <a:p>
            <a:pPr marL="742950" indent="0"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2200" dirty="0">
                <a:latin typeface="Cambria Math"/>
                <a:cs typeface="Cambria Math"/>
              </a:rPr>
              <a:t>h(x) = θ₀ + θ₁x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700" dirty="0"/>
              <a:t>θ₀ = b — свободный член (сдвиг)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700" dirty="0"/>
              <a:t>θ₁ = a — коэффициент наклона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Функция стоимости в новых обозначениях:</a:t>
            </a:r>
          </a:p>
          <a:p>
            <a:pPr marL="742950" indent="0"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2200" dirty="0">
                <a:latin typeface="Cambria Math"/>
                <a:cs typeface="Cambria Math"/>
              </a:rPr>
              <a:t>J(θ₀, θ₁) = 1/(2m) · Σᵢ (h(x⁽ⁱ⁾) − y⁽ⁱ⁾)²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1800" i="1" dirty="0">
                <a:solidFill>
                  <a:srgbClr val="404040"/>
                </a:solidFill>
              </a:rPr>
              <a:t>Такая запись обобщается на любое число признаков: θ₀ + θ₁x₁ + θ₂x₂ + … + θₙxₙ</a:t>
            </a:r>
          </a:p>
        </p:txBody>
      </p:sp>
    </p:spTree>
    <p:extLst>
      <p:ext uri="{BB962C8B-B14F-4D97-AF65-F5344CB8AC3E}">
        <p14:creationId xmlns:p14="http://schemas.microsoft.com/office/powerpoint/2010/main" val="35643214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237" y="533400"/>
            <a:ext cx="8409964" cy="879376"/>
          </a:xfrm>
        </p:spPr>
        <p:txBody>
          <a:bodyPr>
            <a:normAutofit fontScale="90000"/>
          </a:bodyPr>
          <a:lstStyle/>
          <a:p>
            <a:r>
              <a:rPr lang="ru-RU" dirty="0"/>
              <a:t>Алгоритм градиентного спуска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3719736" y="2060848"/>
            <a:ext cx="5256584" cy="86409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Выбрать начальные коэффициенты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3719736" y="3429000"/>
            <a:ext cx="5256584" cy="86409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Изменить коэффициенты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3719736" y="4797152"/>
            <a:ext cx="5256584" cy="86409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Проверить на минимум функцию стоимости</a:t>
            </a:r>
            <a:endParaRPr lang="en-US" dirty="0"/>
          </a:p>
        </p:txBody>
      </p:sp>
      <p:cxnSp>
        <p:nvCxnSpPr>
          <p:cNvPr id="8" name="Straight Arrow Connector 7"/>
          <p:cNvCxnSpPr>
            <a:stCxn id="4" idx="2"/>
            <a:endCxn id="5" idx="0"/>
          </p:cNvCxnSpPr>
          <p:nvPr/>
        </p:nvCxnSpPr>
        <p:spPr>
          <a:xfrm>
            <a:off x="6348028" y="2924944"/>
            <a:ext cx="0" cy="504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6368408" y="4293096"/>
            <a:ext cx="0" cy="504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87374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32675" t="27600" r="22439" b="31100"/>
          <a:stretch/>
        </p:blipFill>
        <p:spPr>
          <a:xfrm>
            <a:off x="1991544" y="1628801"/>
            <a:ext cx="8136904" cy="4211205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22121" y="533400"/>
            <a:ext cx="8779079" cy="807368"/>
          </a:xfrm>
        </p:spPr>
        <p:txBody>
          <a:bodyPr>
            <a:normAutofit fontScale="90000"/>
          </a:bodyPr>
          <a:lstStyle/>
          <a:p>
            <a:r>
              <a:rPr lang="ru-RU" dirty="0"/>
              <a:t>Алгоритм градиентного спуска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8421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33462" t="25500" r="22438" b="30400"/>
          <a:stretch/>
        </p:blipFill>
        <p:spPr>
          <a:xfrm>
            <a:off x="1991544" y="1590626"/>
            <a:ext cx="8064896" cy="4536504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533400"/>
            <a:ext cx="8503920" cy="879376"/>
          </a:xfrm>
        </p:spPr>
        <p:txBody>
          <a:bodyPr>
            <a:normAutofit fontScale="90000"/>
          </a:bodyPr>
          <a:lstStyle/>
          <a:p>
            <a:r>
              <a:rPr lang="ru-RU" dirty="0"/>
              <a:t>Алгоритм градиентного спуска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3561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3462" t="26901" r="21257" b="31100"/>
          <a:stretch/>
        </p:blipFill>
        <p:spPr>
          <a:xfrm>
            <a:off x="1991545" y="1700808"/>
            <a:ext cx="8066219" cy="4208462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533400"/>
            <a:ext cx="8503920" cy="879376"/>
          </a:xfrm>
        </p:spPr>
        <p:txBody>
          <a:bodyPr>
            <a:normAutofit fontScale="90000"/>
          </a:bodyPr>
          <a:lstStyle/>
          <a:p>
            <a:r>
              <a:rPr lang="ru-RU" dirty="0"/>
              <a:t>Алгоритм градиентного спуска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8431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33069" t="27600" r="21650" b="31100"/>
          <a:stretch/>
        </p:blipFill>
        <p:spPr>
          <a:xfrm>
            <a:off x="1993640" y="1703762"/>
            <a:ext cx="8134808" cy="417351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533400"/>
            <a:ext cx="8503920" cy="879376"/>
          </a:xfrm>
        </p:spPr>
        <p:txBody>
          <a:bodyPr>
            <a:normAutofit fontScale="90000"/>
          </a:bodyPr>
          <a:lstStyle/>
          <a:p>
            <a:r>
              <a:rPr lang="ru-RU" dirty="0"/>
              <a:t>Алгоритм градиентного спуска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7277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3069" t="24100" r="22044" b="33201"/>
          <a:stretch/>
        </p:blipFill>
        <p:spPr>
          <a:xfrm>
            <a:off x="1991544" y="1752601"/>
            <a:ext cx="8064896" cy="4315427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166440" y="549220"/>
            <a:ext cx="8890000" cy="879376"/>
          </a:xfrm>
        </p:spPr>
        <p:txBody>
          <a:bodyPr>
            <a:normAutofit fontScale="90000"/>
          </a:bodyPr>
          <a:lstStyle/>
          <a:p>
            <a:r>
              <a:rPr lang="ru-RU" dirty="0"/>
              <a:t>Алгоритм градиентного спуска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312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33069" t="24799" r="21651" b="32501"/>
          <a:stretch/>
        </p:blipFill>
        <p:spPr>
          <a:xfrm>
            <a:off x="1991545" y="1752600"/>
            <a:ext cx="8145167" cy="432048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219200" y="533400"/>
            <a:ext cx="9385300" cy="879376"/>
          </a:xfrm>
        </p:spPr>
        <p:txBody>
          <a:bodyPr>
            <a:normAutofit/>
          </a:bodyPr>
          <a:lstStyle/>
          <a:p>
            <a:r>
              <a:rPr lang="ru-RU" dirty="0"/>
              <a:t>Алгоритм градиентного спуска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2724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Градиент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4942" y="3140969"/>
            <a:ext cx="5678316" cy="2626221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295801" y="1988841"/>
                <a:ext cx="3533853" cy="5740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grad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5801" y="1988841"/>
                <a:ext cx="3533853" cy="5740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81334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для </a:t>
                </a:r>
                <a:r>
                  <a:rPr lang="en-US" dirty="0"/>
                  <a:t>j=0 </a:t>
                </a:r>
                <a:r>
                  <a:rPr lang="ru-RU" dirty="0"/>
                  <a:t>и</a:t>
                </a:r>
                <a:r>
                  <a:rPr lang="en-US" dirty="0"/>
                  <a:t> j=1</a:t>
                </a:r>
              </a:p>
              <a:p>
                <a:r>
                  <a:rPr lang="ru-RU" dirty="0"/>
                  <a:t>Одновременное обновление всех коэффициентов:</a:t>
                </a:r>
              </a:p>
              <a:p>
                <a:pPr marL="457200" indent="-457200">
                  <a:buAutoNum type="arabicParenR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457200" indent="-457200">
                  <a:buAutoNum type="arabicParenR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457200" indent="-457200">
                  <a:buAutoNum type="arabicParenR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AutoNum type="arabicParenR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097280" y="533400"/>
            <a:ext cx="9646920" cy="879376"/>
          </a:xfrm>
        </p:spPr>
        <p:txBody>
          <a:bodyPr>
            <a:normAutofit/>
          </a:bodyPr>
          <a:lstStyle/>
          <a:p>
            <a:r>
              <a:rPr lang="ru-RU" dirty="0"/>
              <a:t>Алгоритм градиентного спуска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744072" y="4797153"/>
                <a:ext cx="3240360" cy="973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rabicParenR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457200" indent="-457200">
                  <a:buAutoNum type="arabicParenR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072" y="4797153"/>
                <a:ext cx="3240360" cy="973985"/>
              </a:xfrm>
              <a:prstGeom prst="rect">
                <a:avLst/>
              </a:prstGeom>
              <a:blipFill>
                <a:blip r:embed="rId4"/>
                <a:stretch>
                  <a:fillRect l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/>
          <p:cNvCxnSpPr/>
          <p:nvPr/>
        </p:nvCxnSpPr>
        <p:spPr>
          <a:xfrm>
            <a:off x="7446758" y="4557490"/>
            <a:ext cx="2016224" cy="154979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7446758" y="4405337"/>
            <a:ext cx="1595772" cy="172558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59849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ПРОИЗВОДНЫЕ ФУНКЦИИ СТОИМОСТИ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C3B106-C1E1-45EA-BF3B-6B741ECD68B0}"/>
              </a:ext>
            </a:extLst>
          </p:cNvPr>
          <p:cNvSpPr txBox="1"/>
          <p:nvPr/>
        </p:nvSpPr>
        <p:spPr>
          <a:xfrm>
            <a:off x="1097280" y="1625601"/>
            <a:ext cx="10470605" cy="515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Частные производные J по параметрам:</a:t>
            </a:r>
          </a:p>
          <a:p>
            <a:pPr marL="742950" indent="0"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2200" dirty="0">
                <a:latin typeface="Cambria Math"/>
                <a:cs typeface="Cambria Math"/>
              </a:rPr>
              <a:t>∂J/∂θ₀ = (1/m) · Σᵢ (h(x⁽ⁱ⁾) − y⁽ⁱ⁾)</a:t>
            </a:r>
          </a:p>
          <a:p>
            <a:pPr marL="742950" indent="0"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2200" dirty="0">
                <a:latin typeface="Cambria Math"/>
                <a:cs typeface="Cambria Math"/>
              </a:rPr>
              <a:t>∂J/∂θ₁ = (1/m) · Σᵢ (h(x⁽ⁱ⁾) − y⁽ⁱ⁾) · x⁽ⁱ⁾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Множитель ½ из J сокращается с двойкой из производной квадрата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Шаг градиентного спуска (оба параметра обновляются одновременно):</a:t>
            </a:r>
          </a:p>
          <a:p>
            <a:pPr marL="742950" indent="0"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2200" dirty="0">
                <a:latin typeface="Cambria Math"/>
                <a:cs typeface="Cambria Math"/>
              </a:rPr>
              <a:t>θ₀ := θ₀ − α · (1/m) · Σᵢ (h(x⁽ⁱ⁾) − y⁽ⁱ⁾)</a:t>
            </a:r>
          </a:p>
          <a:p>
            <a:pPr marL="742950" indent="0"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2200" dirty="0">
                <a:latin typeface="Cambria Math"/>
                <a:cs typeface="Cambria Math"/>
              </a:rPr>
              <a:t>θ₁ := θ₁ − α · (1/m) · Σᵢ (h(x⁽ⁱ⁾) − y⁽ⁱ⁾) · x⁽ⁱ⁾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1800" i="1" dirty="0">
                <a:solidFill>
                  <a:srgbClr val="404040"/>
                </a:solidFill>
              </a:rPr>
              <a:t>Ошибка каждого объекта «тянет» параметры: чем больше ошибка, тем сильнее поправка</a:t>
            </a:r>
          </a:p>
        </p:txBody>
      </p:sp>
    </p:spTree>
    <p:extLst>
      <p:ext uri="{BB962C8B-B14F-4D97-AF65-F5344CB8AC3E}">
        <p14:creationId xmlns:p14="http://schemas.microsoft.com/office/powerpoint/2010/main" val="35643214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664321" y="1412777"/>
                <a:ext cx="6934200" cy="4378325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64321" y="1412777"/>
                <a:ext cx="6934200" cy="4378325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89100" y="533400"/>
            <a:ext cx="8978900" cy="879376"/>
          </a:xfrm>
        </p:spPr>
        <p:txBody>
          <a:bodyPr>
            <a:normAutofit fontScale="90000"/>
          </a:bodyPr>
          <a:lstStyle/>
          <a:p>
            <a:r>
              <a:rPr lang="ru-RU" dirty="0"/>
              <a:t>Алгоритм градиентного спуска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573041" y="2657128"/>
                <a:ext cx="27363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ru-R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−скорость обучения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3041" y="2657128"/>
                <a:ext cx="2736304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>
            <a:endCxn id="2" idx="0"/>
          </p:cNvCxnSpPr>
          <p:nvPr/>
        </p:nvCxnSpPr>
        <p:spPr>
          <a:xfrm flipH="1">
            <a:off x="4941193" y="2081064"/>
            <a:ext cx="936104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960096" y="2660069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производная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6597377" y="2105472"/>
            <a:ext cx="936104" cy="5516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4" name="Chart 13"/>
          <p:cNvGraphicFramePr>
            <a:graphicFrameLocks/>
          </p:cNvGraphicFramePr>
          <p:nvPr/>
        </p:nvGraphicFramePr>
        <p:xfrm>
          <a:off x="2495601" y="3512147"/>
          <a:ext cx="3381697" cy="19651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5" name="Chart 14"/>
          <p:cNvGraphicFramePr>
            <a:graphicFrameLocks/>
          </p:cNvGraphicFramePr>
          <p:nvPr/>
        </p:nvGraphicFramePr>
        <p:xfrm>
          <a:off x="6233518" y="3512147"/>
          <a:ext cx="3381697" cy="19651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6" name="Donut 15"/>
          <p:cNvSpPr/>
          <p:nvPr/>
        </p:nvSpPr>
        <p:spPr>
          <a:xfrm flipV="1">
            <a:off x="4941194" y="4437112"/>
            <a:ext cx="74687" cy="57609"/>
          </a:xfrm>
          <a:prstGeom prst="donu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7" name="Donut 16"/>
          <p:cNvSpPr/>
          <p:nvPr/>
        </p:nvSpPr>
        <p:spPr>
          <a:xfrm>
            <a:off x="7248129" y="4653137"/>
            <a:ext cx="72009" cy="45719"/>
          </a:xfrm>
          <a:prstGeom prst="donu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 flipV="1">
            <a:off x="4727848" y="3969059"/>
            <a:ext cx="576064" cy="9361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 flipV="1">
            <a:off x="6960097" y="4270814"/>
            <a:ext cx="573385" cy="7423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783633" y="5733257"/>
            <a:ext cx="3093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Положительное значение производной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6377533" y="5706299"/>
            <a:ext cx="3093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Отрицательное значение производной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4676342" y="4035231"/>
                <a:ext cx="461472" cy="3916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6342" y="4035231"/>
                <a:ext cx="461472" cy="391646"/>
              </a:xfrm>
              <a:prstGeom prst="rect">
                <a:avLst/>
              </a:prstGeom>
              <a:blipFill>
                <a:blip r:embed="rId7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7198472" y="4214470"/>
                <a:ext cx="461472" cy="3916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8472" y="4214470"/>
                <a:ext cx="461472" cy="391646"/>
              </a:xfrm>
              <a:prstGeom prst="rect">
                <a:avLst/>
              </a:prstGeom>
              <a:blipFill>
                <a:blip r:embed="rId8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ight Arrow 31"/>
          <p:cNvSpPr/>
          <p:nvPr/>
        </p:nvSpPr>
        <p:spPr>
          <a:xfrm>
            <a:off x="7284133" y="5200243"/>
            <a:ext cx="262991" cy="45719"/>
          </a:xfrm>
          <a:prstGeom prst="righ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Left Arrow 33"/>
          <p:cNvSpPr/>
          <p:nvPr/>
        </p:nvSpPr>
        <p:spPr>
          <a:xfrm>
            <a:off x="4676343" y="5144771"/>
            <a:ext cx="264851" cy="77607"/>
          </a:xfrm>
          <a:prstGeom prst="lef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1742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664321" y="1412777"/>
                <a:ext cx="6934200" cy="4378325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64321" y="1412777"/>
                <a:ext cx="6934200" cy="4378325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727200" y="533400"/>
            <a:ext cx="8521700" cy="879376"/>
          </a:xfrm>
        </p:spPr>
        <p:txBody>
          <a:bodyPr>
            <a:normAutofit fontScale="90000"/>
          </a:bodyPr>
          <a:lstStyle/>
          <a:p>
            <a:r>
              <a:rPr lang="ru-RU" dirty="0"/>
              <a:t>Алгоритм градиентного спуска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573041" y="2657128"/>
                <a:ext cx="27363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ru-RU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−скорость обучения</m:t>
                      </m:r>
                    </m:oMath>
                  </m:oMathPara>
                </a14:m>
                <a:endParaRPr 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3041" y="2657128"/>
                <a:ext cx="2736304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>
            <a:endCxn id="2" idx="0"/>
          </p:cNvCxnSpPr>
          <p:nvPr/>
        </p:nvCxnSpPr>
        <p:spPr>
          <a:xfrm flipH="1">
            <a:off x="4941193" y="2081064"/>
            <a:ext cx="936104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960096" y="2660069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производная</a:t>
            </a:r>
            <a:endParaRPr 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6597377" y="2105472"/>
            <a:ext cx="936104" cy="5516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4" name="Chart 13"/>
          <p:cNvGraphicFramePr>
            <a:graphicFrameLocks/>
          </p:cNvGraphicFramePr>
          <p:nvPr/>
        </p:nvGraphicFramePr>
        <p:xfrm>
          <a:off x="2495601" y="3512147"/>
          <a:ext cx="3381697" cy="19651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5" name="Chart 14"/>
          <p:cNvGraphicFramePr>
            <a:graphicFrameLocks/>
          </p:cNvGraphicFramePr>
          <p:nvPr/>
        </p:nvGraphicFramePr>
        <p:xfrm>
          <a:off x="6233518" y="3512147"/>
          <a:ext cx="3381697" cy="19651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6" name="Donut 15"/>
          <p:cNvSpPr/>
          <p:nvPr/>
        </p:nvSpPr>
        <p:spPr>
          <a:xfrm flipV="1">
            <a:off x="3143673" y="4043677"/>
            <a:ext cx="74687" cy="57609"/>
          </a:xfrm>
          <a:prstGeom prst="donu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7" name="Donut 16"/>
          <p:cNvSpPr/>
          <p:nvPr/>
        </p:nvSpPr>
        <p:spPr>
          <a:xfrm>
            <a:off x="7248129" y="4653137"/>
            <a:ext cx="72009" cy="45719"/>
          </a:xfrm>
          <a:prstGeom prst="donu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6377533" y="5706298"/>
                <a:ext cx="30936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dirty="0"/>
                  <a:t>Большое значение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dirty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7533" y="5706298"/>
                <a:ext cx="3093665" cy="369332"/>
              </a:xfrm>
              <a:prstGeom prst="rect">
                <a:avLst/>
              </a:prstGeom>
              <a:blipFill>
                <a:blip r:embed="rId7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647629" y="5706298"/>
                <a:ext cx="30936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dirty="0"/>
                  <a:t>Малое значение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dirty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629" y="5706298"/>
                <a:ext cx="3093665" cy="369332"/>
              </a:xfrm>
              <a:prstGeom prst="rect">
                <a:avLst/>
              </a:prstGeom>
              <a:blipFill>
                <a:blip r:embed="rId8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Donut 22"/>
          <p:cNvSpPr/>
          <p:nvPr/>
        </p:nvSpPr>
        <p:spPr>
          <a:xfrm flipV="1">
            <a:off x="3226794" y="4214471"/>
            <a:ext cx="74687" cy="57609"/>
          </a:xfrm>
          <a:prstGeom prst="donu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4" name="Donut 23"/>
          <p:cNvSpPr/>
          <p:nvPr/>
        </p:nvSpPr>
        <p:spPr>
          <a:xfrm flipV="1">
            <a:off x="3309915" y="4352685"/>
            <a:ext cx="74687" cy="57609"/>
          </a:xfrm>
          <a:prstGeom prst="donu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5" name="Donut 24"/>
          <p:cNvSpPr/>
          <p:nvPr/>
        </p:nvSpPr>
        <p:spPr>
          <a:xfrm flipV="1">
            <a:off x="3406331" y="4504474"/>
            <a:ext cx="74687" cy="57609"/>
          </a:xfrm>
          <a:prstGeom prst="donu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6" name="Donut 25"/>
          <p:cNvSpPr/>
          <p:nvPr/>
        </p:nvSpPr>
        <p:spPr>
          <a:xfrm flipV="1">
            <a:off x="3517405" y="4644277"/>
            <a:ext cx="74687" cy="57609"/>
          </a:xfrm>
          <a:prstGeom prst="donu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7" name="Donut 26"/>
          <p:cNvSpPr/>
          <p:nvPr/>
        </p:nvSpPr>
        <p:spPr>
          <a:xfrm flipV="1">
            <a:off x="3611142" y="4772374"/>
            <a:ext cx="74687" cy="57609"/>
          </a:xfrm>
          <a:prstGeom prst="donu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3" name="Donut 32"/>
          <p:cNvSpPr/>
          <p:nvPr/>
        </p:nvSpPr>
        <p:spPr>
          <a:xfrm flipV="1">
            <a:off x="3743748" y="4881877"/>
            <a:ext cx="74687" cy="57609"/>
          </a:xfrm>
          <a:prstGeom prst="donu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5" name="Donut 34"/>
          <p:cNvSpPr/>
          <p:nvPr/>
        </p:nvSpPr>
        <p:spPr>
          <a:xfrm flipV="1">
            <a:off x="3877098" y="4967602"/>
            <a:ext cx="74687" cy="57609"/>
          </a:xfrm>
          <a:prstGeom prst="donu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7" name="Donut 36"/>
          <p:cNvSpPr/>
          <p:nvPr/>
        </p:nvSpPr>
        <p:spPr>
          <a:xfrm flipV="1">
            <a:off x="4022354" y="5036658"/>
            <a:ext cx="74687" cy="57609"/>
          </a:xfrm>
          <a:prstGeom prst="donu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8" name="Donut 37"/>
          <p:cNvSpPr/>
          <p:nvPr/>
        </p:nvSpPr>
        <p:spPr>
          <a:xfrm flipV="1">
            <a:off x="4150942" y="5058090"/>
            <a:ext cx="74687" cy="57609"/>
          </a:xfrm>
          <a:prstGeom prst="donu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6" name="Straight Arrow Connector 5"/>
          <p:cNvCxnSpPr>
            <a:endCxn id="23" idx="4"/>
          </p:cNvCxnSpPr>
          <p:nvPr/>
        </p:nvCxnSpPr>
        <p:spPr>
          <a:xfrm>
            <a:off x="3210101" y="4101286"/>
            <a:ext cx="54037" cy="1131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endCxn id="24" idx="4"/>
          </p:cNvCxnSpPr>
          <p:nvPr/>
        </p:nvCxnSpPr>
        <p:spPr>
          <a:xfrm>
            <a:off x="3289302" y="4268304"/>
            <a:ext cx="57956" cy="843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3381335" y="4398090"/>
            <a:ext cx="54037" cy="1131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3471452" y="4549524"/>
            <a:ext cx="54037" cy="1131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3584008" y="4682406"/>
            <a:ext cx="54037" cy="1131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endCxn id="33" idx="3"/>
          </p:cNvCxnSpPr>
          <p:nvPr/>
        </p:nvCxnSpPr>
        <p:spPr>
          <a:xfrm>
            <a:off x="3691753" y="4803131"/>
            <a:ext cx="62933" cy="8718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endCxn id="35" idx="2"/>
          </p:cNvCxnSpPr>
          <p:nvPr/>
        </p:nvCxnSpPr>
        <p:spPr>
          <a:xfrm>
            <a:off x="3819643" y="4927909"/>
            <a:ext cx="57455" cy="6849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5" idx="7"/>
            <a:endCxn id="37" idx="2"/>
          </p:cNvCxnSpPr>
          <p:nvPr/>
        </p:nvCxnSpPr>
        <p:spPr>
          <a:xfrm>
            <a:off x="3940847" y="5016773"/>
            <a:ext cx="81507" cy="4868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endCxn id="38" idx="0"/>
          </p:cNvCxnSpPr>
          <p:nvPr/>
        </p:nvCxnSpPr>
        <p:spPr>
          <a:xfrm>
            <a:off x="4107229" y="5069238"/>
            <a:ext cx="81056" cy="4646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Donut 48"/>
          <p:cNvSpPr/>
          <p:nvPr/>
        </p:nvSpPr>
        <p:spPr>
          <a:xfrm>
            <a:off x="8688289" y="4471862"/>
            <a:ext cx="72009" cy="45719"/>
          </a:xfrm>
          <a:prstGeom prst="donu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0" name="Donut 49"/>
          <p:cNvSpPr/>
          <p:nvPr/>
        </p:nvSpPr>
        <p:spPr>
          <a:xfrm>
            <a:off x="7070308" y="4358629"/>
            <a:ext cx="72009" cy="45719"/>
          </a:xfrm>
          <a:prstGeom prst="donu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1" name="Donut 50"/>
          <p:cNvSpPr/>
          <p:nvPr/>
        </p:nvSpPr>
        <p:spPr>
          <a:xfrm>
            <a:off x="8904313" y="4049621"/>
            <a:ext cx="72009" cy="45719"/>
          </a:xfrm>
          <a:prstGeom prst="donu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2" name="Donut 51"/>
          <p:cNvSpPr/>
          <p:nvPr/>
        </p:nvSpPr>
        <p:spPr>
          <a:xfrm>
            <a:off x="6816081" y="3861049"/>
            <a:ext cx="72009" cy="45719"/>
          </a:xfrm>
          <a:prstGeom prst="donu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54" name="Straight Arrow Connector 53"/>
          <p:cNvCxnSpPr>
            <a:stCxn id="17" idx="6"/>
          </p:cNvCxnSpPr>
          <p:nvPr/>
        </p:nvCxnSpPr>
        <p:spPr>
          <a:xfrm flipV="1">
            <a:off x="7320138" y="4494720"/>
            <a:ext cx="1368151" cy="181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49" idx="1"/>
          </p:cNvCxnSpPr>
          <p:nvPr/>
        </p:nvCxnSpPr>
        <p:spPr>
          <a:xfrm flipH="1" flipV="1">
            <a:off x="7142317" y="4369794"/>
            <a:ext cx="1556516" cy="108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50" idx="7"/>
            <a:endCxn id="51" idx="1"/>
          </p:cNvCxnSpPr>
          <p:nvPr/>
        </p:nvCxnSpPr>
        <p:spPr>
          <a:xfrm flipV="1">
            <a:off x="7131771" y="4056315"/>
            <a:ext cx="1783086" cy="309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51" idx="2"/>
            <a:endCxn id="52" idx="6"/>
          </p:cNvCxnSpPr>
          <p:nvPr/>
        </p:nvCxnSpPr>
        <p:spPr>
          <a:xfrm flipH="1" flipV="1">
            <a:off x="6888090" y="3883908"/>
            <a:ext cx="2016223" cy="188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07129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533400"/>
            <a:ext cx="9537700" cy="663352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 sz="3200" dirty="0"/>
              <a:t>Пример (попадание в локальный минимум)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951984" y="1772817"/>
                <a:ext cx="3960440" cy="437832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b="1" dirty="0"/>
                  <a:t>Как изменится значение коэффициента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ru-RU" b="1" dirty="0"/>
                  <a:t> на следующем шаге?</a:t>
                </a:r>
              </a:p>
              <a:p>
                <a:pPr marL="0" indent="0">
                  <a:buNone/>
                </a:pPr>
                <a:endParaRPr lang="ru-RU" b="1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u-RU" dirty="0"/>
                  <a:t>Останется прежним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u-RU" dirty="0"/>
                  <a:t>Изменится в случайном направлении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u-RU" dirty="0"/>
                  <a:t>Изменится в направлении глобального минимума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u-RU" dirty="0"/>
                  <a:t>Уменьшится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1984" y="1772817"/>
                <a:ext cx="3960440" cy="4378325"/>
              </a:xfrm>
              <a:blipFill>
                <a:blip r:embed="rId2"/>
                <a:stretch>
                  <a:fillRect l="-3846" t="-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37400" t="32500" r="38975" b="39500"/>
          <a:stretch/>
        </p:blipFill>
        <p:spPr>
          <a:xfrm>
            <a:off x="2279577" y="2204865"/>
            <a:ext cx="3597605" cy="239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6311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803400" y="533400"/>
            <a:ext cx="8712200" cy="879376"/>
          </a:xfrm>
        </p:spPr>
        <p:txBody>
          <a:bodyPr>
            <a:normAutofit fontScale="90000"/>
          </a:bodyPr>
          <a:lstStyle/>
          <a:p>
            <a:r>
              <a:rPr lang="ru-RU" dirty="0"/>
              <a:t>Алгоритм градиентного спуска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37400" t="32500" r="38975" b="39500"/>
          <a:stretch/>
        </p:blipFill>
        <p:spPr>
          <a:xfrm>
            <a:off x="4223793" y="1844825"/>
            <a:ext cx="3597605" cy="23984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920257" y="4677967"/>
                <a:ext cx="4427687" cy="6971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ru-R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ru-RU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ru-R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∗0=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257" y="4677967"/>
                <a:ext cx="4427687" cy="6971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/>
          <p:cNvCxnSpPr/>
          <p:nvPr/>
        </p:nvCxnSpPr>
        <p:spPr>
          <a:xfrm>
            <a:off x="6134099" y="3266696"/>
            <a:ext cx="1186036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50990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639616" y="1700809"/>
                <a:ext cx="6934200" cy="4378325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39616" y="1700809"/>
                <a:ext cx="6934200" cy="4378325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17700" y="533400"/>
            <a:ext cx="8610600" cy="879376"/>
          </a:xfrm>
        </p:spPr>
        <p:txBody>
          <a:bodyPr>
            <a:normAutofit fontScale="90000"/>
          </a:bodyPr>
          <a:lstStyle/>
          <a:p>
            <a:r>
              <a:rPr lang="ru-RU" dirty="0"/>
              <a:t>Алгоритм градиентного спуска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582379" y="2795724"/>
            <a:ext cx="459793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Даже при фиксированной скорости обучения можно попасть в локальный минимум.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Величина шага будет регулироваться производной.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Чем ближе к локальному минимуму, тем меньше угол наклона касательной, соответственно, меньше производная и, как следствие, величина изменения коэффициента.</a:t>
            </a:r>
            <a:endParaRPr lang="en-US" dirty="0"/>
          </a:p>
        </p:txBody>
      </p:sp>
      <p:graphicFrame>
        <p:nvGraphicFramePr>
          <p:cNvPr id="14" name="Chart 13"/>
          <p:cNvGraphicFramePr>
            <a:graphicFrameLocks/>
          </p:cNvGraphicFramePr>
          <p:nvPr/>
        </p:nvGraphicFramePr>
        <p:xfrm>
          <a:off x="2135561" y="3019114"/>
          <a:ext cx="3381697" cy="19651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Donut 15"/>
          <p:cNvSpPr/>
          <p:nvPr/>
        </p:nvSpPr>
        <p:spPr>
          <a:xfrm flipV="1">
            <a:off x="2639617" y="3224000"/>
            <a:ext cx="74687" cy="57609"/>
          </a:xfrm>
          <a:prstGeom prst="donu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5" name="Donut 24"/>
          <p:cNvSpPr/>
          <p:nvPr/>
        </p:nvSpPr>
        <p:spPr>
          <a:xfrm flipV="1">
            <a:off x="3046291" y="4011441"/>
            <a:ext cx="74687" cy="57609"/>
          </a:xfrm>
          <a:prstGeom prst="donu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3" name="Donut 32"/>
          <p:cNvSpPr/>
          <p:nvPr/>
        </p:nvSpPr>
        <p:spPr>
          <a:xfrm flipV="1">
            <a:off x="3383708" y="4388844"/>
            <a:ext cx="74687" cy="57609"/>
          </a:xfrm>
          <a:prstGeom prst="donu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7" name="Donut 36"/>
          <p:cNvSpPr/>
          <p:nvPr/>
        </p:nvSpPr>
        <p:spPr>
          <a:xfrm flipV="1">
            <a:off x="3662314" y="4543625"/>
            <a:ext cx="74687" cy="57609"/>
          </a:xfrm>
          <a:prstGeom prst="donu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8" name="Donut 37"/>
          <p:cNvSpPr/>
          <p:nvPr/>
        </p:nvSpPr>
        <p:spPr>
          <a:xfrm flipV="1">
            <a:off x="3790902" y="4565057"/>
            <a:ext cx="74687" cy="57609"/>
          </a:xfrm>
          <a:prstGeom prst="donu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40" name="Straight Arrow Connector 39"/>
          <p:cNvCxnSpPr>
            <a:stCxn id="16" idx="0"/>
          </p:cNvCxnSpPr>
          <p:nvPr/>
        </p:nvCxnSpPr>
        <p:spPr>
          <a:xfrm>
            <a:off x="2676961" y="3281609"/>
            <a:ext cx="398371" cy="7366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endCxn id="33" idx="3"/>
          </p:cNvCxnSpPr>
          <p:nvPr/>
        </p:nvCxnSpPr>
        <p:spPr>
          <a:xfrm>
            <a:off x="3111411" y="4056490"/>
            <a:ext cx="283234" cy="34079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endCxn id="37" idx="2"/>
          </p:cNvCxnSpPr>
          <p:nvPr/>
        </p:nvCxnSpPr>
        <p:spPr>
          <a:xfrm>
            <a:off x="3459603" y="4434876"/>
            <a:ext cx="202711" cy="13755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endCxn id="38" idx="0"/>
          </p:cNvCxnSpPr>
          <p:nvPr/>
        </p:nvCxnSpPr>
        <p:spPr>
          <a:xfrm>
            <a:off x="3747189" y="4576205"/>
            <a:ext cx="81056" cy="4646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2728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ЕСТЬ ЛИ ЛОКАЛЬНЫЕ МИНИМУМЫ У ЛИНЕЙНОЙ РЕГРЕССИИ?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C3B106-C1E1-45EA-BF3B-6B741ECD68B0}"/>
              </a:ext>
            </a:extLst>
          </p:cNvPr>
          <p:cNvSpPr txBox="1"/>
          <p:nvPr/>
        </p:nvSpPr>
        <p:spPr>
          <a:xfrm>
            <a:off x="1097280" y="1625601"/>
            <a:ext cx="10470605" cy="515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Для линейной регрессии с квадратичной функцией стоимости J(θ) — выпуклая функция («чаша»)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У выпуклой функции один минимум — глобальный; при подходящем α градиентный спуск всегда к нему приходит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Поверхность с несколькими минимумами на предыдущих слайдах — общий случай: так выглядит J у нейронных сетей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Главные риски для линейной регрессии — неудачная скорость обучения: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700" dirty="0"/>
              <a:t>α слишком велика — спуск расходится, J растёт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700" dirty="0"/>
              <a:t>α слишком мала — сходимость очень медленная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1800" i="1" dirty="0">
                <a:solidFill>
                  <a:srgbClr val="404040"/>
                </a:solidFill>
              </a:rPr>
              <a:t>Практика: строить график J по итерациям — J должна монотонно убывать</a:t>
            </a:r>
          </a:p>
        </p:txBody>
      </p:sp>
    </p:spTree>
    <p:extLst>
      <p:ext uri="{BB962C8B-B14F-4D97-AF65-F5344CB8AC3E}">
        <p14:creationId xmlns:p14="http://schemas.microsoft.com/office/powerpoint/2010/main" val="35643214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8112" t="6300" r="33064" b="37166"/>
          <a:stretch/>
        </p:blipFill>
        <p:spPr>
          <a:xfrm>
            <a:off x="1528422" y="404664"/>
            <a:ext cx="9176091" cy="597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0867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892300" y="2108201"/>
                <a:ext cx="9263380" cy="3760891"/>
              </a:xfrm>
            </p:spPr>
            <p:txBody>
              <a:bodyPr/>
              <a:lstStyle/>
              <a:p>
                <a:r>
                  <a:rPr lang="ru-RU" dirty="0"/>
                  <a:t>Гипотеза:</a:t>
                </a:r>
              </a:p>
              <a:p>
                <a:pPr lvl="1"/>
                <a:r>
                  <a:rPr lang="ru-RU" dirty="0"/>
                  <a:t>Для одного признака: </a:t>
                </a:r>
                <a:r>
                  <a:rPr lang="en-US" dirty="0"/>
                  <a:t>h (x) = ax + b</a:t>
                </a:r>
                <a:endParaRPr lang="ru-RU" dirty="0"/>
              </a:p>
              <a:p>
                <a:pPr lvl="1"/>
                <a:r>
                  <a:rPr lang="ru-RU" dirty="0"/>
                  <a:t>Сейчас: </a:t>
                </a:r>
                <a:r>
                  <a:rPr lang="en-US" dirty="0"/>
                  <a:t>h (x)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ru-RU" dirty="0"/>
              </a:p>
              <a:p>
                <a:pPr marL="457200" lvl="1" indent="0">
                  <a:buNone/>
                </a:pPr>
                <a:endParaRPr lang="ru-RU" dirty="0"/>
              </a:p>
              <a:p>
                <a:pPr marL="457200" lvl="1" indent="0">
                  <a:buNone/>
                </a:pPr>
                <a:endParaRPr lang="ru-RU" dirty="0"/>
              </a:p>
              <a:p>
                <a:pPr marL="457200" lvl="1" indent="0">
                  <a:buNone/>
                </a:pPr>
                <a:r>
                  <a:rPr lang="en-US" dirty="0"/>
                  <a:t>h (x)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ru-RU" b="0" i="0" smtClean="0">
                        <a:latin typeface="Cambria Math" panose="02040503050406030204" pitchFamily="18" charset="0"/>
                      </a:rPr>
                      <m:t> при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/>
                  <a:t>=1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ru-RU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ru-RU" dirty="0"/>
                  <a:t> </a:t>
                </a:r>
                <a:r>
                  <a:rPr lang="en-US" dirty="0"/>
                  <a:t>,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ru-RU" dirty="0"/>
                  <a:t> </a:t>
                </a:r>
                <a:r>
                  <a:rPr lang="en-US" dirty="0"/>
                  <a:t> ,     h (x)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92300" y="2108201"/>
                <a:ext cx="9263380" cy="3760891"/>
              </a:xfrm>
              <a:blipFill>
                <a:blip r:embed="rId2"/>
                <a:stretch>
                  <a:fillRect l="-658" t="-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524000" y="533401"/>
            <a:ext cx="8077200" cy="950913"/>
          </a:xfrm>
        </p:spPr>
        <p:txBody>
          <a:bodyPr>
            <a:normAutofit fontScale="90000"/>
          </a:bodyPr>
          <a:lstStyle/>
          <a:p>
            <a:r>
              <a:rPr lang="ru-RU" dirty="0"/>
              <a:t>Входные векторы признаков</a:t>
            </a: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4808563" y="3229867"/>
            <a:ext cx="0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5672659" y="3229867"/>
            <a:ext cx="0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6536755" y="3229867"/>
            <a:ext cx="0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7400851" y="3229867"/>
            <a:ext cx="0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160492" y="3517900"/>
          <a:ext cx="4072367" cy="3448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253913305"/>
                    </a:ext>
                  </a:extLst>
                </a:gridCol>
                <a:gridCol w="901567">
                  <a:extLst>
                    <a:ext uri="{9D8B030D-6E8A-4147-A177-3AD203B41FA5}">
                      <a16:colId xmlns:a16="http://schemas.microsoft.com/office/drawing/2014/main" val="2885308739"/>
                    </a:ext>
                  </a:extLst>
                </a:gridCol>
                <a:gridCol w="826625">
                  <a:extLst>
                    <a:ext uri="{9D8B030D-6E8A-4147-A177-3AD203B41FA5}">
                      <a16:colId xmlns:a16="http://schemas.microsoft.com/office/drawing/2014/main" val="4171748850"/>
                    </a:ext>
                  </a:extLst>
                </a:gridCol>
                <a:gridCol w="1264055">
                  <a:extLst>
                    <a:ext uri="{9D8B030D-6E8A-4147-A177-3AD203B41FA5}">
                      <a16:colId xmlns:a16="http://schemas.microsoft.com/office/drawing/2014/main" val="222177296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 dirty="0">
                          <a:effectLst/>
                        </a:rPr>
                        <a:t>Площадь (м2)</a:t>
                      </a:r>
                      <a:endParaRPr lang="ru-RU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 dirty="0">
                          <a:effectLst/>
                        </a:rPr>
                        <a:t>Год постройки</a:t>
                      </a:r>
                      <a:endParaRPr lang="ru-RU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 dirty="0">
                          <a:effectLst/>
                        </a:rPr>
                        <a:t>Этаж</a:t>
                      </a:r>
                      <a:endParaRPr lang="ru-RU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 dirty="0">
                          <a:effectLst/>
                        </a:rPr>
                        <a:t>Количество комнат</a:t>
                      </a:r>
                      <a:endParaRPr lang="ru-RU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16607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43600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533400"/>
            <a:ext cx="9982200" cy="951384"/>
          </a:xfrm>
        </p:spPr>
        <p:txBody>
          <a:bodyPr>
            <a:normAutofit fontScale="90000"/>
          </a:bodyPr>
          <a:lstStyle/>
          <a:p>
            <a:r>
              <a:rPr lang="ru-RU" dirty="0"/>
              <a:t>Градиентный спуск для векторов признаков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17576" y="1841501"/>
                <a:ext cx="8136904" cy="4378325"/>
              </a:xfrm>
            </p:spPr>
            <p:txBody>
              <a:bodyPr/>
              <a:lstStyle/>
              <a:p>
                <a:pPr marL="342900" lvl="1" indent="-342900">
                  <a:buFontTx/>
                  <a:buChar char="•"/>
                </a:pPr>
                <a:r>
                  <a:rPr lang="ru-RU" dirty="0"/>
                  <a:t>Гипотеза: </a:t>
                </a:r>
              </a:p>
              <a:p>
                <a:pPr marL="0" lvl="1" indent="0">
                  <a:buNone/>
                </a:pPr>
                <a:r>
                  <a:rPr lang="ru-RU" dirty="0"/>
                  <a:t>	</a:t>
                </a:r>
                <a:r>
                  <a:rPr lang="en-US" dirty="0"/>
                  <a:t>h (x)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ru-RU">
                        <a:latin typeface="Cambria Math" panose="02040503050406030204" pitchFamily="18" charset="0"/>
                      </a:rPr>
                      <m:t>при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/>
                  <a:t>=1)</a:t>
                </a:r>
              </a:p>
              <a:p>
                <a:r>
                  <a:rPr lang="ru-RU" dirty="0"/>
                  <a:t>Параметры:  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dirty="0"/>
                  <a:t> — вектор из </a:t>
                </a:r>
                <a:r>
                  <a:rPr lang="en-US" dirty="0"/>
                  <a:t>n+1  </a:t>
                </a:r>
                <a:r>
                  <a:rPr lang="ru-RU" dirty="0"/>
                  <a:t>элементов</a:t>
                </a:r>
              </a:p>
              <a:p>
                <a:r>
                  <a:rPr lang="ru-RU" dirty="0"/>
                  <a:t>Функция стоимости:</a:t>
                </a:r>
              </a:p>
              <a:p>
                <a:pPr marL="914400" lvl="2" indent="0">
                  <a:buNone/>
                </a:pP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J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ℎ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ru-RU" dirty="0"/>
              </a:p>
              <a:p>
                <a:r>
                  <a:rPr lang="ru-RU" dirty="0"/>
                  <a:t>Шаг градиентного спуска</a:t>
                </a:r>
              </a:p>
              <a:p>
                <a:pPr marL="457200" lvl="1" indent="0">
                  <a:buNone/>
                </a:pPr>
                <a:r>
                  <a:rPr lang="ru-RU" dirty="0"/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17576" y="1841501"/>
                <a:ext cx="8136904" cy="4378325"/>
              </a:xfrm>
              <a:blipFill>
                <a:blip r:embed="rId2"/>
                <a:stretch>
                  <a:fillRect l="-1798" t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70246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МАСШТАБИРОВАНИЕ ПРИЗНАКОВ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C3B106-C1E1-45EA-BF3B-6B741ECD68B0}"/>
              </a:ext>
            </a:extLst>
          </p:cNvPr>
          <p:cNvSpPr txBox="1"/>
          <p:nvPr/>
        </p:nvSpPr>
        <p:spPr>
          <a:xfrm>
            <a:off x="1097280" y="1625601"/>
            <a:ext cx="10470605" cy="11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Площадь ~ 10², год постройки ~ 10³, число комнат ~ 10⁰: линии уровня J — вытянутые эллипсы, спуск «петляет»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После нормализации линии уровня близки к окружностям — сходимость в разы быстрее</a:t>
            </a:r>
          </a:p>
        </p:txBody>
      </p:sp>
      <p:pic>
        <p:nvPicPr>
          <p:cNvPr id="5" name="Picture 4" descr="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000" y="3100000"/>
            <a:ext cx="8800000" cy="3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3214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МАТРИЧНАЯ ФОРМА ЗАДАЧИ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C3B106-C1E1-45EA-BF3B-6B741ECD68B0}"/>
              </a:ext>
            </a:extLst>
          </p:cNvPr>
          <p:cNvSpPr txBox="1"/>
          <p:nvPr/>
        </p:nvSpPr>
        <p:spPr>
          <a:xfrm>
            <a:off x="1097280" y="1625601"/>
            <a:ext cx="10470605" cy="515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X — матрица признаков m × (n+1): строки — объекты, первый столбец — единицы (x₀ = 1)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y — вектор целей m × 1,  θ — вектор параметров (n+1) × 1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Предсказания для всех объектов сразу:</a:t>
            </a:r>
          </a:p>
          <a:p>
            <a:pPr marL="742950" indent="0"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2200" dirty="0">
                <a:latin typeface="Cambria Math"/>
                <a:cs typeface="Cambria Math"/>
              </a:rPr>
              <a:t>ŷ = Xθ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Функция стоимости и шаг градиентного спуска:</a:t>
            </a:r>
          </a:p>
          <a:p>
            <a:pPr marL="742950" indent="0"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2200" dirty="0">
                <a:latin typeface="Cambria Math"/>
                <a:cs typeface="Cambria Math"/>
              </a:rPr>
              <a:t>J(θ) = 1/(2m) · ‖Xθ − y‖²</a:t>
            </a:r>
          </a:p>
          <a:p>
            <a:pPr marL="742950" indent="0"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2200" dirty="0">
                <a:latin typeface="Cambria Math"/>
                <a:cs typeface="Cambria Math"/>
              </a:rPr>
              <a:t>θ := θ − (α/m) · Xᵀ(Xθ − y)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1800" i="1" dirty="0">
                <a:solidFill>
                  <a:srgbClr val="404040"/>
                </a:solidFill>
              </a:rPr>
              <a:t>Векторная запись короче и быстрее: NumPy перемножает матрицы без циклов по объектам</a:t>
            </a:r>
          </a:p>
        </p:txBody>
      </p:sp>
    </p:spTree>
    <p:extLst>
      <p:ext uri="{BB962C8B-B14F-4D97-AF65-F5344CB8AC3E}">
        <p14:creationId xmlns:p14="http://schemas.microsoft.com/office/powerpoint/2010/main" val="35643214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НОРМАЛЬНОЕ УРАВНЕНИЕ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C3B106-C1E1-45EA-BF3B-6B741ECD68B0}"/>
              </a:ext>
            </a:extLst>
          </p:cNvPr>
          <p:cNvSpPr txBox="1"/>
          <p:nvPr/>
        </p:nvSpPr>
        <p:spPr>
          <a:xfrm>
            <a:off x="1097280" y="1625601"/>
            <a:ext cx="10470605" cy="125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Минимум J можно найти аналитически — приравнять градиент к нулю:</a:t>
            </a:r>
          </a:p>
          <a:p>
            <a:pPr marL="742950" indent="0"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2200" dirty="0">
                <a:latin typeface="Cambria Math"/>
                <a:cs typeface="Cambria Math"/>
              </a:rPr>
              <a:t>Xᵀ(Xθ − y) = 0   ⇒   θ = (XᵀX)⁻¹ Xᵀy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2950000"/>
          <a:ext cx="10500000" cy="307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endParaRPr/>
                    </a:p>
                  </a:txBody>
                  <a:tcPr marL="110000" marR="110000">
                    <a:solidFill>
                      <a:srgbClr val="4E9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Градиентный спуск</a:t>
                      </a:r>
                    </a:p>
                  </a:txBody>
                  <a:tcPr marL="110000" marR="110000">
                    <a:solidFill>
                      <a:srgbClr val="4E9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Нормальное уравнение</a:t>
                      </a:r>
                    </a:p>
                  </a:txBody>
                  <a:tcPr marL="110000" marR="110000">
                    <a:solidFill>
                      <a:srgbClr val="4E9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</a:rPr>
                        <a:t>Выбор скорости обучения α</a:t>
                      </a:r>
                    </a:p>
                  </a:txBody>
                  <a:tcPr marL="110000" marR="110000">
                    <a:solidFill>
                      <a:srgbClr val="EE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</a:rPr>
                        <a:t>нужен</a:t>
                      </a:r>
                    </a:p>
                  </a:txBody>
                  <a:tcPr marL="110000" marR="110000">
                    <a:solidFill>
                      <a:srgbClr val="EE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</a:rPr>
                        <a:t>не нужен</a:t>
                      </a:r>
                    </a:p>
                  </a:txBody>
                  <a:tcPr marL="110000" marR="110000">
                    <a:solidFill>
                      <a:srgbClr val="EE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</a:rPr>
                        <a:t>Итерации</a:t>
                      </a:r>
                    </a:p>
                  </a:txBody>
                  <a:tcPr marL="110000" marR="1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</a:rPr>
                        <a:t>много шагов</a:t>
                      </a:r>
                    </a:p>
                  </a:txBody>
                  <a:tcPr marL="110000" marR="1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</a:rPr>
                        <a:t>одно вычисление</a:t>
                      </a:r>
                    </a:p>
                  </a:txBody>
                  <a:tcPr marL="110000" marR="11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</a:rPr>
                        <a:t>Нормализация признаков</a:t>
                      </a:r>
                    </a:p>
                  </a:txBody>
                  <a:tcPr marL="110000" marR="110000">
                    <a:solidFill>
                      <a:srgbClr val="EE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</a:rPr>
                        <a:t>желательна</a:t>
                      </a:r>
                    </a:p>
                  </a:txBody>
                  <a:tcPr marL="110000" marR="110000">
                    <a:solidFill>
                      <a:srgbClr val="EE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</a:rPr>
                        <a:t>не обязательна</a:t>
                      </a:r>
                    </a:p>
                  </a:txBody>
                  <a:tcPr marL="110000" marR="110000">
                    <a:solidFill>
                      <a:srgbClr val="EE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</a:rPr>
                        <a:t>Большое число признаков n</a:t>
                      </a:r>
                    </a:p>
                  </a:txBody>
                  <a:tcPr marL="110000" marR="1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</a:rPr>
                        <a:t>работает хорошо</a:t>
                      </a:r>
                    </a:p>
                  </a:txBody>
                  <a:tcPr marL="110000" marR="1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</a:rPr>
                        <a:t>обращение матрицы ~ n³ — дорого</a:t>
                      </a:r>
                    </a:p>
                  </a:txBody>
                  <a:tcPr marL="110000" marR="11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</a:rPr>
                        <a:t>Сильно коррелирующие признаки</a:t>
                      </a:r>
                    </a:p>
                  </a:txBody>
                  <a:tcPr marL="110000" marR="110000">
                    <a:solidFill>
                      <a:srgbClr val="EE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</a:rPr>
                        <a:t>медленнее сходится</a:t>
                      </a:r>
                    </a:p>
                  </a:txBody>
                  <a:tcPr marL="110000" marR="110000">
                    <a:solidFill>
                      <a:srgbClr val="EE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</a:rPr>
                        <a:t>XᵀX почти вырождена — решение неустойчиво</a:t>
                      </a:r>
                    </a:p>
                  </a:txBody>
                  <a:tcPr marL="110000" marR="110000">
                    <a:solidFill>
                      <a:srgbClr val="EE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43214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МЕТРИКИ КАЧЕСТВА РЕГРЕССИИ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C3B106-C1E1-45EA-BF3B-6B741ECD68B0}"/>
              </a:ext>
            </a:extLst>
          </p:cNvPr>
          <p:cNvSpPr txBox="1"/>
          <p:nvPr/>
        </p:nvSpPr>
        <p:spPr>
          <a:xfrm>
            <a:off x="1097280" y="1625601"/>
            <a:ext cx="10470605" cy="6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Метрики считаются на тестовой выборке; функция стоимости J — инструмент обучения, а не метрика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2350000"/>
          <a:ext cx="10500000" cy="3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Метрика</a:t>
                      </a:r>
                    </a:p>
                  </a:txBody>
                  <a:tcPr marL="110000" marR="110000">
                    <a:solidFill>
                      <a:srgbClr val="4E9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Формула</a:t>
                      </a:r>
                    </a:p>
                  </a:txBody>
                  <a:tcPr marL="110000" marR="110000">
                    <a:solidFill>
                      <a:srgbClr val="4E9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Как читать</a:t>
                      </a:r>
                    </a:p>
                  </a:txBody>
                  <a:tcPr marL="110000" marR="110000">
                    <a:solidFill>
                      <a:srgbClr val="4E9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62626"/>
                          </a:solidFill>
                        </a:rPr>
                        <a:t>MSE</a:t>
                      </a:r>
                    </a:p>
                  </a:txBody>
                  <a:tcPr marL="110000" marR="110000">
                    <a:solidFill>
                      <a:srgbClr val="EE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62626"/>
                          </a:solidFill>
                        </a:rPr>
                        <a:t>(1/m) · Σ(ŷ − y)²</a:t>
                      </a:r>
                    </a:p>
                  </a:txBody>
                  <a:tcPr marL="110000" marR="110000">
                    <a:solidFill>
                      <a:srgbClr val="EE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62626"/>
                          </a:solidFill>
                        </a:rPr>
                        <a:t>в квадратах единиц цели; сильно штрафует крупные ошибки</a:t>
                      </a:r>
                    </a:p>
                  </a:txBody>
                  <a:tcPr marL="110000" marR="110000">
                    <a:solidFill>
                      <a:srgbClr val="EE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62626"/>
                          </a:solidFill>
                        </a:rPr>
                        <a:t>RMSE</a:t>
                      </a:r>
                    </a:p>
                  </a:txBody>
                  <a:tcPr marL="110000" marR="1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62626"/>
                          </a:solidFill>
                        </a:rPr>
                        <a:t>√MSE</a:t>
                      </a:r>
                    </a:p>
                  </a:txBody>
                  <a:tcPr marL="110000" marR="1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62626"/>
                          </a:solidFill>
                        </a:rPr>
                        <a:t>в единицах цели (BYN): типичный размер ошибки</a:t>
                      </a:r>
                    </a:p>
                  </a:txBody>
                  <a:tcPr marL="110000" marR="11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62626"/>
                          </a:solidFill>
                        </a:rPr>
                        <a:t>MAE</a:t>
                      </a:r>
                    </a:p>
                  </a:txBody>
                  <a:tcPr marL="110000" marR="110000">
                    <a:solidFill>
                      <a:srgbClr val="EE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62626"/>
                          </a:solidFill>
                        </a:rPr>
                        <a:t>(1/m) · Σ|ŷ − y|</a:t>
                      </a:r>
                    </a:p>
                  </a:txBody>
                  <a:tcPr marL="110000" marR="110000">
                    <a:solidFill>
                      <a:srgbClr val="EE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62626"/>
                          </a:solidFill>
                        </a:rPr>
                        <a:t>в единицах цели; менее чувствительна к выбросам</a:t>
                      </a:r>
                    </a:p>
                  </a:txBody>
                  <a:tcPr marL="110000" marR="110000">
                    <a:solidFill>
                      <a:srgbClr val="EE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62626"/>
                          </a:solidFill>
                        </a:rPr>
                        <a:t>R²</a:t>
                      </a:r>
                    </a:p>
                  </a:txBody>
                  <a:tcPr marL="110000" marR="1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62626"/>
                          </a:solidFill>
                        </a:rPr>
                        <a:t>1 − Σ(y − ŷ)² / Σ(y − ȳ)²</a:t>
                      </a:r>
                    </a:p>
                  </a:txBody>
                  <a:tcPr marL="110000" marR="1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62626"/>
                          </a:solidFill>
                        </a:rPr>
                        <a:t>1 — идеально; 0 — не лучше среднего; &lt; 0 — хуже среднего</a:t>
                      </a:r>
                    </a:p>
                  </a:txBody>
                  <a:tcPr marL="110000" marR="11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43214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ПРИМЕР: КВАРТИРЫ В МИНСКЕ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C3B106-C1E1-45EA-BF3B-6B741ECD68B0}"/>
              </a:ext>
            </a:extLst>
          </p:cNvPr>
          <p:cNvSpPr txBox="1"/>
          <p:nvPr/>
        </p:nvSpPr>
        <p:spPr>
          <a:xfrm>
            <a:off x="1097280" y="1625601"/>
            <a:ext cx="5300000" cy="50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Модель по площади (29 квартир):</a:t>
            </a:r>
          </a:p>
          <a:p>
            <a:pPr marL="742950" indent="0"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2200" dirty="0">
                <a:latin typeface="Cambria Math"/>
                <a:cs typeface="Cambria Math"/>
              </a:rPr>
              <a:t>цена ≈ 6 378 + 2 653 · площадь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700" dirty="0"/>
              <a:t>каждый м² добавляет ≈ 2 650 BYN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Качество на всей выборке (для иллюстрации):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700" dirty="0"/>
              <a:t>RMSE ≈ 125 тыс. BYN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700" dirty="0"/>
              <a:t>MAE ≈ 86 тыс. BYN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700" dirty="0"/>
              <a:t>R² ≈ 0,63 — площадь объясняет ~63 % разброса цен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1800" i="1" dirty="0">
                <a:solidFill>
                  <a:srgbClr val="404040"/>
                </a:solidFill>
              </a:rPr>
              <a:t>RMSE заметно больше MAE: модель сильно ошибается на нескольких дорогих квартирах — выбросах</a:t>
            </a:r>
          </a:p>
        </p:txBody>
      </p:sp>
      <p:pic>
        <p:nvPicPr>
          <p:cNvPr id="5" name="Picture 4" descr="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000" y="1750000"/>
            <a:ext cx="5600000" cy="37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3214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ВОПРОСЫ, ВСТРЕЧАЮЩИЕСЯ НА СОБЕСЕДОВАНИЯХ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C3B106-C1E1-45EA-BF3B-6B741ECD68B0}"/>
              </a:ext>
            </a:extLst>
          </p:cNvPr>
          <p:cNvSpPr txBox="1"/>
          <p:nvPr/>
        </p:nvSpPr>
        <p:spPr>
          <a:xfrm>
            <a:off x="1097280" y="1625601"/>
            <a:ext cx="10470605" cy="515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Что такое функция стоимости и почему в линейной регрессии используют квадрат ошибки?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Как скорость обучения влияет на сходимость градиентного спуска?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Может ли градиентный спуск для линейной регрессии застрять в локальном минимуме?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Зачем масштабировать признаки перед градиентным спуском?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Когда нормальное уравнение удобнее градиентного спуска и наоборот?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Чем RMSE отличается от MAE? Что означает R² = 0?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Что такое утечка данных и как её избежать при предобработке?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Что такое мультиколлинеарность и чем она опасна?</a:t>
            </a:r>
          </a:p>
        </p:txBody>
      </p:sp>
    </p:spTree>
    <p:extLst>
      <p:ext uri="{BB962C8B-B14F-4D97-AF65-F5344CB8AC3E}">
        <p14:creationId xmlns:p14="http://schemas.microsoft.com/office/powerpoint/2010/main" val="356432143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ist_Light_Sales Pitch_03_Win32_AS_v2" id="{CF4846AB-E769-4F64-85D9-28E4AEB533C2}" vid="{4425D9ED-C4EC-465B-AB7E-72A929978A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8F4328E-77DF-41E8-952F-124AE19F1F7C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F2FE978-FCBC-4C90-A410-B547AA706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A7FA506-1E93-4CA4-B270-1F08FD18C36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Words>3018</Words>
  <Application>Microsoft Office PowerPoint</Application>
  <PresentationFormat>Широкоэкранный</PresentationFormat>
  <Paragraphs>640</Paragraphs>
  <Slides>55</Slides>
  <Notes>19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55</vt:i4>
      </vt:variant>
    </vt:vector>
  </HeadingPairs>
  <TitlesOfParts>
    <vt:vector size="62" baseType="lpstr">
      <vt:lpstr>Arial</vt:lpstr>
      <vt:lpstr>Calibri</vt:lpstr>
      <vt:lpstr>Cambria Math</vt:lpstr>
      <vt:lpstr>Consolas</vt:lpstr>
      <vt:lpstr>Verdana</vt:lpstr>
      <vt:lpstr>Wingdings</vt:lpstr>
      <vt:lpstr>RetrospectVTI</vt:lpstr>
      <vt:lpstr>НЕЙРОННЫЕ СЕТИ И МАШИННОЕ ОБУЧЕНИЕ</vt:lpstr>
      <vt:lpstr>ПРЕДСТАВЛЕНИЕ  О ДАТАСЕТЕ</vt:lpstr>
      <vt:lpstr>Презентация PowerPoint</vt:lpstr>
      <vt:lpstr>Набор обучающих данных </vt:lpstr>
      <vt:lpstr>Пример</vt:lpstr>
      <vt:lpstr>Входные векторы признаков</vt:lpstr>
      <vt:lpstr>ПРЕДВАРИТЕЛЬНАЯ ОБРАБОТКА ДАТАСЕТА</vt:lpstr>
      <vt:lpstr>ПОРЯДОК ПРЕДОБРАБОТКИ</vt:lpstr>
      <vt:lpstr>УНИФИКАЦИЯ ЗНАЧЕНИЙ</vt:lpstr>
      <vt:lpstr>ПРИВЕДЕНИЕ ТИПОВ</vt:lpstr>
      <vt:lpstr>Поиск дубликатов</vt:lpstr>
      <vt:lpstr>ОЧИСТКА ДАТАСЕТА</vt:lpstr>
      <vt:lpstr>ЗАПОЛНЕНИЕ ПРОПУСКОВ</vt:lpstr>
      <vt:lpstr>Правило 3σ</vt:lpstr>
      <vt:lpstr>Метод IQR</vt:lpstr>
      <vt:lpstr>НОРМАЛИЗАЦИЯ И ЦЕНТРИРОВАНИЕ</vt:lpstr>
      <vt:lpstr>Корреляционный анализ</vt:lpstr>
      <vt:lpstr>УТЕЧКА ДАННЫХ (DATA LEAKAGE)</vt:lpstr>
      <vt:lpstr>ПРОФИЛИРОВАНИЕ И ФОРМИРОВАНИЕ ОТЧЕТА</vt:lpstr>
      <vt:lpstr>Вопросы, встречающиеся на собеседованиях</vt:lpstr>
      <vt:lpstr>ПОИСК ХАРАКТЕРА ПРЕДПОЛАГАЕМОЙ ЗАВИСИМОСТИ В ДАННЫХ.  РЕГРЕССИОННЫЙ АНАЛИЗ</vt:lpstr>
      <vt:lpstr>Понятие машинного обучения </vt:lpstr>
      <vt:lpstr>Презентация PowerPoint</vt:lpstr>
      <vt:lpstr>Обучение с учителем</vt:lpstr>
      <vt:lpstr>Линейная регрессия</vt:lpstr>
      <vt:lpstr>h(x)</vt:lpstr>
      <vt:lpstr>h(x)</vt:lpstr>
      <vt:lpstr>h(x)</vt:lpstr>
      <vt:lpstr>h(x)</vt:lpstr>
      <vt:lpstr>ОБОЗНАЧЕНИЯ: ОТ A И B К Θ</vt:lpstr>
      <vt:lpstr>Алгоритм градиентного спуска</vt:lpstr>
      <vt:lpstr>Алгоритм градиентного спуска</vt:lpstr>
      <vt:lpstr>Алгоритм градиентного спуска</vt:lpstr>
      <vt:lpstr>Алгоритм градиентного спуска</vt:lpstr>
      <vt:lpstr>Алгоритм градиентного спуска</vt:lpstr>
      <vt:lpstr>Алгоритм градиентного спуска</vt:lpstr>
      <vt:lpstr>Алгоритм градиентного спуска</vt:lpstr>
      <vt:lpstr>Градиент </vt:lpstr>
      <vt:lpstr>Алгоритм градиентного спуска</vt:lpstr>
      <vt:lpstr>ПРОИЗВОДНЫЕ ФУНКЦИИ СТОИМОСТИ</vt:lpstr>
      <vt:lpstr>Алгоритм градиентного спуска</vt:lpstr>
      <vt:lpstr>Алгоритм градиентного спуска</vt:lpstr>
      <vt:lpstr>Пример (попадание в локальный минимум)</vt:lpstr>
      <vt:lpstr>Алгоритм градиентного спуска</vt:lpstr>
      <vt:lpstr>Алгоритм градиентного спуска</vt:lpstr>
      <vt:lpstr>ЕСТЬ ЛИ ЛОКАЛЬНЫЕ МИНИМУМЫ У ЛИНЕЙНОЙ РЕГРЕССИИ?</vt:lpstr>
      <vt:lpstr>Презентация PowerPoint</vt:lpstr>
      <vt:lpstr>Входные векторы признаков</vt:lpstr>
      <vt:lpstr>Градиентный спуск для векторов признаков</vt:lpstr>
      <vt:lpstr>МАСШТАБИРОВАНИЕ ПРИЗНАКОВ</vt:lpstr>
      <vt:lpstr>МАТРИЧНАЯ ФОРМА ЗАДАЧИ</vt:lpstr>
      <vt:lpstr>НОРМАЛЬНОЕ УРАВНЕНИЕ</vt:lpstr>
      <vt:lpstr>МЕТРИКИ КАЧЕСТВА РЕГРЕССИИ</vt:lpstr>
      <vt:lpstr>ПРИМЕР: КВАРТИРЫ В МИНСКЕ</vt:lpstr>
      <vt:lpstr>ВОПРОСЫ, ВСТРЕЧАЮЩИЕСЯ НА СОБЕСЕДОВАНИЯХ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Vlad</dc:creator>
  <cp:lastModifiedBy>V C</cp:lastModifiedBy>
  <cp:revision>4</cp:revision>
  <dcterms:created xsi:type="dcterms:W3CDTF">2020-10-08T13:09:02Z</dcterms:created>
  <dcterms:modified xsi:type="dcterms:W3CDTF">2026-10-27T18:23:56Z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