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26" r:id="rId4"/>
  </p:sldMasterIdLst>
  <p:notesMasterIdLst>
    <p:notesMasterId r:id="rId63"/>
  </p:notesMasterIdLst>
  <p:sldIdLst>
    <p:sldId id="348" r:id="rId5"/>
    <p:sldId id="349" r:id="rId6"/>
    <p:sldId id="367" r:id="rId7"/>
    <p:sldId id="368" r:id="rId8"/>
    <p:sldId id="369" r:id="rId9"/>
    <p:sldId id="457" r:id="rId10"/>
    <p:sldId id="370" r:id="rId11"/>
    <p:sldId id="460" r:id="rId12"/>
    <p:sldId id="462" r:id="rId13"/>
    <p:sldId id="404" r:id="rId14"/>
    <p:sldId id="459" r:id="rId15"/>
    <p:sldId id="453" r:id="rId16"/>
    <p:sldId id="456" r:id="rId17"/>
    <p:sldId id="466" r:id="rId18"/>
    <p:sldId id="467" r:id="rId19"/>
    <p:sldId id="463" r:id="rId20"/>
    <p:sldId id="402" r:id="rId21"/>
    <p:sldId id="464" r:id="rId22"/>
    <p:sldId id="587" r:id="rId23"/>
    <p:sldId id="403" r:id="rId24"/>
    <p:sldId id="465" r:id="rId25"/>
    <p:sldId id="461" r:id="rId26"/>
    <p:sldId id="405" r:id="rId27"/>
    <p:sldId id="406" r:id="rId28"/>
    <p:sldId id="471" r:id="rId29"/>
    <p:sldId id="468" r:id="rId30"/>
    <p:sldId id="469" r:id="rId31"/>
    <p:sldId id="600" r:id="rId32"/>
    <p:sldId id="605" r:id="rId33"/>
    <p:sldId id="434" r:id="rId34"/>
    <p:sldId id="408" r:id="rId35"/>
    <p:sldId id="447" r:id="rId36"/>
    <p:sldId id="473" r:id="rId37"/>
    <p:sldId id="591" r:id="rId38"/>
    <p:sldId id="603" r:id="rId39"/>
    <p:sldId id="454" r:id="rId40"/>
    <p:sldId id="431" r:id="rId41"/>
    <p:sldId id="432" r:id="rId42"/>
    <p:sldId id="606" r:id="rId43"/>
    <p:sldId id="508" r:id="rId44"/>
    <p:sldId id="511" r:id="rId45"/>
    <p:sldId id="512" r:id="rId46"/>
    <p:sldId id="535" r:id="rId47"/>
    <p:sldId id="602" r:id="rId48"/>
    <p:sldId id="541" r:id="rId49"/>
    <p:sldId id="572" r:id="rId50"/>
    <p:sldId id="595" r:id="rId51"/>
    <p:sldId id="596" r:id="rId52"/>
    <p:sldId id="472" r:id="rId53"/>
    <p:sldId id="421" r:id="rId54"/>
    <p:sldId id="598" r:id="rId55"/>
    <p:sldId id="574" r:id="rId56"/>
    <p:sldId id="439" r:id="rId57"/>
    <p:sldId id="593" r:id="rId58"/>
    <p:sldId id="594" r:id="rId59"/>
    <p:sldId id="474" r:id="rId60"/>
    <p:sldId id="599" r:id="rId61"/>
    <p:sldId id="604"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0000"/>
    <a:srgbClr val="8AB833"/>
    <a:srgbClr val="02A884"/>
    <a:srgbClr val="233028"/>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6379" autoAdjust="0"/>
  </p:normalViewPr>
  <p:slideViewPr>
    <p:cSldViewPr snapToGrid="0">
      <p:cViewPr varScale="1">
        <p:scale>
          <a:sx n="78" d="100"/>
          <a:sy n="78" d="100"/>
        </p:scale>
        <p:origin x="17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ADB2A3-F52D-4FD1-8D3B-092E143BE3EA}" type="doc">
      <dgm:prSet loTypeId="urn:microsoft.com/office/officeart/2005/8/layout/vList2" loCatId="list" qsTypeId="urn:microsoft.com/office/officeart/2005/8/quickstyle/3d3" qsCatId="3D" csTypeId="urn:microsoft.com/office/officeart/2005/8/colors/colorful5" csCatId="colorful" phldr="1"/>
      <dgm:spPr/>
      <dgm:t>
        <a:bodyPr/>
        <a:lstStyle/>
        <a:p>
          <a:endParaRPr lang="en-US"/>
        </a:p>
      </dgm:t>
    </dgm:pt>
    <dgm:pt modelId="{09546A58-1A64-4204-8C66-A91CB34CF0E1}">
      <dgm:prSet custT="1"/>
      <dgm:spPr/>
      <dgm:t>
        <a:bodyPr/>
        <a:lstStyle/>
        <a:p>
          <a:pPr algn="ctr"/>
          <a:r>
            <a:rPr lang="ru-RU" sz="1400" dirty="0" err="1">
              <a:latin typeface="Times New Roman" panose="02020603050405020304" pitchFamily="18" charset="0"/>
              <a:cs typeface="Times New Roman" panose="02020603050405020304" pitchFamily="18" charset="0"/>
            </a:rPr>
            <a:t>Токенизация</a:t>
          </a:r>
          <a:r>
            <a:rPr lang="ru-RU" sz="1400" dirty="0">
              <a:latin typeface="Times New Roman" panose="02020603050405020304" pitchFamily="18" charset="0"/>
              <a:cs typeface="Times New Roman" panose="02020603050405020304" pitchFamily="18" charset="0"/>
            </a:rPr>
            <a:t> - разбиение длинных участков текста на более мелкие (абзацы, предложения, слова). </a:t>
          </a:r>
        </a:p>
        <a:p>
          <a:pPr algn="ctr"/>
          <a:r>
            <a:rPr lang="ru-RU" sz="1400" dirty="0">
              <a:latin typeface="Times New Roman" panose="02020603050405020304" pitchFamily="18" charset="0"/>
              <a:cs typeface="Times New Roman" panose="02020603050405020304" pitchFamily="18" charset="0"/>
            </a:rPr>
            <a:t>(</a:t>
          </a:r>
          <a:r>
            <a:rPr lang="ru-RU" sz="1400" b="0" i="0" baseline="0" dirty="0" err="1">
              <a:latin typeface="Times New Roman" panose="02020603050405020304" pitchFamily="18" charset="0"/>
              <a:cs typeface="Times New Roman" panose="02020603050405020304" pitchFamily="18" charset="0"/>
            </a:rPr>
            <a:t>nltk.sent_tokenize</a:t>
          </a:r>
          <a:r>
            <a:rPr lang="ru-RU" sz="1400" dirty="0">
              <a:latin typeface="Times New Roman" panose="02020603050405020304" pitchFamily="18" charset="0"/>
              <a:cs typeface="Times New Roman" panose="02020603050405020304" pitchFamily="18" charset="0"/>
            </a:rPr>
            <a:t>, </a:t>
          </a:r>
          <a:r>
            <a:rPr lang="ru-RU" sz="1400" b="0" i="0" baseline="0" dirty="0" err="1">
              <a:latin typeface="Times New Roman" panose="02020603050405020304" pitchFamily="18" charset="0"/>
              <a:cs typeface="Times New Roman" panose="02020603050405020304" pitchFamily="18" charset="0"/>
            </a:rPr>
            <a:t>nltk.word_tokenize</a:t>
          </a:r>
          <a:r>
            <a:rPr lang="ru-RU" sz="1400" b="0" i="0" baseline="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dgm:t>
    </dgm:pt>
    <dgm:pt modelId="{D2D791DF-5E0A-4438-B060-2A9BA5EEF669}" type="parTrans" cxnId="{36A2BE42-42A0-49AF-9B29-CAFF7B22ACCC}">
      <dgm:prSet/>
      <dgm:spPr/>
      <dgm:t>
        <a:bodyPr/>
        <a:lstStyle/>
        <a:p>
          <a:endParaRPr lang="en-US"/>
        </a:p>
      </dgm:t>
    </dgm:pt>
    <dgm:pt modelId="{4FB37044-EBF0-487F-86A8-099BE34DD530}" type="sibTrans" cxnId="{36A2BE42-42A0-49AF-9B29-CAFF7B22ACCC}">
      <dgm:prSet phldrT="1"/>
      <dgm:spPr/>
      <dgm:t>
        <a:bodyPr/>
        <a:lstStyle/>
        <a:p>
          <a:endParaRPr lang="en-US"/>
        </a:p>
      </dgm:t>
    </dgm:pt>
    <dgm:pt modelId="{B35708D6-56DE-4515-A991-2CCFD5F4FA4C}">
      <dgm:prSet custT="1"/>
      <dgm:spPr/>
      <dgm:t>
        <a:bodyPr/>
        <a:lstStyle/>
        <a:p>
          <a:r>
            <a:rPr lang="ru-RU" sz="1400" dirty="0">
              <a:latin typeface="Times New Roman" panose="02020603050405020304" pitchFamily="18" charset="0"/>
              <a:cs typeface="Times New Roman" panose="02020603050405020304" pitchFamily="18" charset="0"/>
            </a:rPr>
            <a:t>Удаление коротких слов, специальных символов и данных (</a:t>
          </a:r>
          <a:r>
            <a:rPr lang="en-US" sz="1400" dirty="0">
              <a:latin typeface="Times New Roman" panose="02020603050405020304" pitchFamily="18" charset="0"/>
              <a:cs typeface="Times New Roman" panose="02020603050405020304" pitchFamily="18" charset="0"/>
            </a:rPr>
            <a:t>URL, </a:t>
          </a:r>
          <a:r>
            <a:rPr lang="ru-RU" sz="1400" dirty="0">
              <a:latin typeface="Times New Roman" panose="02020603050405020304" pitchFamily="18" charset="0"/>
              <a:cs typeface="Times New Roman" panose="02020603050405020304" pitchFamily="18" charset="0"/>
            </a:rPr>
            <a:t>хэш-тэги, имя пользователя и т.д.)</a:t>
          </a:r>
          <a:endParaRPr lang="en-US" sz="1400" dirty="0">
            <a:latin typeface="Times New Roman" panose="02020603050405020304" pitchFamily="18" charset="0"/>
            <a:cs typeface="Times New Roman" panose="02020603050405020304" pitchFamily="18" charset="0"/>
          </a:endParaRPr>
        </a:p>
      </dgm:t>
    </dgm:pt>
    <dgm:pt modelId="{FB62231A-7CEC-423A-A339-E3438CB3AD26}" type="parTrans" cxnId="{9E230A42-18A4-4932-BDAF-54E3F91177AF}">
      <dgm:prSet/>
      <dgm:spPr/>
      <dgm:t>
        <a:bodyPr/>
        <a:lstStyle/>
        <a:p>
          <a:endParaRPr lang="en-US"/>
        </a:p>
      </dgm:t>
    </dgm:pt>
    <dgm:pt modelId="{78AD99D9-3EF9-4555-BF19-BAE9A77E9726}" type="sibTrans" cxnId="{9E230A42-18A4-4932-BDAF-54E3F91177AF}">
      <dgm:prSet phldrT="2"/>
      <dgm:spPr/>
      <dgm:t>
        <a:bodyPr/>
        <a:lstStyle/>
        <a:p>
          <a:endParaRPr lang="en-US"/>
        </a:p>
      </dgm:t>
    </dgm:pt>
    <dgm:pt modelId="{D8FE8C2E-EFEF-431A-A473-F015194D358B}">
      <dgm:prSet custT="1"/>
      <dgm:spPr/>
      <dgm:t>
        <a:bodyPr/>
        <a:lstStyle/>
        <a:p>
          <a:r>
            <a:rPr lang="ru-RU" sz="1400" dirty="0" err="1">
              <a:latin typeface="Times New Roman" panose="02020603050405020304" pitchFamily="18" charset="0"/>
              <a:cs typeface="Times New Roman" panose="02020603050405020304" pitchFamily="18" charset="0"/>
            </a:rPr>
            <a:t>Стеммизация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стемминг</a:t>
          </a:r>
          <a:r>
            <a:rPr lang="ru-RU" sz="1400" dirty="0">
              <a:latin typeface="Times New Roman" panose="02020603050405020304" pitchFamily="18" charset="0"/>
              <a:cs typeface="Times New Roman" panose="02020603050405020304" pitchFamily="18" charset="0"/>
            </a:rPr>
            <a:t>) - приведение слова к его корню путем устранения придатков (суффикса, приставки, окончания)</a:t>
          </a:r>
          <a:endParaRPr lang="en-US" sz="1400" dirty="0">
            <a:latin typeface="Times New Roman" panose="02020603050405020304" pitchFamily="18" charset="0"/>
            <a:cs typeface="Times New Roman" panose="02020603050405020304" pitchFamily="18" charset="0"/>
          </a:endParaRPr>
        </a:p>
      </dgm:t>
    </dgm:pt>
    <dgm:pt modelId="{02EC37BF-9F3A-49B4-B8EA-AA36A49B16C9}" type="parTrans" cxnId="{51E22B85-B07D-44C4-B31D-B8B5278FFF6D}">
      <dgm:prSet/>
      <dgm:spPr/>
      <dgm:t>
        <a:bodyPr/>
        <a:lstStyle/>
        <a:p>
          <a:endParaRPr lang="en-US"/>
        </a:p>
      </dgm:t>
    </dgm:pt>
    <dgm:pt modelId="{7472E4A9-A457-4820-947F-10FED42F0C4A}" type="sibTrans" cxnId="{51E22B85-B07D-44C4-B31D-B8B5278FFF6D}">
      <dgm:prSet phldrT="3"/>
      <dgm:spPr/>
      <dgm:t>
        <a:bodyPr/>
        <a:lstStyle/>
        <a:p>
          <a:endParaRPr lang="en-US"/>
        </a:p>
      </dgm:t>
    </dgm:pt>
    <dgm:pt modelId="{22259689-979E-49F5-BD37-FA7D07C2964F}">
      <dgm:prSet custT="1"/>
      <dgm:spPr/>
      <dgm:t>
        <a:bodyPr/>
        <a:lstStyle/>
        <a:p>
          <a:r>
            <a:rPr lang="ru-RU" sz="1400" dirty="0" err="1">
              <a:latin typeface="Times New Roman" panose="02020603050405020304" pitchFamily="18" charset="0"/>
              <a:cs typeface="Times New Roman" panose="02020603050405020304" pitchFamily="18" charset="0"/>
            </a:rPr>
            <a:t>Лемматизация</a:t>
          </a:r>
          <a:r>
            <a:rPr lang="ru-RU" sz="1400" dirty="0">
              <a:latin typeface="Times New Roman" panose="02020603050405020304" pitchFamily="18" charset="0"/>
              <a:cs typeface="Times New Roman" panose="02020603050405020304" pitchFamily="18" charset="0"/>
            </a:rPr>
            <a:t> - приведение слова к смысловой канонической форме слова (инфинитив для глагола, именительный падеж единственного числа — для существительных и прилагательных). </a:t>
          </a:r>
          <a:endParaRPr lang="en-US" sz="1400" dirty="0">
            <a:latin typeface="Times New Roman" panose="02020603050405020304" pitchFamily="18" charset="0"/>
            <a:cs typeface="Times New Roman" panose="02020603050405020304" pitchFamily="18" charset="0"/>
          </a:endParaRPr>
        </a:p>
      </dgm:t>
    </dgm:pt>
    <dgm:pt modelId="{E09B99AB-074B-43D1-A664-75037742F254}" type="parTrans" cxnId="{B39B40F3-BF00-44FA-9B06-CB3EC85099B4}">
      <dgm:prSet/>
      <dgm:spPr/>
      <dgm:t>
        <a:bodyPr/>
        <a:lstStyle/>
        <a:p>
          <a:endParaRPr lang="en-US"/>
        </a:p>
      </dgm:t>
    </dgm:pt>
    <dgm:pt modelId="{C8545CE7-B875-4F0A-856C-F838A1659CEF}" type="sibTrans" cxnId="{B39B40F3-BF00-44FA-9B06-CB3EC85099B4}">
      <dgm:prSet phldrT="4"/>
      <dgm:spPr/>
      <dgm:t>
        <a:bodyPr/>
        <a:lstStyle/>
        <a:p>
          <a:endParaRPr lang="en-US"/>
        </a:p>
      </dgm:t>
    </dgm:pt>
    <dgm:pt modelId="{69BCBB91-FDFE-4449-BC61-68B7A28E20A0}">
      <dgm:prSet custT="1"/>
      <dgm:spPr/>
      <dgm:t>
        <a:bodyPr/>
        <a:lstStyle/>
        <a:p>
          <a:r>
            <a:rPr lang="ru-RU" sz="1400" dirty="0">
              <a:latin typeface="Times New Roman" panose="02020603050405020304" pitchFamily="18" charset="0"/>
              <a:cs typeface="Times New Roman" panose="02020603050405020304" pitchFamily="18" charset="0"/>
            </a:rPr>
            <a:t>Удаление стоп-слов – удаление слов, которые не несут смысловой нагрузки (артикли, междометья, союзы, предлоги и т.д.).</a:t>
          </a:r>
          <a:endParaRPr lang="en-US" sz="1400" dirty="0">
            <a:latin typeface="Times New Roman" panose="02020603050405020304" pitchFamily="18" charset="0"/>
            <a:cs typeface="Times New Roman" panose="02020603050405020304" pitchFamily="18" charset="0"/>
          </a:endParaRPr>
        </a:p>
      </dgm:t>
    </dgm:pt>
    <dgm:pt modelId="{3FA11F48-4E36-4023-99ED-45BB23FE720A}" type="parTrans" cxnId="{EA9F3AE6-B073-4FFD-B587-3017B264C677}">
      <dgm:prSet/>
      <dgm:spPr/>
      <dgm:t>
        <a:bodyPr/>
        <a:lstStyle/>
        <a:p>
          <a:endParaRPr lang="en-US"/>
        </a:p>
      </dgm:t>
    </dgm:pt>
    <dgm:pt modelId="{711C070E-F7E5-4BEE-8184-4599F50EA726}" type="sibTrans" cxnId="{EA9F3AE6-B073-4FFD-B587-3017B264C677}">
      <dgm:prSet phldrT="5"/>
      <dgm:spPr/>
      <dgm:t>
        <a:bodyPr/>
        <a:lstStyle/>
        <a:p>
          <a:endParaRPr lang="en-US"/>
        </a:p>
      </dgm:t>
    </dgm:pt>
    <dgm:pt modelId="{930F4B54-435E-498E-BECA-F0ED0DEEBDFD}">
      <dgm:prSet custT="1"/>
      <dgm:spPr/>
      <dgm:t>
        <a:bodyPr/>
        <a:lstStyle/>
        <a:p>
          <a:r>
            <a:rPr lang="ru-RU" sz="1400" dirty="0">
              <a:latin typeface="Times New Roman" panose="02020603050405020304" pitchFamily="18" charset="0"/>
              <a:cs typeface="Times New Roman" panose="02020603050405020304" pitchFamily="18" charset="0"/>
            </a:rPr>
            <a:t>Приведение к одному регистру и замена специальных символов</a:t>
          </a:r>
          <a:endParaRPr lang="en-US" sz="1400" dirty="0">
            <a:latin typeface="Times New Roman" panose="02020603050405020304" pitchFamily="18" charset="0"/>
            <a:cs typeface="Times New Roman" panose="02020603050405020304" pitchFamily="18" charset="0"/>
          </a:endParaRPr>
        </a:p>
      </dgm:t>
    </dgm:pt>
    <dgm:pt modelId="{E1046A86-C520-4C16-9C07-00ECC00F4CB7}" type="parTrans" cxnId="{F5A4A92A-304A-492D-9EFD-9DFF0BEB9380}">
      <dgm:prSet/>
      <dgm:spPr/>
      <dgm:t>
        <a:bodyPr/>
        <a:lstStyle/>
        <a:p>
          <a:endParaRPr lang="en-US"/>
        </a:p>
      </dgm:t>
    </dgm:pt>
    <dgm:pt modelId="{B2F0C5CC-863F-4037-B7B6-1093CCFB6ADA}" type="sibTrans" cxnId="{F5A4A92A-304A-492D-9EFD-9DFF0BEB9380}">
      <dgm:prSet phldrT="6"/>
      <dgm:spPr/>
      <dgm:t>
        <a:bodyPr/>
        <a:lstStyle/>
        <a:p>
          <a:endParaRPr lang="en-US"/>
        </a:p>
      </dgm:t>
    </dgm:pt>
    <dgm:pt modelId="{00CA08AE-1689-43FE-BBB3-6D54D7C65AE5}" type="pres">
      <dgm:prSet presAssocID="{54ADB2A3-F52D-4FD1-8D3B-092E143BE3EA}" presName="linear" presStyleCnt="0">
        <dgm:presLayoutVars>
          <dgm:animLvl val="lvl"/>
          <dgm:resizeHandles val="exact"/>
        </dgm:presLayoutVars>
      </dgm:prSet>
      <dgm:spPr/>
    </dgm:pt>
    <dgm:pt modelId="{1D3E0989-9F6C-4812-ACA3-EF5FF31F41D4}" type="pres">
      <dgm:prSet presAssocID="{09546A58-1A64-4204-8C66-A91CB34CF0E1}" presName="parentText" presStyleLbl="node1" presStyleIdx="0" presStyleCnt="6">
        <dgm:presLayoutVars>
          <dgm:chMax val="0"/>
          <dgm:bulletEnabled val="1"/>
        </dgm:presLayoutVars>
      </dgm:prSet>
      <dgm:spPr/>
    </dgm:pt>
    <dgm:pt modelId="{2416B2D7-1EC0-4F26-99BD-578937AAEBD1}" type="pres">
      <dgm:prSet presAssocID="{4FB37044-EBF0-487F-86A8-099BE34DD530}" presName="spacer" presStyleCnt="0"/>
      <dgm:spPr/>
    </dgm:pt>
    <dgm:pt modelId="{499B90A8-946E-4E4D-9F88-7C666DDECE54}" type="pres">
      <dgm:prSet presAssocID="{B35708D6-56DE-4515-A991-2CCFD5F4FA4C}" presName="parentText" presStyleLbl="node1" presStyleIdx="1" presStyleCnt="6">
        <dgm:presLayoutVars>
          <dgm:chMax val="0"/>
          <dgm:bulletEnabled val="1"/>
        </dgm:presLayoutVars>
      </dgm:prSet>
      <dgm:spPr/>
    </dgm:pt>
    <dgm:pt modelId="{88D4EF84-F9CD-4661-A1D0-00EADF34C93B}" type="pres">
      <dgm:prSet presAssocID="{78AD99D9-3EF9-4555-BF19-BAE9A77E9726}" presName="spacer" presStyleCnt="0"/>
      <dgm:spPr/>
    </dgm:pt>
    <dgm:pt modelId="{FAF6643B-0F8B-4E9F-A7D3-8958D4BC0FB2}" type="pres">
      <dgm:prSet presAssocID="{D8FE8C2E-EFEF-431A-A473-F015194D358B}" presName="parentText" presStyleLbl="node1" presStyleIdx="2" presStyleCnt="6">
        <dgm:presLayoutVars>
          <dgm:chMax val="0"/>
          <dgm:bulletEnabled val="1"/>
        </dgm:presLayoutVars>
      </dgm:prSet>
      <dgm:spPr/>
    </dgm:pt>
    <dgm:pt modelId="{469D98C0-7FC4-4B72-90DF-7834D940026B}" type="pres">
      <dgm:prSet presAssocID="{7472E4A9-A457-4820-947F-10FED42F0C4A}" presName="spacer" presStyleCnt="0"/>
      <dgm:spPr/>
    </dgm:pt>
    <dgm:pt modelId="{13744F52-5CD3-4789-9F05-CD8D607C101B}" type="pres">
      <dgm:prSet presAssocID="{22259689-979E-49F5-BD37-FA7D07C2964F}" presName="parentText" presStyleLbl="node1" presStyleIdx="3" presStyleCnt="6">
        <dgm:presLayoutVars>
          <dgm:chMax val="0"/>
          <dgm:bulletEnabled val="1"/>
        </dgm:presLayoutVars>
      </dgm:prSet>
      <dgm:spPr/>
    </dgm:pt>
    <dgm:pt modelId="{9A9B60CD-AE8D-45C3-A46E-3C0DC3551883}" type="pres">
      <dgm:prSet presAssocID="{C8545CE7-B875-4F0A-856C-F838A1659CEF}" presName="spacer" presStyleCnt="0"/>
      <dgm:spPr/>
    </dgm:pt>
    <dgm:pt modelId="{2AA2383D-C345-486C-83C3-F7A81C7B262D}" type="pres">
      <dgm:prSet presAssocID="{69BCBB91-FDFE-4449-BC61-68B7A28E20A0}" presName="parentText" presStyleLbl="node1" presStyleIdx="4" presStyleCnt="6">
        <dgm:presLayoutVars>
          <dgm:chMax val="0"/>
          <dgm:bulletEnabled val="1"/>
        </dgm:presLayoutVars>
      </dgm:prSet>
      <dgm:spPr/>
    </dgm:pt>
    <dgm:pt modelId="{652471C1-3BB7-4FB1-A15D-09F9C46D236F}" type="pres">
      <dgm:prSet presAssocID="{711C070E-F7E5-4BEE-8184-4599F50EA726}" presName="spacer" presStyleCnt="0"/>
      <dgm:spPr/>
    </dgm:pt>
    <dgm:pt modelId="{22870DB7-C8E8-4868-91A1-CB86A81B0CC3}" type="pres">
      <dgm:prSet presAssocID="{930F4B54-435E-498E-BECA-F0ED0DEEBDFD}" presName="parentText" presStyleLbl="node1" presStyleIdx="5" presStyleCnt="6">
        <dgm:presLayoutVars>
          <dgm:chMax val="0"/>
          <dgm:bulletEnabled val="1"/>
        </dgm:presLayoutVars>
      </dgm:prSet>
      <dgm:spPr/>
    </dgm:pt>
  </dgm:ptLst>
  <dgm:cxnLst>
    <dgm:cxn modelId="{F5A4A92A-304A-492D-9EFD-9DFF0BEB9380}" srcId="{54ADB2A3-F52D-4FD1-8D3B-092E143BE3EA}" destId="{930F4B54-435E-498E-BECA-F0ED0DEEBDFD}" srcOrd="5" destOrd="0" parTransId="{E1046A86-C520-4C16-9C07-00ECC00F4CB7}" sibTransId="{B2F0C5CC-863F-4037-B7B6-1093CCFB6ADA}"/>
    <dgm:cxn modelId="{9E230A42-18A4-4932-BDAF-54E3F91177AF}" srcId="{54ADB2A3-F52D-4FD1-8D3B-092E143BE3EA}" destId="{B35708D6-56DE-4515-A991-2CCFD5F4FA4C}" srcOrd="1" destOrd="0" parTransId="{FB62231A-7CEC-423A-A339-E3438CB3AD26}" sibTransId="{78AD99D9-3EF9-4555-BF19-BAE9A77E9726}"/>
    <dgm:cxn modelId="{36A2BE42-42A0-49AF-9B29-CAFF7B22ACCC}" srcId="{54ADB2A3-F52D-4FD1-8D3B-092E143BE3EA}" destId="{09546A58-1A64-4204-8C66-A91CB34CF0E1}" srcOrd="0" destOrd="0" parTransId="{D2D791DF-5E0A-4438-B060-2A9BA5EEF669}" sibTransId="{4FB37044-EBF0-487F-86A8-099BE34DD530}"/>
    <dgm:cxn modelId="{A0014B70-A27F-496B-9527-5578C2B58F01}" type="presOf" srcId="{B35708D6-56DE-4515-A991-2CCFD5F4FA4C}" destId="{499B90A8-946E-4E4D-9F88-7C666DDECE54}" srcOrd="0" destOrd="0" presId="urn:microsoft.com/office/officeart/2005/8/layout/vList2"/>
    <dgm:cxn modelId="{4444A050-4B1E-4EF0-91D7-CB00ACFB3F35}" type="presOf" srcId="{930F4B54-435E-498E-BECA-F0ED0DEEBDFD}" destId="{22870DB7-C8E8-4868-91A1-CB86A81B0CC3}" srcOrd="0" destOrd="0" presId="urn:microsoft.com/office/officeart/2005/8/layout/vList2"/>
    <dgm:cxn modelId="{51E22B85-B07D-44C4-B31D-B8B5278FFF6D}" srcId="{54ADB2A3-F52D-4FD1-8D3B-092E143BE3EA}" destId="{D8FE8C2E-EFEF-431A-A473-F015194D358B}" srcOrd="2" destOrd="0" parTransId="{02EC37BF-9F3A-49B4-B8EA-AA36A49B16C9}" sibTransId="{7472E4A9-A457-4820-947F-10FED42F0C4A}"/>
    <dgm:cxn modelId="{AE4F0186-109E-459B-9398-B53548731DD4}" type="presOf" srcId="{D8FE8C2E-EFEF-431A-A473-F015194D358B}" destId="{FAF6643B-0F8B-4E9F-A7D3-8958D4BC0FB2}" srcOrd="0" destOrd="0" presId="urn:microsoft.com/office/officeart/2005/8/layout/vList2"/>
    <dgm:cxn modelId="{93D9D38E-8E48-4918-83A0-AAEF2C1C1A05}" type="presOf" srcId="{69BCBB91-FDFE-4449-BC61-68B7A28E20A0}" destId="{2AA2383D-C345-486C-83C3-F7A81C7B262D}" srcOrd="0" destOrd="0" presId="urn:microsoft.com/office/officeart/2005/8/layout/vList2"/>
    <dgm:cxn modelId="{6736E4B6-1DCC-48CC-AA02-912777096785}" type="presOf" srcId="{09546A58-1A64-4204-8C66-A91CB34CF0E1}" destId="{1D3E0989-9F6C-4812-ACA3-EF5FF31F41D4}" srcOrd="0" destOrd="0" presId="urn:microsoft.com/office/officeart/2005/8/layout/vList2"/>
    <dgm:cxn modelId="{4AAE66C3-FC52-4CAD-887B-2EF8FBB16C72}" type="presOf" srcId="{54ADB2A3-F52D-4FD1-8D3B-092E143BE3EA}" destId="{00CA08AE-1689-43FE-BBB3-6D54D7C65AE5}" srcOrd="0" destOrd="0" presId="urn:microsoft.com/office/officeart/2005/8/layout/vList2"/>
    <dgm:cxn modelId="{FED417D1-6EF2-4733-8C11-61A38A6F26C3}" type="presOf" srcId="{22259689-979E-49F5-BD37-FA7D07C2964F}" destId="{13744F52-5CD3-4789-9F05-CD8D607C101B}" srcOrd="0" destOrd="0" presId="urn:microsoft.com/office/officeart/2005/8/layout/vList2"/>
    <dgm:cxn modelId="{EA9F3AE6-B073-4FFD-B587-3017B264C677}" srcId="{54ADB2A3-F52D-4FD1-8D3B-092E143BE3EA}" destId="{69BCBB91-FDFE-4449-BC61-68B7A28E20A0}" srcOrd="4" destOrd="0" parTransId="{3FA11F48-4E36-4023-99ED-45BB23FE720A}" sibTransId="{711C070E-F7E5-4BEE-8184-4599F50EA726}"/>
    <dgm:cxn modelId="{B39B40F3-BF00-44FA-9B06-CB3EC85099B4}" srcId="{54ADB2A3-F52D-4FD1-8D3B-092E143BE3EA}" destId="{22259689-979E-49F5-BD37-FA7D07C2964F}" srcOrd="3" destOrd="0" parTransId="{E09B99AB-074B-43D1-A664-75037742F254}" sibTransId="{C8545CE7-B875-4F0A-856C-F838A1659CEF}"/>
    <dgm:cxn modelId="{116566FD-5D81-43B4-9C86-D493C6E171A1}" type="presParOf" srcId="{00CA08AE-1689-43FE-BBB3-6D54D7C65AE5}" destId="{1D3E0989-9F6C-4812-ACA3-EF5FF31F41D4}" srcOrd="0" destOrd="0" presId="urn:microsoft.com/office/officeart/2005/8/layout/vList2"/>
    <dgm:cxn modelId="{EEE5F21B-B396-47A2-9092-E1A893386299}" type="presParOf" srcId="{00CA08AE-1689-43FE-BBB3-6D54D7C65AE5}" destId="{2416B2D7-1EC0-4F26-99BD-578937AAEBD1}" srcOrd="1" destOrd="0" presId="urn:microsoft.com/office/officeart/2005/8/layout/vList2"/>
    <dgm:cxn modelId="{19206DE3-B920-41D3-8738-8F41D7241743}" type="presParOf" srcId="{00CA08AE-1689-43FE-BBB3-6D54D7C65AE5}" destId="{499B90A8-946E-4E4D-9F88-7C666DDECE54}" srcOrd="2" destOrd="0" presId="urn:microsoft.com/office/officeart/2005/8/layout/vList2"/>
    <dgm:cxn modelId="{F41505C2-B1C2-42C5-ABD2-6D0C5DF96394}" type="presParOf" srcId="{00CA08AE-1689-43FE-BBB3-6D54D7C65AE5}" destId="{88D4EF84-F9CD-4661-A1D0-00EADF34C93B}" srcOrd="3" destOrd="0" presId="urn:microsoft.com/office/officeart/2005/8/layout/vList2"/>
    <dgm:cxn modelId="{5AD05EC3-D154-450B-9CF8-3A58CFB389D3}" type="presParOf" srcId="{00CA08AE-1689-43FE-BBB3-6D54D7C65AE5}" destId="{FAF6643B-0F8B-4E9F-A7D3-8958D4BC0FB2}" srcOrd="4" destOrd="0" presId="urn:microsoft.com/office/officeart/2005/8/layout/vList2"/>
    <dgm:cxn modelId="{FDF22450-F5C2-4B16-A40E-9D1C3F48941A}" type="presParOf" srcId="{00CA08AE-1689-43FE-BBB3-6D54D7C65AE5}" destId="{469D98C0-7FC4-4B72-90DF-7834D940026B}" srcOrd="5" destOrd="0" presId="urn:microsoft.com/office/officeart/2005/8/layout/vList2"/>
    <dgm:cxn modelId="{B2B70FDF-B2F5-4CC5-8CD1-54CE6CB2AA2D}" type="presParOf" srcId="{00CA08AE-1689-43FE-BBB3-6D54D7C65AE5}" destId="{13744F52-5CD3-4789-9F05-CD8D607C101B}" srcOrd="6" destOrd="0" presId="urn:microsoft.com/office/officeart/2005/8/layout/vList2"/>
    <dgm:cxn modelId="{2A211482-28B4-453A-9E3C-71ADEA235DB5}" type="presParOf" srcId="{00CA08AE-1689-43FE-BBB3-6D54D7C65AE5}" destId="{9A9B60CD-AE8D-45C3-A46E-3C0DC3551883}" srcOrd="7" destOrd="0" presId="urn:microsoft.com/office/officeart/2005/8/layout/vList2"/>
    <dgm:cxn modelId="{590B7AB2-47FB-4545-80E9-B1F4C79E83FE}" type="presParOf" srcId="{00CA08AE-1689-43FE-BBB3-6D54D7C65AE5}" destId="{2AA2383D-C345-486C-83C3-F7A81C7B262D}" srcOrd="8" destOrd="0" presId="urn:microsoft.com/office/officeart/2005/8/layout/vList2"/>
    <dgm:cxn modelId="{4A0C85B2-73FA-4BFB-9D41-5008EC7BA761}" type="presParOf" srcId="{00CA08AE-1689-43FE-BBB3-6D54D7C65AE5}" destId="{652471C1-3BB7-4FB1-A15D-09F9C46D236F}" srcOrd="9" destOrd="0" presId="urn:microsoft.com/office/officeart/2005/8/layout/vList2"/>
    <dgm:cxn modelId="{6674232E-9774-405E-BA1A-0CA48C5F291A}" type="presParOf" srcId="{00CA08AE-1689-43FE-BBB3-6D54D7C65AE5}" destId="{22870DB7-C8E8-4868-91A1-CB86A81B0CC3}"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55DD83-F802-4B8D-ADD1-BCAEB459E82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ru-RU"/>
        </a:p>
      </dgm:t>
    </dgm:pt>
    <dgm:pt modelId="{A2E06939-154B-4837-A4EB-3D0B024F5AD3}">
      <dgm:prSet phldrT="[Текст]"/>
      <dgm:spPr/>
      <dgm:t>
        <a:bodyPr/>
        <a:lstStyle/>
        <a:p>
          <a:r>
            <a:rPr lang="ru-RU" dirty="0"/>
            <a:t>Без сжатия</a:t>
          </a:r>
        </a:p>
      </dgm:t>
    </dgm:pt>
    <dgm:pt modelId="{170E14E4-6FCB-4ACF-A51E-D298C2BE19F1}" type="parTrans" cxnId="{49D2BE4E-26E6-4E19-9350-EA4CF9C83CD6}">
      <dgm:prSet/>
      <dgm:spPr/>
      <dgm:t>
        <a:bodyPr/>
        <a:lstStyle/>
        <a:p>
          <a:endParaRPr lang="ru-RU"/>
        </a:p>
      </dgm:t>
    </dgm:pt>
    <dgm:pt modelId="{EF974E76-32E0-42F4-9F9B-ED6880149EB5}" type="sibTrans" cxnId="{49D2BE4E-26E6-4E19-9350-EA4CF9C83CD6}">
      <dgm:prSet/>
      <dgm:spPr/>
      <dgm:t>
        <a:bodyPr/>
        <a:lstStyle/>
        <a:p>
          <a:endParaRPr lang="ru-RU"/>
        </a:p>
      </dgm:t>
    </dgm:pt>
    <dgm:pt modelId="{45CAE9CE-1E54-4214-A393-048718D96B35}">
      <dgm:prSet phldrT="[Текст]"/>
      <dgm:spPr/>
      <dgm:t>
        <a:bodyPr/>
        <a:lstStyle/>
        <a:p>
          <a:r>
            <a:rPr lang="en-US" dirty="0"/>
            <a:t>RAW</a:t>
          </a:r>
          <a:endParaRPr lang="ru-RU" dirty="0"/>
        </a:p>
      </dgm:t>
    </dgm:pt>
    <dgm:pt modelId="{42CFC8AB-17D2-4DF0-988D-9728109AC8EC}" type="parTrans" cxnId="{B1E9B220-40AB-44CB-AE81-28DBEDFE44C7}">
      <dgm:prSet/>
      <dgm:spPr/>
      <dgm:t>
        <a:bodyPr/>
        <a:lstStyle/>
        <a:p>
          <a:endParaRPr lang="ru-RU"/>
        </a:p>
      </dgm:t>
    </dgm:pt>
    <dgm:pt modelId="{0E5AFAC7-17FE-4A89-BEBD-A137B7761F4A}" type="sibTrans" cxnId="{B1E9B220-40AB-44CB-AE81-28DBEDFE44C7}">
      <dgm:prSet/>
      <dgm:spPr/>
      <dgm:t>
        <a:bodyPr/>
        <a:lstStyle/>
        <a:p>
          <a:endParaRPr lang="ru-RU"/>
        </a:p>
      </dgm:t>
    </dgm:pt>
    <dgm:pt modelId="{F0E3E99F-427F-4D89-8EB6-8109373E69C1}">
      <dgm:prSet phldrT="[Текст]"/>
      <dgm:spPr/>
      <dgm:t>
        <a:bodyPr/>
        <a:lstStyle/>
        <a:p>
          <a:r>
            <a:rPr lang="en-US" dirty="0"/>
            <a:t>CDDA</a:t>
          </a:r>
          <a:endParaRPr lang="ru-RU" dirty="0"/>
        </a:p>
      </dgm:t>
    </dgm:pt>
    <dgm:pt modelId="{681A4738-D261-4148-A808-5AA44AFB625F}" type="parTrans" cxnId="{CB262B2D-8BDF-4205-8B53-5449CFBACD71}">
      <dgm:prSet/>
      <dgm:spPr/>
      <dgm:t>
        <a:bodyPr/>
        <a:lstStyle/>
        <a:p>
          <a:endParaRPr lang="ru-RU"/>
        </a:p>
      </dgm:t>
    </dgm:pt>
    <dgm:pt modelId="{0741B7CC-98EA-4333-9D1E-7AD0F99050F5}" type="sibTrans" cxnId="{CB262B2D-8BDF-4205-8B53-5449CFBACD71}">
      <dgm:prSet/>
      <dgm:spPr/>
      <dgm:t>
        <a:bodyPr/>
        <a:lstStyle/>
        <a:p>
          <a:endParaRPr lang="ru-RU"/>
        </a:p>
      </dgm:t>
    </dgm:pt>
    <dgm:pt modelId="{C17DF8C7-AAC3-4F88-8BAD-E59362A59FB9}">
      <dgm:prSet phldrT="[Текст]"/>
      <dgm:spPr/>
      <dgm:t>
        <a:bodyPr/>
        <a:lstStyle/>
        <a:p>
          <a:r>
            <a:rPr lang="ru-RU" dirty="0"/>
            <a:t>Со сжатием</a:t>
          </a:r>
          <a:r>
            <a:rPr lang="en-US" dirty="0"/>
            <a:t> </a:t>
          </a:r>
          <a:r>
            <a:rPr lang="ru-RU" dirty="0"/>
            <a:t>без потерь</a:t>
          </a:r>
        </a:p>
      </dgm:t>
    </dgm:pt>
    <dgm:pt modelId="{196BA5DF-6DC5-4644-853E-C74E5FCA694B}" type="parTrans" cxnId="{0D3798D7-22AD-4967-BF8E-E9633EF9558E}">
      <dgm:prSet/>
      <dgm:spPr/>
      <dgm:t>
        <a:bodyPr/>
        <a:lstStyle/>
        <a:p>
          <a:endParaRPr lang="ru-RU"/>
        </a:p>
      </dgm:t>
    </dgm:pt>
    <dgm:pt modelId="{4CC4A741-DC61-491D-9491-76A81FCB91BC}" type="sibTrans" cxnId="{0D3798D7-22AD-4967-BF8E-E9633EF9558E}">
      <dgm:prSet/>
      <dgm:spPr/>
      <dgm:t>
        <a:bodyPr/>
        <a:lstStyle/>
        <a:p>
          <a:endParaRPr lang="ru-RU"/>
        </a:p>
      </dgm:t>
    </dgm:pt>
    <dgm:pt modelId="{5DD5F12A-5849-4920-BB4B-AED9967F5092}">
      <dgm:prSet phldrT="[Текст]"/>
      <dgm:spPr/>
      <dgm:t>
        <a:bodyPr/>
        <a:lstStyle/>
        <a:p>
          <a:r>
            <a:rPr lang="en-US" dirty="0"/>
            <a:t>FLAC</a:t>
          </a:r>
          <a:endParaRPr lang="ru-RU" dirty="0"/>
        </a:p>
      </dgm:t>
    </dgm:pt>
    <dgm:pt modelId="{AB566E42-031E-418C-9ADF-9A5F57549A58}" type="parTrans" cxnId="{06D089F7-3CDF-4898-8C5F-8ECD445FE360}">
      <dgm:prSet/>
      <dgm:spPr/>
      <dgm:t>
        <a:bodyPr/>
        <a:lstStyle/>
        <a:p>
          <a:endParaRPr lang="ru-RU"/>
        </a:p>
      </dgm:t>
    </dgm:pt>
    <dgm:pt modelId="{7C2C7B3C-7B3E-4D1E-9DF3-F8C84219A436}" type="sibTrans" cxnId="{06D089F7-3CDF-4898-8C5F-8ECD445FE360}">
      <dgm:prSet/>
      <dgm:spPr/>
      <dgm:t>
        <a:bodyPr/>
        <a:lstStyle/>
        <a:p>
          <a:endParaRPr lang="ru-RU"/>
        </a:p>
      </dgm:t>
    </dgm:pt>
    <dgm:pt modelId="{F08125F6-3EE0-4636-A40B-CBA72F2E467E}">
      <dgm:prSet phldrT="[Текст]"/>
      <dgm:spPr/>
      <dgm:t>
        <a:bodyPr/>
        <a:lstStyle/>
        <a:p>
          <a:r>
            <a:rPr lang="en-US" dirty="0"/>
            <a:t>Monkey’s Audio</a:t>
          </a:r>
          <a:endParaRPr lang="ru-RU" dirty="0"/>
        </a:p>
      </dgm:t>
    </dgm:pt>
    <dgm:pt modelId="{0D527FC8-AED5-40C8-8FD8-253C85645976}" type="parTrans" cxnId="{DBA91FA5-90F2-44AD-BBAF-8AF4C959C0DF}">
      <dgm:prSet/>
      <dgm:spPr/>
      <dgm:t>
        <a:bodyPr/>
        <a:lstStyle/>
        <a:p>
          <a:endParaRPr lang="ru-RU"/>
        </a:p>
      </dgm:t>
    </dgm:pt>
    <dgm:pt modelId="{A75DD64D-C3F0-4625-983B-27DD599865F6}" type="sibTrans" cxnId="{DBA91FA5-90F2-44AD-BBAF-8AF4C959C0DF}">
      <dgm:prSet/>
      <dgm:spPr/>
      <dgm:t>
        <a:bodyPr/>
        <a:lstStyle/>
        <a:p>
          <a:endParaRPr lang="ru-RU"/>
        </a:p>
      </dgm:t>
    </dgm:pt>
    <dgm:pt modelId="{5777152B-6465-4A71-B86C-5F3AB87DAF7E}">
      <dgm:prSet phldrT="[Текст]"/>
      <dgm:spPr/>
      <dgm:t>
        <a:bodyPr/>
        <a:lstStyle/>
        <a:p>
          <a:r>
            <a:rPr lang="ru-RU" dirty="0"/>
            <a:t>Со сжатием с потерями</a:t>
          </a:r>
        </a:p>
      </dgm:t>
    </dgm:pt>
    <dgm:pt modelId="{9F52FCA0-4915-49C1-AFD9-530C5FD8F880}" type="parTrans" cxnId="{8E168DD0-710B-4192-A775-54BB39C7A3D6}">
      <dgm:prSet/>
      <dgm:spPr/>
      <dgm:t>
        <a:bodyPr/>
        <a:lstStyle/>
        <a:p>
          <a:endParaRPr lang="ru-RU"/>
        </a:p>
      </dgm:t>
    </dgm:pt>
    <dgm:pt modelId="{C85841EE-EC30-44F9-BD9A-995D671DCC96}" type="sibTrans" cxnId="{8E168DD0-710B-4192-A775-54BB39C7A3D6}">
      <dgm:prSet/>
      <dgm:spPr/>
      <dgm:t>
        <a:bodyPr/>
        <a:lstStyle/>
        <a:p>
          <a:endParaRPr lang="ru-RU"/>
        </a:p>
      </dgm:t>
    </dgm:pt>
    <dgm:pt modelId="{3C34AF4A-FAB4-4D0D-BF54-108A99805354}">
      <dgm:prSet phldrT="[Текст]"/>
      <dgm:spPr/>
      <dgm:t>
        <a:bodyPr/>
        <a:lstStyle/>
        <a:p>
          <a:r>
            <a:rPr lang="en-US" dirty="0"/>
            <a:t>MP3</a:t>
          </a:r>
          <a:endParaRPr lang="ru-RU" dirty="0"/>
        </a:p>
      </dgm:t>
    </dgm:pt>
    <dgm:pt modelId="{9C5F4C7D-0A39-47EE-9908-E8F36F489269}" type="parTrans" cxnId="{11B640C7-CC89-4612-9458-653220DDAEF3}">
      <dgm:prSet/>
      <dgm:spPr/>
      <dgm:t>
        <a:bodyPr/>
        <a:lstStyle/>
        <a:p>
          <a:endParaRPr lang="ru-RU"/>
        </a:p>
      </dgm:t>
    </dgm:pt>
    <dgm:pt modelId="{8C93C0A9-BE50-49AE-9921-37C0889A1D4B}" type="sibTrans" cxnId="{11B640C7-CC89-4612-9458-653220DDAEF3}">
      <dgm:prSet/>
      <dgm:spPr/>
      <dgm:t>
        <a:bodyPr/>
        <a:lstStyle/>
        <a:p>
          <a:endParaRPr lang="ru-RU"/>
        </a:p>
      </dgm:t>
    </dgm:pt>
    <dgm:pt modelId="{BF781F3C-5943-41C0-84C2-92F28C2D0EAE}">
      <dgm:prSet phldrT="[Текст]"/>
      <dgm:spPr/>
      <dgm:t>
        <a:bodyPr/>
        <a:lstStyle/>
        <a:p>
          <a:r>
            <a:rPr lang="en-US" dirty="0"/>
            <a:t>…</a:t>
          </a:r>
          <a:endParaRPr lang="ru-RU" dirty="0"/>
        </a:p>
      </dgm:t>
    </dgm:pt>
    <dgm:pt modelId="{F7846CE4-97B8-4417-9FB0-773B05BAEE9B}" type="parTrans" cxnId="{E8343AFA-A589-4CD9-8B1B-5113DFE60104}">
      <dgm:prSet/>
      <dgm:spPr/>
      <dgm:t>
        <a:bodyPr/>
        <a:lstStyle/>
        <a:p>
          <a:endParaRPr lang="ru-RU"/>
        </a:p>
      </dgm:t>
    </dgm:pt>
    <dgm:pt modelId="{421D2875-430A-4D4C-BCDF-12075B0B9D26}" type="sibTrans" cxnId="{E8343AFA-A589-4CD9-8B1B-5113DFE60104}">
      <dgm:prSet/>
      <dgm:spPr/>
      <dgm:t>
        <a:bodyPr/>
        <a:lstStyle/>
        <a:p>
          <a:endParaRPr lang="ru-RU"/>
        </a:p>
      </dgm:t>
    </dgm:pt>
    <dgm:pt modelId="{D375A076-5BFB-45A2-90E0-939DB5AE0F19}">
      <dgm:prSet phldrT="[Текст]"/>
      <dgm:spPr/>
      <dgm:t>
        <a:bodyPr/>
        <a:lstStyle/>
        <a:p>
          <a:r>
            <a:rPr lang="en-US" dirty="0"/>
            <a:t>WAV</a:t>
          </a:r>
          <a:endParaRPr lang="ru-RU" dirty="0"/>
        </a:p>
      </dgm:t>
    </dgm:pt>
    <dgm:pt modelId="{78EF7CF1-BB57-4360-9734-6CD8C9A65AA2}" type="parTrans" cxnId="{B84A204E-51AA-4ACE-BC2F-90F2B7D99E4A}">
      <dgm:prSet/>
      <dgm:spPr/>
      <dgm:t>
        <a:bodyPr/>
        <a:lstStyle/>
        <a:p>
          <a:endParaRPr lang="ru-RU"/>
        </a:p>
      </dgm:t>
    </dgm:pt>
    <dgm:pt modelId="{B9C20766-7D82-4159-B5FF-09379186B138}" type="sibTrans" cxnId="{B84A204E-51AA-4ACE-BC2F-90F2B7D99E4A}">
      <dgm:prSet/>
      <dgm:spPr/>
      <dgm:t>
        <a:bodyPr/>
        <a:lstStyle/>
        <a:p>
          <a:endParaRPr lang="ru-RU"/>
        </a:p>
      </dgm:t>
    </dgm:pt>
    <dgm:pt modelId="{5959088A-2DCE-4426-8603-D5E5C27252CA}">
      <dgm:prSet phldrT="[Текст]"/>
      <dgm:spPr/>
      <dgm:t>
        <a:bodyPr/>
        <a:lstStyle/>
        <a:p>
          <a:r>
            <a:rPr lang="en-US" dirty="0"/>
            <a:t>AIFF</a:t>
          </a:r>
          <a:endParaRPr lang="ru-RU" dirty="0"/>
        </a:p>
      </dgm:t>
    </dgm:pt>
    <dgm:pt modelId="{60A09AA4-E876-41E3-8CAC-C3CA6B49A685}" type="parTrans" cxnId="{2D772E3E-D296-4825-8DC6-2015B81B7D3D}">
      <dgm:prSet/>
      <dgm:spPr/>
      <dgm:t>
        <a:bodyPr/>
        <a:lstStyle/>
        <a:p>
          <a:endParaRPr lang="ru-RU"/>
        </a:p>
      </dgm:t>
    </dgm:pt>
    <dgm:pt modelId="{F64A3433-2ED7-488C-B4E6-B8B06599F20A}" type="sibTrans" cxnId="{2D772E3E-D296-4825-8DC6-2015B81B7D3D}">
      <dgm:prSet/>
      <dgm:spPr/>
      <dgm:t>
        <a:bodyPr/>
        <a:lstStyle/>
        <a:p>
          <a:endParaRPr lang="ru-RU"/>
        </a:p>
      </dgm:t>
    </dgm:pt>
    <dgm:pt modelId="{6BD1A6C5-BB19-468B-BBAA-C96A18C1AB9F}">
      <dgm:prSet phldrT="[Текст]"/>
      <dgm:spPr/>
      <dgm:t>
        <a:bodyPr/>
        <a:lstStyle/>
        <a:p>
          <a:r>
            <a:rPr lang="en-US" dirty="0"/>
            <a:t>…</a:t>
          </a:r>
          <a:endParaRPr lang="ru-RU" dirty="0"/>
        </a:p>
      </dgm:t>
    </dgm:pt>
    <dgm:pt modelId="{35DE215E-48D0-4393-8129-667A7D4A9E0E}" type="parTrans" cxnId="{CA121DDF-5F8D-42D5-8DDD-D99EB9B270A7}">
      <dgm:prSet/>
      <dgm:spPr/>
      <dgm:t>
        <a:bodyPr/>
        <a:lstStyle/>
        <a:p>
          <a:endParaRPr lang="ru-RU"/>
        </a:p>
      </dgm:t>
    </dgm:pt>
    <dgm:pt modelId="{9CEEE250-1D01-4EBB-AF77-65556EA3F411}" type="sibTrans" cxnId="{CA121DDF-5F8D-42D5-8DDD-D99EB9B270A7}">
      <dgm:prSet/>
      <dgm:spPr/>
      <dgm:t>
        <a:bodyPr/>
        <a:lstStyle/>
        <a:p>
          <a:endParaRPr lang="ru-RU"/>
        </a:p>
      </dgm:t>
    </dgm:pt>
    <dgm:pt modelId="{8626B507-D444-4DB8-9A92-209C0047D291}">
      <dgm:prSet phldrT="[Текст]"/>
      <dgm:spPr/>
      <dgm:t>
        <a:bodyPr/>
        <a:lstStyle/>
        <a:p>
          <a:r>
            <a:rPr lang="en-US" dirty="0"/>
            <a:t>Apple Lossless</a:t>
          </a:r>
          <a:endParaRPr lang="ru-RU" dirty="0"/>
        </a:p>
      </dgm:t>
    </dgm:pt>
    <dgm:pt modelId="{61A05DE0-C2E6-4EDD-9020-748A85EA8A81}" type="parTrans" cxnId="{0E328466-1A97-48EF-8AEB-64A69EAEC9CA}">
      <dgm:prSet/>
      <dgm:spPr/>
      <dgm:t>
        <a:bodyPr/>
        <a:lstStyle/>
        <a:p>
          <a:endParaRPr lang="ru-RU"/>
        </a:p>
      </dgm:t>
    </dgm:pt>
    <dgm:pt modelId="{C2A4B3A6-4C4E-4BCA-B563-673CF090BD3F}" type="sibTrans" cxnId="{0E328466-1A97-48EF-8AEB-64A69EAEC9CA}">
      <dgm:prSet/>
      <dgm:spPr/>
      <dgm:t>
        <a:bodyPr/>
        <a:lstStyle/>
        <a:p>
          <a:endParaRPr lang="ru-RU"/>
        </a:p>
      </dgm:t>
    </dgm:pt>
    <dgm:pt modelId="{AF00D0C6-5D73-475E-97DA-7848E3F24E30}">
      <dgm:prSet phldrT="[Текст]"/>
      <dgm:spPr/>
      <dgm:t>
        <a:bodyPr/>
        <a:lstStyle/>
        <a:p>
          <a:r>
            <a:rPr lang="en-US" dirty="0"/>
            <a:t>ADX</a:t>
          </a:r>
          <a:endParaRPr lang="ru-RU" dirty="0"/>
        </a:p>
      </dgm:t>
    </dgm:pt>
    <dgm:pt modelId="{A2D23DAF-8135-4A7D-801B-89767FC282CF}" type="parTrans" cxnId="{0B46A217-1491-41F2-A44E-A65D645E2FAC}">
      <dgm:prSet/>
      <dgm:spPr/>
      <dgm:t>
        <a:bodyPr/>
        <a:lstStyle/>
        <a:p>
          <a:endParaRPr lang="ru-RU"/>
        </a:p>
      </dgm:t>
    </dgm:pt>
    <dgm:pt modelId="{3D311EF1-1BF5-4AC4-BC82-81F07FE340DF}" type="sibTrans" cxnId="{0B46A217-1491-41F2-A44E-A65D645E2FAC}">
      <dgm:prSet/>
      <dgm:spPr/>
      <dgm:t>
        <a:bodyPr/>
        <a:lstStyle/>
        <a:p>
          <a:endParaRPr lang="ru-RU"/>
        </a:p>
      </dgm:t>
    </dgm:pt>
    <dgm:pt modelId="{3B4136FC-1AE5-44A0-9312-31AB6E390614}">
      <dgm:prSet phldrT="[Текст]"/>
      <dgm:spPr/>
      <dgm:t>
        <a:bodyPr/>
        <a:lstStyle/>
        <a:p>
          <a:r>
            <a:rPr lang="en-US" dirty="0"/>
            <a:t>…</a:t>
          </a:r>
          <a:endParaRPr lang="ru-RU" dirty="0"/>
        </a:p>
      </dgm:t>
    </dgm:pt>
    <dgm:pt modelId="{D3DF7199-112B-459B-B823-480664E33BB8}" type="parTrans" cxnId="{45CCC627-B99C-4C0B-A682-2A84557DA709}">
      <dgm:prSet/>
      <dgm:spPr/>
      <dgm:t>
        <a:bodyPr/>
        <a:lstStyle/>
        <a:p>
          <a:endParaRPr lang="ru-RU"/>
        </a:p>
      </dgm:t>
    </dgm:pt>
    <dgm:pt modelId="{BF78F906-EB76-4824-8415-D5B15751FE2D}" type="sibTrans" cxnId="{45CCC627-B99C-4C0B-A682-2A84557DA709}">
      <dgm:prSet/>
      <dgm:spPr/>
      <dgm:t>
        <a:bodyPr/>
        <a:lstStyle/>
        <a:p>
          <a:endParaRPr lang="ru-RU"/>
        </a:p>
      </dgm:t>
    </dgm:pt>
    <dgm:pt modelId="{CF351F1E-5FD1-4854-8AD9-7C01DF39337A}">
      <dgm:prSet phldrT="[Текст]"/>
      <dgm:spPr/>
      <dgm:t>
        <a:bodyPr/>
        <a:lstStyle/>
        <a:p>
          <a:r>
            <a:rPr lang="en-US" dirty="0"/>
            <a:t>MP2</a:t>
          </a:r>
          <a:endParaRPr lang="ru-RU" dirty="0"/>
        </a:p>
      </dgm:t>
    </dgm:pt>
    <dgm:pt modelId="{599732FA-9228-47B2-9206-84A2073EF826}" type="parTrans" cxnId="{D9C557BB-120A-4AE1-82EA-912352200947}">
      <dgm:prSet/>
      <dgm:spPr/>
      <dgm:t>
        <a:bodyPr/>
        <a:lstStyle/>
        <a:p>
          <a:endParaRPr lang="ru-RU"/>
        </a:p>
      </dgm:t>
    </dgm:pt>
    <dgm:pt modelId="{A71615A4-734D-47CC-A6B4-2C0F58A8BB2F}" type="sibTrans" cxnId="{D9C557BB-120A-4AE1-82EA-912352200947}">
      <dgm:prSet/>
      <dgm:spPr/>
      <dgm:t>
        <a:bodyPr/>
        <a:lstStyle/>
        <a:p>
          <a:endParaRPr lang="ru-RU"/>
        </a:p>
      </dgm:t>
    </dgm:pt>
    <dgm:pt modelId="{D1300D78-BD7B-426C-B2CE-F6F2F0A3C38D}">
      <dgm:prSet phldrT="[Текст]"/>
      <dgm:spPr/>
      <dgm:t>
        <a:bodyPr/>
        <a:lstStyle/>
        <a:p>
          <a:r>
            <a:rPr lang="en-US" dirty="0"/>
            <a:t>AAC</a:t>
          </a:r>
          <a:endParaRPr lang="ru-RU" dirty="0"/>
        </a:p>
      </dgm:t>
    </dgm:pt>
    <dgm:pt modelId="{46DCD9F3-2F45-4671-8D1C-908C2E0D6E77}" type="parTrans" cxnId="{AEA7855C-F38C-4D52-B294-ABE5D112F32C}">
      <dgm:prSet/>
      <dgm:spPr/>
      <dgm:t>
        <a:bodyPr/>
        <a:lstStyle/>
        <a:p>
          <a:endParaRPr lang="ru-RU"/>
        </a:p>
      </dgm:t>
    </dgm:pt>
    <dgm:pt modelId="{FB37A790-7424-476B-93E5-1A533BBBDF79}" type="sibTrans" cxnId="{AEA7855C-F38C-4D52-B294-ABE5D112F32C}">
      <dgm:prSet/>
      <dgm:spPr/>
      <dgm:t>
        <a:bodyPr/>
        <a:lstStyle/>
        <a:p>
          <a:endParaRPr lang="ru-RU"/>
        </a:p>
      </dgm:t>
    </dgm:pt>
    <dgm:pt modelId="{504EA628-4898-40DA-A2D8-2AAEB2259BCC}">
      <dgm:prSet phldrT="[Текст]"/>
      <dgm:spPr/>
      <dgm:t>
        <a:bodyPr/>
        <a:lstStyle/>
        <a:p>
          <a:r>
            <a:rPr lang="en-US" dirty="0" err="1"/>
            <a:t>Vorbis</a:t>
          </a:r>
          <a:endParaRPr lang="ru-RU" dirty="0"/>
        </a:p>
      </dgm:t>
    </dgm:pt>
    <dgm:pt modelId="{96EC2D2A-4AA4-4FE4-9658-89E48005B7CF}" type="parTrans" cxnId="{E3A93F60-C83D-4ED4-BD30-EF3AC1792AF0}">
      <dgm:prSet/>
      <dgm:spPr/>
      <dgm:t>
        <a:bodyPr/>
        <a:lstStyle/>
        <a:p>
          <a:endParaRPr lang="ru-RU"/>
        </a:p>
      </dgm:t>
    </dgm:pt>
    <dgm:pt modelId="{3DFCA6A8-89B0-4478-98E1-ADC135EA9800}" type="sibTrans" cxnId="{E3A93F60-C83D-4ED4-BD30-EF3AC1792AF0}">
      <dgm:prSet/>
      <dgm:spPr/>
      <dgm:t>
        <a:bodyPr/>
        <a:lstStyle/>
        <a:p>
          <a:endParaRPr lang="ru-RU"/>
        </a:p>
      </dgm:t>
    </dgm:pt>
    <dgm:pt modelId="{764CB8F9-1804-4B2D-8A59-86EA0A551270}">
      <dgm:prSet phldrT="[Текст]"/>
      <dgm:spPr/>
      <dgm:t>
        <a:bodyPr/>
        <a:lstStyle/>
        <a:p>
          <a:r>
            <a:rPr lang="en-US" dirty="0"/>
            <a:t>WMA</a:t>
          </a:r>
          <a:endParaRPr lang="ru-RU" dirty="0"/>
        </a:p>
      </dgm:t>
    </dgm:pt>
    <dgm:pt modelId="{BA1B320A-E1FB-48C0-8413-06EE9B2B1EEB}" type="parTrans" cxnId="{C04642FC-CC88-4311-BC05-0E8544D4B198}">
      <dgm:prSet/>
      <dgm:spPr/>
      <dgm:t>
        <a:bodyPr/>
        <a:lstStyle/>
        <a:p>
          <a:endParaRPr lang="ru-RU"/>
        </a:p>
      </dgm:t>
    </dgm:pt>
    <dgm:pt modelId="{4A5D0081-7D35-4732-875B-C923A8422A58}" type="sibTrans" cxnId="{C04642FC-CC88-4311-BC05-0E8544D4B198}">
      <dgm:prSet/>
      <dgm:spPr/>
      <dgm:t>
        <a:bodyPr/>
        <a:lstStyle/>
        <a:p>
          <a:endParaRPr lang="ru-RU"/>
        </a:p>
      </dgm:t>
    </dgm:pt>
    <dgm:pt modelId="{F912AAF7-297F-4B36-8B3D-4983E36D5223}" type="pres">
      <dgm:prSet presAssocID="{B355DD83-F802-4B8D-ADD1-BCAEB459E824}" presName="Name0" presStyleCnt="0">
        <dgm:presLayoutVars>
          <dgm:dir/>
          <dgm:animLvl val="lvl"/>
          <dgm:resizeHandles val="exact"/>
        </dgm:presLayoutVars>
      </dgm:prSet>
      <dgm:spPr/>
    </dgm:pt>
    <dgm:pt modelId="{2382C93F-CBDC-4760-B99E-67240797EAE3}" type="pres">
      <dgm:prSet presAssocID="{A2E06939-154B-4837-A4EB-3D0B024F5AD3}" presName="composite" presStyleCnt="0"/>
      <dgm:spPr/>
    </dgm:pt>
    <dgm:pt modelId="{45482015-9964-48D0-85B5-CBC76E27C193}" type="pres">
      <dgm:prSet presAssocID="{A2E06939-154B-4837-A4EB-3D0B024F5AD3}" presName="parTx" presStyleLbl="alignNode1" presStyleIdx="0" presStyleCnt="3">
        <dgm:presLayoutVars>
          <dgm:chMax val="0"/>
          <dgm:chPref val="0"/>
          <dgm:bulletEnabled val="1"/>
        </dgm:presLayoutVars>
      </dgm:prSet>
      <dgm:spPr/>
    </dgm:pt>
    <dgm:pt modelId="{797235C2-E49D-4F91-B109-46D987B84AB2}" type="pres">
      <dgm:prSet presAssocID="{A2E06939-154B-4837-A4EB-3D0B024F5AD3}" presName="desTx" presStyleLbl="alignAccFollowNode1" presStyleIdx="0" presStyleCnt="3">
        <dgm:presLayoutVars>
          <dgm:bulletEnabled val="1"/>
        </dgm:presLayoutVars>
      </dgm:prSet>
      <dgm:spPr/>
    </dgm:pt>
    <dgm:pt modelId="{9D0E4A3F-8EDE-4D38-BE13-4D27D15B5F5B}" type="pres">
      <dgm:prSet presAssocID="{EF974E76-32E0-42F4-9F9B-ED6880149EB5}" presName="space" presStyleCnt="0"/>
      <dgm:spPr/>
    </dgm:pt>
    <dgm:pt modelId="{51A29408-4D39-4FE1-8BAA-2A86F5C6333F}" type="pres">
      <dgm:prSet presAssocID="{C17DF8C7-AAC3-4F88-8BAD-E59362A59FB9}" presName="composite" presStyleCnt="0"/>
      <dgm:spPr/>
    </dgm:pt>
    <dgm:pt modelId="{A59C8855-9501-424B-A587-5852C0DCD28C}" type="pres">
      <dgm:prSet presAssocID="{C17DF8C7-AAC3-4F88-8BAD-E59362A59FB9}" presName="parTx" presStyleLbl="alignNode1" presStyleIdx="1" presStyleCnt="3">
        <dgm:presLayoutVars>
          <dgm:chMax val="0"/>
          <dgm:chPref val="0"/>
          <dgm:bulletEnabled val="1"/>
        </dgm:presLayoutVars>
      </dgm:prSet>
      <dgm:spPr/>
    </dgm:pt>
    <dgm:pt modelId="{A5DF4C2D-89E0-4FED-AE65-758EAB792ACE}" type="pres">
      <dgm:prSet presAssocID="{C17DF8C7-AAC3-4F88-8BAD-E59362A59FB9}" presName="desTx" presStyleLbl="alignAccFollowNode1" presStyleIdx="1" presStyleCnt="3">
        <dgm:presLayoutVars>
          <dgm:bulletEnabled val="1"/>
        </dgm:presLayoutVars>
      </dgm:prSet>
      <dgm:spPr/>
    </dgm:pt>
    <dgm:pt modelId="{07DAC79C-6798-4F4F-B793-5F4D881A433B}" type="pres">
      <dgm:prSet presAssocID="{4CC4A741-DC61-491D-9491-76A81FCB91BC}" presName="space" presStyleCnt="0"/>
      <dgm:spPr/>
    </dgm:pt>
    <dgm:pt modelId="{26EE0C30-C792-4467-9BD6-ADEC9B4E6787}" type="pres">
      <dgm:prSet presAssocID="{5777152B-6465-4A71-B86C-5F3AB87DAF7E}" presName="composite" presStyleCnt="0"/>
      <dgm:spPr/>
    </dgm:pt>
    <dgm:pt modelId="{BE565B96-45E8-485F-98BB-05F8446ECB09}" type="pres">
      <dgm:prSet presAssocID="{5777152B-6465-4A71-B86C-5F3AB87DAF7E}" presName="parTx" presStyleLbl="alignNode1" presStyleIdx="2" presStyleCnt="3">
        <dgm:presLayoutVars>
          <dgm:chMax val="0"/>
          <dgm:chPref val="0"/>
          <dgm:bulletEnabled val="1"/>
        </dgm:presLayoutVars>
      </dgm:prSet>
      <dgm:spPr/>
    </dgm:pt>
    <dgm:pt modelId="{8AB79BD5-3C14-4DCD-AF8E-6322BF0CC362}" type="pres">
      <dgm:prSet presAssocID="{5777152B-6465-4A71-B86C-5F3AB87DAF7E}" presName="desTx" presStyleLbl="alignAccFollowNode1" presStyleIdx="2" presStyleCnt="3">
        <dgm:presLayoutVars>
          <dgm:bulletEnabled val="1"/>
        </dgm:presLayoutVars>
      </dgm:prSet>
      <dgm:spPr/>
    </dgm:pt>
  </dgm:ptLst>
  <dgm:cxnLst>
    <dgm:cxn modelId="{7ADFE200-CDC8-4499-8A1A-45EA2FB86F29}" type="presOf" srcId="{D1300D78-BD7B-426C-B2CE-F6F2F0A3C38D}" destId="{8AB79BD5-3C14-4DCD-AF8E-6322BF0CC362}" srcOrd="0" destOrd="2" presId="urn:microsoft.com/office/officeart/2005/8/layout/hList1"/>
    <dgm:cxn modelId="{E4D64F02-4217-4D88-A16C-9C5724559A3A}" type="presOf" srcId="{6BD1A6C5-BB19-468B-BBAA-C96A18C1AB9F}" destId="{797235C2-E49D-4F91-B109-46D987B84AB2}" srcOrd="0" destOrd="4" presId="urn:microsoft.com/office/officeart/2005/8/layout/hList1"/>
    <dgm:cxn modelId="{9AC30010-7F70-456B-AD32-44C9283C97C3}" type="presOf" srcId="{CF351F1E-5FD1-4854-8AD9-7C01DF39337A}" destId="{8AB79BD5-3C14-4DCD-AF8E-6322BF0CC362}" srcOrd="0" destOrd="1" presId="urn:microsoft.com/office/officeart/2005/8/layout/hList1"/>
    <dgm:cxn modelId="{C6C10413-7235-4A39-AEC4-0780C97E9B4F}" type="presOf" srcId="{5DD5F12A-5849-4920-BB4B-AED9967F5092}" destId="{A5DF4C2D-89E0-4FED-AE65-758EAB792ACE}" srcOrd="0" destOrd="0" presId="urn:microsoft.com/office/officeart/2005/8/layout/hList1"/>
    <dgm:cxn modelId="{0B46A217-1491-41F2-A44E-A65D645E2FAC}" srcId="{C17DF8C7-AAC3-4F88-8BAD-E59362A59FB9}" destId="{AF00D0C6-5D73-475E-97DA-7848E3F24E30}" srcOrd="3" destOrd="0" parTransId="{A2D23DAF-8135-4A7D-801B-89767FC282CF}" sibTransId="{3D311EF1-1BF5-4AC4-BC82-81F07FE340DF}"/>
    <dgm:cxn modelId="{F2C1A319-5A5E-4B7F-8879-37E6EEF8181B}" type="presOf" srcId="{5959088A-2DCE-4426-8603-D5E5C27252CA}" destId="{797235C2-E49D-4F91-B109-46D987B84AB2}" srcOrd="0" destOrd="2" presId="urn:microsoft.com/office/officeart/2005/8/layout/hList1"/>
    <dgm:cxn modelId="{B1E9B220-40AB-44CB-AE81-28DBEDFE44C7}" srcId="{A2E06939-154B-4837-A4EB-3D0B024F5AD3}" destId="{45CAE9CE-1E54-4214-A393-048718D96B35}" srcOrd="0" destOrd="0" parTransId="{42CFC8AB-17D2-4DF0-988D-9728109AC8EC}" sibTransId="{0E5AFAC7-17FE-4A89-BEBD-A137B7761F4A}"/>
    <dgm:cxn modelId="{45CCC627-B99C-4C0B-A682-2A84557DA709}" srcId="{C17DF8C7-AAC3-4F88-8BAD-E59362A59FB9}" destId="{3B4136FC-1AE5-44A0-9312-31AB6E390614}" srcOrd="4" destOrd="0" parTransId="{D3DF7199-112B-459B-B823-480664E33BB8}" sibTransId="{BF78F906-EB76-4824-8415-D5B15751FE2D}"/>
    <dgm:cxn modelId="{82D1CB28-75AA-47CB-BC80-1DFC7FB5559C}" type="presOf" srcId="{504EA628-4898-40DA-A2D8-2AAEB2259BCC}" destId="{8AB79BD5-3C14-4DCD-AF8E-6322BF0CC362}" srcOrd="0" destOrd="3" presId="urn:microsoft.com/office/officeart/2005/8/layout/hList1"/>
    <dgm:cxn modelId="{CB262B2D-8BDF-4205-8B53-5449CFBACD71}" srcId="{A2E06939-154B-4837-A4EB-3D0B024F5AD3}" destId="{F0E3E99F-427F-4D89-8EB6-8109373E69C1}" srcOrd="3" destOrd="0" parTransId="{681A4738-D261-4148-A808-5AA44AFB625F}" sibTransId="{0741B7CC-98EA-4333-9D1E-7AD0F99050F5}"/>
    <dgm:cxn modelId="{2D772E3E-D296-4825-8DC6-2015B81B7D3D}" srcId="{A2E06939-154B-4837-A4EB-3D0B024F5AD3}" destId="{5959088A-2DCE-4426-8603-D5E5C27252CA}" srcOrd="2" destOrd="0" parTransId="{60A09AA4-E876-41E3-8CAC-C3CA6B49A685}" sibTransId="{F64A3433-2ED7-488C-B4E6-B8B06599F20A}"/>
    <dgm:cxn modelId="{AEA7855C-F38C-4D52-B294-ABE5D112F32C}" srcId="{5777152B-6465-4A71-B86C-5F3AB87DAF7E}" destId="{D1300D78-BD7B-426C-B2CE-F6F2F0A3C38D}" srcOrd="2" destOrd="0" parTransId="{46DCD9F3-2F45-4671-8D1C-908C2E0D6E77}" sibTransId="{FB37A790-7424-476B-93E5-1A533BBBDF79}"/>
    <dgm:cxn modelId="{E3A93F60-C83D-4ED4-BD30-EF3AC1792AF0}" srcId="{5777152B-6465-4A71-B86C-5F3AB87DAF7E}" destId="{504EA628-4898-40DA-A2D8-2AAEB2259BCC}" srcOrd="3" destOrd="0" parTransId="{96EC2D2A-4AA4-4FE4-9658-89E48005B7CF}" sibTransId="{3DFCA6A8-89B0-4478-98E1-ADC135EA9800}"/>
    <dgm:cxn modelId="{0E328466-1A97-48EF-8AEB-64A69EAEC9CA}" srcId="{C17DF8C7-AAC3-4F88-8BAD-E59362A59FB9}" destId="{8626B507-D444-4DB8-9A92-209C0047D291}" srcOrd="1" destOrd="0" parTransId="{61A05DE0-C2E6-4EDD-9020-748A85EA8A81}" sibTransId="{C2A4B3A6-4C4E-4BCA-B563-673CF090BD3F}"/>
    <dgm:cxn modelId="{B84A204E-51AA-4ACE-BC2F-90F2B7D99E4A}" srcId="{A2E06939-154B-4837-A4EB-3D0B024F5AD3}" destId="{D375A076-5BFB-45A2-90E0-939DB5AE0F19}" srcOrd="1" destOrd="0" parTransId="{78EF7CF1-BB57-4360-9734-6CD8C9A65AA2}" sibTransId="{B9C20766-7D82-4159-B5FF-09379186B138}"/>
    <dgm:cxn modelId="{49D2BE4E-26E6-4E19-9350-EA4CF9C83CD6}" srcId="{B355DD83-F802-4B8D-ADD1-BCAEB459E824}" destId="{A2E06939-154B-4837-A4EB-3D0B024F5AD3}" srcOrd="0" destOrd="0" parTransId="{170E14E4-6FCB-4ACF-A51E-D298C2BE19F1}" sibTransId="{EF974E76-32E0-42F4-9F9B-ED6880149EB5}"/>
    <dgm:cxn modelId="{9792B66F-0F10-4E29-BB5F-28E140E93FDB}" type="presOf" srcId="{5777152B-6465-4A71-B86C-5F3AB87DAF7E}" destId="{BE565B96-45E8-485F-98BB-05F8446ECB09}" srcOrd="0" destOrd="0" presId="urn:microsoft.com/office/officeart/2005/8/layout/hList1"/>
    <dgm:cxn modelId="{C37F3886-5434-43F5-A178-7E39CFCDA606}" type="presOf" srcId="{F0E3E99F-427F-4D89-8EB6-8109373E69C1}" destId="{797235C2-E49D-4F91-B109-46D987B84AB2}" srcOrd="0" destOrd="3" presId="urn:microsoft.com/office/officeart/2005/8/layout/hList1"/>
    <dgm:cxn modelId="{0742238A-24E4-47E2-8770-F0DB33498004}" type="presOf" srcId="{D375A076-5BFB-45A2-90E0-939DB5AE0F19}" destId="{797235C2-E49D-4F91-B109-46D987B84AB2}" srcOrd="0" destOrd="1" presId="urn:microsoft.com/office/officeart/2005/8/layout/hList1"/>
    <dgm:cxn modelId="{D59B3D90-0803-4123-831C-4D28B58C231B}" type="presOf" srcId="{C17DF8C7-AAC3-4F88-8BAD-E59362A59FB9}" destId="{A59C8855-9501-424B-A587-5852C0DCD28C}" srcOrd="0" destOrd="0" presId="urn:microsoft.com/office/officeart/2005/8/layout/hList1"/>
    <dgm:cxn modelId="{EC6B1398-7741-4834-8ABF-50F07FAB7500}" type="presOf" srcId="{764CB8F9-1804-4B2D-8A59-86EA0A551270}" destId="{8AB79BD5-3C14-4DCD-AF8E-6322BF0CC362}" srcOrd="0" destOrd="4" presId="urn:microsoft.com/office/officeart/2005/8/layout/hList1"/>
    <dgm:cxn modelId="{DBA91FA5-90F2-44AD-BBAF-8AF4C959C0DF}" srcId="{C17DF8C7-AAC3-4F88-8BAD-E59362A59FB9}" destId="{F08125F6-3EE0-4636-A40B-CBA72F2E467E}" srcOrd="2" destOrd="0" parTransId="{0D527FC8-AED5-40C8-8FD8-253C85645976}" sibTransId="{A75DD64D-C3F0-4625-983B-27DD599865F6}"/>
    <dgm:cxn modelId="{281D7AB0-34A7-483D-A88B-B7E00264EB9D}" type="presOf" srcId="{BF781F3C-5943-41C0-84C2-92F28C2D0EAE}" destId="{8AB79BD5-3C14-4DCD-AF8E-6322BF0CC362}" srcOrd="0" destOrd="5" presId="urn:microsoft.com/office/officeart/2005/8/layout/hList1"/>
    <dgm:cxn modelId="{D9C557BB-120A-4AE1-82EA-912352200947}" srcId="{5777152B-6465-4A71-B86C-5F3AB87DAF7E}" destId="{CF351F1E-5FD1-4854-8AD9-7C01DF39337A}" srcOrd="1" destOrd="0" parTransId="{599732FA-9228-47B2-9206-84A2073EF826}" sibTransId="{A71615A4-734D-47CC-A6B4-2C0F58A8BB2F}"/>
    <dgm:cxn modelId="{11B640C7-CC89-4612-9458-653220DDAEF3}" srcId="{5777152B-6465-4A71-B86C-5F3AB87DAF7E}" destId="{3C34AF4A-FAB4-4D0D-BF54-108A99805354}" srcOrd="0" destOrd="0" parTransId="{9C5F4C7D-0A39-47EE-9908-E8F36F489269}" sibTransId="{8C93C0A9-BE50-49AE-9921-37C0889A1D4B}"/>
    <dgm:cxn modelId="{4ECF72CA-7B42-4EA0-903C-9604FBAB2E0F}" type="presOf" srcId="{8626B507-D444-4DB8-9A92-209C0047D291}" destId="{A5DF4C2D-89E0-4FED-AE65-758EAB792ACE}" srcOrd="0" destOrd="1" presId="urn:microsoft.com/office/officeart/2005/8/layout/hList1"/>
    <dgm:cxn modelId="{8E168DD0-710B-4192-A775-54BB39C7A3D6}" srcId="{B355DD83-F802-4B8D-ADD1-BCAEB459E824}" destId="{5777152B-6465-4A71-B86C-5F3AB87DAF7E}" srcOrd="2" destOrd="0" parTransId="{9F52FCA0-4915-49C1-AFD9-530C5FD8F880}" sibTransId="{C85841EE-EC30-44F9-BD9A-995D671DCC96}"/>
    <dgm:cxn modelId="{8EF450D2-8083-485A-911C-F89BD1373DF1}" type="presOf" srcId="{B355DD83-F802-4B8D-ADD1-BCAEB459E824}" destId="{F912AAF7-297F-4B36-8B3D-4983E36D5223}" srcOrd="0" destOrd="0" presId="urn:microsoft.com/office/officeart/2005/8/layout/hList1"/>
    <dgm:cxn modelId="{8FF32BD4-2333-4299-A7FC-6EE788E43D4A}" type="presOf" srcId="{3B4136FC-1AE5-44A0-9312-31AB6E390614}" destId="{A5DF4C2D-89E0-4FED-AE65-758EAB792ACE}" srcOrd="0" destOrd="4" presId="urn:microsoft.com/office/officeart/2005/8/layout/hList1"/>
    <dgm:cxn modelId="{D26643D5-0A40-46C3-9A10-4E9A26BCE777}" type="presOf" srcId="{45CAE9CE-1E54-4214-A393-048718D96B35}" destId="{797235C2-E49D-4F91-B109-46D987B84AB2}" srcOrd="0" destOrd="0" presId="urn:microsoft.com/office/officeart/2005/8/layout/hList1"/>
    <dgm:cxn modelId="{0D3798D7-22AD-4967-BF8E-E9633EF9558E}" srcId="{B355DD83-F802-4B8D-ADD1-BCAEB459E824}" destId="{C17DF8C7-AAC3-4F88-8BAD-E59362A59FB9}" srcOrd="1" destOrd="0" parTransId="{196BA5DF-6DC5-4644-853E-C74E5FCA694B}" sibTransId="{4CC4A741-DC61-491D-9491-76A81FCB91BC}"/>
    <dgm:cxn modelId="{CA121DDF-5F8D-42D5-8DDD-D99EB9B270A7}" srcId="{A2E06939-154B-4837-A4EB-3D0B024F5AD3}" destId="{6BD1A6C5-BB19-468B-BBAA-C96A18C1AB9F}" srcOrd="4" destOrd="0" parTransId="{35DE215E-48D0-4393-8129-667A7D4A9E0E}" sibTransId="{9CEEE250-1D01-4EBB-AF77-65556EA3F411}"/>
    <dgm:cxn modelId="{FE4E77E5-F6CF-4DB7-B909-0ED26DD2B452}" type="presOf" srcId="{A2E06939-154B-4837-A4EB-3D0B024F5AD3}" destId="{45482015-9964-48D0-85B5-CBC76E27C193}" srcOrd="0" destOrd="0" presId="urn:microsoft.com/office/officeart/2005/8/layout/hList1"/>
    <dgm:cxn modelId="{611545EE-F0CC-4AE5-948F-F6D70E9E0288}" type="presOf" srcId="{AF00D0C6-5D73-475E-97DA-7848E3F24E30}" destId="{A5DF4C2D-89E0-4FED-AE65-758EAB792ACE}" srcOrd="0" destOrd="3" presId="urn:microsoft.com/office/officeart/2005/8/layout/hList1"/>
    <dgm:cxn modelId="{80B79DF1-D8CA-4741-BFD9-FCD08AB1ADD1}" type="presOf" srcId="{F08125F6-3EE0-4636-A40B-CBA72F2E467E}" destId="{A5DF4C2D-89E0-4FED-AE65-758EAB792ACE}" srcOrd="0" destOrd="2" presId="urn:microsoft.com/office/officeart/2005/8/layout/hList1"/>
    <dgm:cxn modelId="{402447F7-9C63-423F-BE19-6933B1F3F4C6}" type="presOf" srcId="{3C34AF4A-FAB4-4D0D-BF54-108A99805354}" destId="{8AB79BD5-3C14-4DCD-AF8E-6322BF0CC362}" srcOrd="0" destOrd="0" presId="urn:microsoft.com/office/officeart/2005/8/layout/hList1"/>
    <dgm:cxn modelId="{06D089F7-3CDF-4898-8C5F-8ECD445FE360}" srcId="{C17DF8C7-AAC3-4F88-8BAD-E59362A59FB9}" destId="{5DD5F12A-5849-4920-BB4B-AED9967F5092}" srcOrd="0" destOrd="0" parTransId="{AB566E42-031E-418C-9ADF-9A5F57549A58}" sibTransId="{7C2C7B3C-7B3E-4D1E-9DF3-F8C84219A436}"/>
    <dgm:cxn modelId="{E8343AFA-A589-4CD9-8B1B-5113DFE60104}" srcId="{5777152B-6465-4A71-B86C-5F3AB87DAF7E}" destId="{BF781F3C-5943-41C0-84C2-92F28C2D0EAE}" srcOrd="5" destOrd="0" parTransId="{F7846CE4-97B8-4417-9FB0-773B05BAEE9B}" sibTransId="{421D2875-430A-4D4C-BCDF-12075B0B9D26}"/>
    <dgm:cxn modelId="{C04642FC-CC88-4311-BC05-0E8544D4B198}" srcId="{5777152B-6465-4A71-B86C-5F3AB87DAF7E}" destId="{764CB8F9-1804-4B2D-8A59-86EA0A551270}" srcOrd="4" destOrd="0" parTransId="{BA1B320A-E1FB-48C0-8413-06EE9B2B1EEB}" sibTransId="{4A5D0081-7D35-4732-875B-C923A8422A58}"/>
    <dgm:cxn modelId="{F91FF074-3F95-4BD4-AD9A-5A7FDA754C3C}" type="presParOf" srcId="{F912AAF7-297F-4B36-8B3D-4983E36D5223}" destId="{2382C93F-CBDC-4760-B99E-67240797EAE3}" srcOrd="0" destOrd="0" presId="urn:microsoft.com/office/officeart/2005/8/layout/hList1"/>
    <dgm:cxn modelId="{2357222C-594C-4D48-9885-D7CDDAE97D1E}" type="presParOf" srcId="{2382C93F-CBDC-4760-B99E-67240797EAE3}" destId="{45482015-9964-48D0-85B5-CBC76E27C193}" srcOrd="0" destOrd="0" presId="urn:microsoft.com/office/officeart/2005/8/layout/hList1"/>
    <dgm:cxn modelId="{0CF1A3B8-495F-443F-AE72-89968E86A335}" type="presParOf" srcId="{2382C93F-CBDC-4760-B99E-67240797EAE3}" destId="{797235C2-E49D-4F91-B109-46D987B84AB2}" srcOrd="1" destOrd="0" presId="urn:microsoft.com/office/officeart/2005/8/layout/hList1"/>
    <dgm:cxn modelId="{C715C55B-F10B-4DDE-B480-1D1159C9896D}" type="presParOf" srcId="{F912AAF7-297F-4B36-8B3D-4983E36D5223}" destId="{9D0E4A3F-8EDE-4D38-BE13-4D27D15B5F5B}" srcOrd="1" destOrd="0" presId="urn:microsoft.com/office/officeart/2005/8/layout/hList1"/>
    <dgm:cxn modelId="{627EE972-E258-4144-95E5-698C6B77A06D}" type="presParOf" srcId="{F912AAF7-297F-4B36-8B3D-4983E36D5223}" destId="{51A29408-4D39-4FE1-8BAA-2A86F5C6333F}" srcOrd="2" destOrd="0" presId="urn:microsoft.com/office/officeart/2005/8/layout/hList1"/>
    <dgm:cxn modelId="{B625770A-3341-4F65-81B3-59FDE1C896F5}" type="presParOf" srcId="{51A29408-4D39-4FE1-8BAA-2A86F5C6333F}" destId="{A59C8855-9501-424B-A587-5852C0DCD28C}" srcOrd="0" destOrd="0" presId="urn:microsoft.com/office/officeart/2005/8/layout/hList1"/>
    <dgm:cxn modelId="{4B0F967C-18AA-40D0-85EE-79DA704D4F3B}" type="presParOf" srcId="{51A29408-4D39-4FE1-8BAA-2A86F5C6333F}" destId="{A5DF4C2D-89E0-4FED-AE65-758EAB792ACE}" srcOrd="1" destOrd="0" presId="urn:microsoft.com/office/officeart/2005/8/layout/hList1"/>
    <dgm:cxn modelId="{7CAB28A8-BB9F-4479-A288-40151FDCEE5B}" type="presParOf" srcId="{F912AAF7-297F-4B36-8B3D-4983E36D5223}" destId="{07DAC79C-6798-4F4F-B793-5F4D881A433B}" srcOrd="3" destOrd="0" presId="urn:microsoft.com/office/officeart/2005/8/layout/hList1"/>
    <dgm:cxn modelId="{D869581B-FCF3-4AB5-A999-2E4BC26EF77B}" type="presParOf" srcId="{F912AAF7-297F-4B36-8B3D-4983E36D5223}" destId="{26EE0C30-C792-4467-9BD6-ADEC9B4E6787}" srcOrd="4" destOrd="0" presId="urn:microsoft.com/office/officeart/2005/8/layout/hList1"/>
    <dgm:cxn modelId="{B79A11C2-CDF4-4562-8292-8094713A3585}" type="presParOf" srcId="{26EE0C30-C792-4467-9BD6-ADEC9B4E6787}" destId="{BE565B96-45E8-485F-98BB-05F8446ECB09}" srcOrd="0" destOrd="0" presId="urn:microsoft.com/office/officeart/2005/8/layout/hList1"/>
    <dgm:cxn modelId="{D8657BCB-048C-40A1-AF26-3F0AD31C7B06}" type="presParOf" srcId="{26EE0C30-C792-4467-9BD6-ADEC9B4E6787}" destId="{8AB79BD5-3C14-4DCD-AF8E-6322BF0CC36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3E0989-9F6C-4812-ACA3-EF5FF31F41D4}">
      <dsp:nvSpPr>
        <dsp:cNvPr id="0" name=""/>
        <dsp:cNvSpPr/>
      </dsp:nvSpPr>
      <dsp:spPr>
        <a:xfrm>
          <a:off x="0" y="24459"/>
          <a:ext cx="10058399" cy="606060"/>
        </a:xfrm>
        <a:prstGeom prst="roundRect">
          <a:avLst/>
        </a:prstGeom>
        <a:solidFill>
          <a:schemeClr val="accent5">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dirty="0" err="1">
              <a:latin typeface="Times New Roman" panose="02020603050405020304" pitchFamily="18" charset="0"/>
              <a:cs typeface="Times New Roman" panose="02020603050405020304" pitchFamily="18" charset="0"/>
            </a:rPr>
            <a:t>Токенизация</a:t>
          </a:r>
          <a:r>
            <a:rPr lang="ru-RU" sz="1400" kern="1200" dirty="0">
              <a:latin typeface="Times New Roman" panose="02020603050405020304" pitchFamily="18" charset="0"/>
              <a:cs typeface="Times New Roman" panose="02020603050405020304" pitchFamily="18" charset="0"/>
            </a:rPr>
            <a:t> - разбиение длинных участков текста на более мелкие (абзацы, предложения, слова). </a:t>
          </a:r>
        </a:p>
        <a:p>
          <a:pPr marL="0" lvl="0" indent="0" algn="ctr" defTabSz="622300">
            <a:lnSpc>
              <a:spcPct val="90000"/>
            </a:lnSpc>
            <a:spcBef>
              <a:spcPct val="0"/>
            </a:spcBef>
            <a:spcAft>
              <a:spcPct val="35000"/>
            </a:spcAft>
            <a:buNone/>
          </a:pPr>
          <a:r>
            <a:rPr lang="ru-RU" sz="1400" kern="1200" dirty="0">
              <a:latin typeface="Times New Roman" panose="02020603050405020304" pitchFamily="18" charset="0"/>
              <a:cs typeface="Times New Roman" panose="02020603050405020304" pitchFamily="18" charset="0"/>
            </a:rPr>
            <a:t>(</a:t>
          </a:r>
          <a:r>
            <a:rPr lang="ru-RU" sz="1400" b="0" i="0" kern="1200" baseline="0" dirty="0" err="1">
              <a:latin typeface="Times New Roman" panose="02020603050405020304" pitchFamily="18" charset="0"/>
              <a:cs typeface="Times New Roman" panose="02020603050405020304" pitchFamily="18" charset="0"/>
            </a:rPr>
            <a:t>nltk.sent_tokenize</a:t>
          </a:r>
          <a:r>
            <a:rPr lang="ru-RU" sz="1400" kern="1200" dirty="0">
              <a:latin typeface="Times New Roman" panose="02020603050405020304" pitchFamily="18" charset="0"/>
              <a:cs typeface="Times New Roman" panose="02020603050405020304" pitchFamily="18" charset="0"/>
            </a:rPr>
            <a:t>, </a:t>
          </a:r>
          <a:r>
            <a:rPr lang="ru-RU" sz="1400" b="0" i="0" kern="1200" baseline="0" dirty="0" err="1">
              <a:latin typeface="Times New Roman" panose="02020603050405020304" pitchFamily="18" charset="0"/>
              <a:cs typeface="Times New Roman" panose="02020603050405020304" pitchFamily="18" charset="0"/>
            </a:rPr>
            <a:t>nltk.word_tokenize</a:t>
          </a:r>
          <a:r>
            <a:rPr lang="ru-RU" sz="1400" b="0" i="0" kern="1200" baseline="0" dirty="0">
              <a:latin typeface="Times New Roman" panose="02020603050405020304" pitchFamily="18" charset="0"/>
              <a:cs typeface="Times New Roman" panose="02020603050405020304" pitchFamily="18" charset="0"/>
            </a:rPr>
            <a:t> )</a:t>
          </a:r>
          <a:endParaRPr lang="en-US" sz="1400" kern="1200" dirty="0">
            <a:latin typeface="Times New Roman" panose="02020603050405020304" pitchFamily="18" charset="0"/>
            <a:cs typeface="Times New Roman" panose="02020603050405020304" pitchFamily="18" charset="0"/>
          </a:endParaRPr>
        </a:p>
      </dsp:txBody>
      <dsp:txXfrm>
        <a:off x="29585" y="54044"/>
        <a:ext cx="9999229" cy="546890"/>
      </dsp:txXfrm>
    </dsp:sp>
    <dsp:sp modelId="{499B90A8-946E-4E4D-9F88-7C666DDECE54}">
      <dsp:nvSpPr>
        <dsp:cNvPr id="0" name=""/>
        <dsp:cNvSpPr/>
      </dsp:nvSpPr>
      <dsp:spPr>
        <a:xfrm>
          <a:off x="0" y="650679"/>
          <a:ext cx="10058399" cy="606060"/>
        </a:xfrm>
        <a:prstGeom prst="roundRect">
          <a:avLst/>
        </a:prstGeom>
        <a:solidFill>
          <a:schemeClr val="accent5">
            <a:hueOff val="425424"/>
            <a:satOff val="-4778"/>
            <a:lumOff val="-102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latin typeface="Times New Roman" panose="02020603050405020304" pitchFamily="18" charset="0"/>
              <a:cs typeface="Times New Roman" panose="02020603050405020304" pitchFamily="18" charset="0"/>
            </a:rPr>
            <a:t>Удаление коротких слов, специальных символов и данных (</a:t>
          </a:r>
          <a:r>
            <a:rPr lang="en-US" sz="1400" kern="1200" dirty="0">
              <a:latin typeface="Times New Roman" panose="02020603050405020304" pitchFamily="18" charset="0"/>
              <a:cs typeface="Times New Roman" panose="02020603050405020304" pitchFamily="18" charset="0"/>
            </a:rPr>
            <a:t>URL, </a:t>
          </a:r>
          <a:r>
            <a:rPr lang="ru-RU" sz="1400" kern="1200" dirty="0">
              <a:latin typeface="Times New Roman" panose="02020603050405020304" pitchFamily="18" charset="0"/>
              <a:cs typeface="Times New Roman" panose="02020603050405020304" pitchFamily="18" charset="0"/>
            </a:rPr>
            <a:t>хэш-тэги, имя пользователя и т.д.)</a:t>
          </a:r>
          <a:endParaRPr lang="en-US" sz="1400" kern="1200" dirty="0">
            <a:latin typeface="Times New Roman" panose="02020603050405020304" pitchFamily="18" charset="0"/>
            <a:cs typeface="Times New Roman" panose="02020603050405020304" pitchFamily="18" charset="0"/>
          </a:endParaRPr>
        </a:p>
      </dsp:txBody>
      <dsp:txXfrm>
        <a:off x="29585" y="680264"/>
        <a:ext cx="9999229" cy="546890"/>
      </dsp:txXfrm>
    </dsp:sp>
    <dsp:sp modelId="{FAF6643B-0F8B-4E9F-A7D3-8958D4BC0FB2}">
      <dsp:nvSpPr>
        <dsp:cNvPr id="0" name=""/>
        <dsp:cNvSpPr/>
      </dsp:nvSpPr>
      <dsp:spPr>
        <a:xfrm>
          <a:off x="0" y="1276899"/>
          <a:ext cx="10058399" cy="606060"/>
        </a:xfrm>
        <a:prstGeom prst="roundRect">
          <a:avLst/>
        </a:prstGeom>
        <a:solidFill>
          <a:schemeClr val="accent5">
            <a:hueOff val="850848"/>
            <a:satOff val="-9556"/>
            <a:lumOff val="-2039"/>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err="1">
              <a:latin typeface="Times New Roman" panose="02020603050405020304" pitchFamily="18" charset="0"/>
              <a:cs typeface="Times New Roman" panose="02020603050405020304" pitchFamily="18" charset="0"/>
            </a:rPr>
            <a:t>Стеммизация</a:t>
          </a:r>
          <a:r>
            <a:rPr lang="ru-RU" sz="1400" kern="1200" dirty="0">
              <a:latin typeface="Times New Roman" panose="02020603050405020304" pitchFamily="18" charset="0"/>
              <a:cs typeface="Times New Roman" panose="02020603050405020304" pitchFamily="18" charset="0"/>
            </a:rPr>
            <a:t> (</a:t>
          </a:r>
          <a:r>
            <a:rPr lang="ru-RU" sz="1400" kern="1200" dirty="0" err="1">
              <a:latin typeface="Times New Roman" panose="02020603050405020304" pitchFamily="18" charset="0"/>
              <a:cs typeface="Times New Roman" panose="02020603050405020304" pitchFamily="18" charset="0"/>
            </a:rPr>
            <a:t>стемминг</a:t>
          </a:r>
          <a:r>
            <a:rPr lang="ru-RU" sz="1400" kern="1200" dirty="0">
              <a:latin typeface="Times New Roman" panose="02020603050405020304" pitchFamily="18" charset="0"/>
              <a:cs typeface="Times New Roman" panose="02020603050405020304" pitchFamily="18" charset="0"/>
            </a:rPr>
            <a:t>) - приведение слова к его корню путем устранения придатков (суффикса, приставки, окончания)</a:t>
          </a:r>
          <a:endParaRPr lang="en-US" sz="1400" kern="1200" dirty="0">
            <a:latin typeface="Times New Roman" panose="02020603050405020304" pitchFamily="18" charset="0"/>
            <a:cs typeface="Times New Roman" panose="02020603050405020304" pitchFamily="18" charset="0"/>
          </a:endParaRPr>
        </a:p>
      </dsp:txBody>
      <dsp:txXfrm>
        <a:off x="29585" y="1306484"/>
        <a:ext cx="9999229" cy="546890"/>
      </dsp:txXfrm>
    </dsp:sp>
    <dsp:sp modelId="{13744F52-5CD3-4789-9F05-CD8D607C101B}">
      <dsp:nvSpPr>
        <dsp:cNvPr id="0" name=""/>
        <dsp:cNvSpPr/>
      </dsp:nvSpPr>
      <dsp:spPr>
        <a:xfrm>
          <a:off x="0" y="1903119"/>
          <a:ext cx="10058399" cy="606060"/>
        </a:xfrm>
        <a:prstGeom prst="roundRect">
          <a:avLst/>
        </a:prstGeom>
        <a:solidFill>
          <a:schemeClr val="accent5">
            <a:hueOff val="1276272"/>
            <a:satOff val="-14335"/>
            <a:lumOff val="-3059"/>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err="1">
              <a:latin typeface="Times New Roman" panose="02020603050405020304" pitchFamily="18" charset="0"/>
              <a:cs typeface="Times New Roman" panose="02020603050405020304" pitchFamily="18" charset="0"/>
            </a:rPr>
            <a:t>Лемматизация</a:t>
          </a:r>
          <a:r>
            <a:rPr lang="ru-RU" sz="1400" kern="1200" dirty="0">
              <a:latin typeface="Times New Roman" panose="02020603050405020304" pitchFamily="18" charset="0"/>
              <a:cs typeface="Times New Roman" panose="02020603050405020304" pitchFamily="18" charset="0"/>
            </a:rPr>
            <a:t> - приведение слова к смысловой канонической форме слова (инфинитив для глагола, именительный падеж единственного числа — для существительных и прилагательных). </a:t>
          </a:r>
          <a:endParaRPr lang="en-US" sz="1400" kern="1200" dirty="0">
            <a:latin typeface="Times New Roman" panose="02020603050405020304" pitchFamily="18" charset="0"/>
            <a:cs typeface="Times New Roman" panose="02020603050405020304" pitchFamily="18" charset="0"/>
          </a:endParaRPr>
        </a:p>
      </dsp:txBody>
      <dsp:txXfrm>
        <a:off x="29585" y="1932704"/>
        <a:ext cx="9999229" cy="546890"/>
      </dsp:txXfrm>
    </dsp:sp>
    <dsp:sp modelId="{2AA2383D-C345-486C-83C3-F7A81C7B262D}">
      <dsp:nvSpPr>
        <dsp:cNvPr id="0" name=""/>
        <dsp:cNvSpPr/>
      </dsp:nvSpPr>
      <dsp:spPr>
        <a:xfrm>
          <a:off x="0" y="2529340"/>
          <a:ext cx="10058399" cy="606060"/>
        </a:xfrm>
        <a:prstGeom prst="roundRect">
          <a:avLst/>
        </a:prstGeom>
        <a:solidFill>
          <a:schemeClr val="accent5">
            <a:hueOff val="1701696"/>
            <a:satOff val="-19113"/>
            <a:lumOff val="-4078"/>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latin typeface="Times New Roman" panose="02020603050405020304" pitchFamily="18" charset="0"/>
              <a:cs typeface="Times New Roman" panose="02020603050405020304" pitchFamily="18" charset="0"/>
            </a:rPr>
            <a:t>Удаление стоп-слов – удаление слов, которые не несут смысловой нагрузки (артикли, междометья, союзы, предлоги и т.д.).</a:t>
          </a:r>
          <a:endParaRPr lang="en-US" sz="1400" kern="1200" dirty="0">
            <a:latin typeface="Times New Roman" panose="02020603050405020304" pitchFamily="18" charset="0"/>
            <a:cs typeface="Times New Roman" panose="02020603050405020304" pitchFamily="18" charset="0"/>
          </a:endParaRPr>
        </a:p>
      </dsp:txBody>
      <dsp:txXfrm>
        <a:off x="29585" y="2558925"/>
        <a:ext cx="9999229" cy="546890"/>
      </dsp:txXfrm>
    </dsp:sp>
    <dsp:sp modelId="{22870DB7-C8E8-4868-91A1-CB86A81B0CC3}">
      <dsp:nvSpPr>
        <dsp:cNvPr id="0" name=""/>
        <dsp:cNvSpPr/>
      </dsp:nvSpPr>
      <dsp:spPr>
        <a:xfrm>
          <a:off x="0" y="3155560"/>
          <a:ext cx="10058399" cy="606060"/>
        </a:xfrm>
        <a:prstGeom prst="roundRect">
          <a:avLst/>
        </a:prstGeom>
        <a:solidFill>
          <a:schemeClr val="accent5">
            <a:hueOff val="2127120"/>
            <a:satOff val="-23891"/>
            <a:lumOff val="-5098"/>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kern="1200" dirty="0">
              <a:latin typeface="Times New Roman" panose="02020603050405020304" pitchFamily="18" charset="0"/>
              <a:cs typeface="Times New Roman" panose="02020603050405020304" pitchFamily="18" charset="0"/>
            </a:rPr>
            <a:t>Приведение к одному регистру и замена специальных символов</a:t>
          </a:r>
          <a:endParaRPr lang="en-US" sz="1400" kern="1200" dirty="0">
            <a:latin typeface="Times New Roman" panose="02020603050405020304" pitchFamily="18" charset="0"/>
            <a:cs typeface="Times New Roman" panose="02020603050405020304" pitchFamily="18" charset="0"/>
          </a:endParaRPr>
        </a:p>
      </dsp:txBody>
      <dsp:txXfrm>
        <a:off x="29585" y="3185145"/>
        <a:ext cx="9999229" cy="5468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482015-9964-48D0-85B5-CBC76E27C193}">
      <dsp:nvSpPr>
        <dsp:cNvPr id="0" name=""/>
        <dsp:cNvSpPr/>
      </dsp:nvSpPr>
      <dsp:spPr>
        <a:xfrm>
          <a:off x="2166" y="363619"/>
          <a:ext cx="2112764" cy="833686"/>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ru-RU" sz="2300" kern="1200" dirty="0"/>
            <a:t>Без сжатия</a:t>
          </a:r>
        </a:p>
      </dsp:txBody>
      <dsp:txXfrm>
        <a:off x="2166" y="363619"/>
        <a:ext cx="2112764" cy="833686"/>
      </dsp:txXfrm>
    </dsp:sp>
    <dsp:sp modelId="{797235C2-E49D-4F91-B109-46D987B84AB2}">
      <dsp:nvSpPr>
        <dsp:cNvPr id="0" name=""/>
        <dsp:cNvSpPr/>
      </dsp:nvSpPr>
      <dsp:spPr>
        <a:xfrm>
          <a:off x="2166" y="1197306"/>
          <a:ext cx="2112764" cy="281739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RAW</a:t>
          </a:r>
          <a:endParaRPr lang="ru-RU" sz="2300" kern="1200" dirty="0"/>
        </a:p>
        <a:p>
          <a:pPr marL="228600" lvl="1" indent="-228600" algn="l" defTabSz="1022350">
            <a:lnSpc>
              <a:spcPct val="90000"/>
            </a:lnSpc>
            <a:spcBef>
              <a:spcPct val="0"/>
            </a:spcBef>
            <a:spcAft>
              <a:spcPct val="15000"/>
            </a:spcAft>
            <a:buChar char="•"/>
          </a:pPr>
          <a:r>
            <a:rPr lang="en-US" sz="2300" kern="1200" dirty="0"/>
            <a:t>WAV</a:t>
          </a:r>
          <a:endParaRPr lang="ru-RU" sz="2300" kern="1200" dirty="0"/>
        </a:p>
        <a:p>
          <a:pPr marL="228600" lvl="1" indent="-228600" algn="l" defTabSz="1022350">
            <a:lnSpc>
              <a:spcPct val="90000"/>
            </a:lnSpc>
            <a:spcBef>
              <a:spcPct val="0"/>
            </a:spcBef>
            <a:spcAft>
              <a:spcPct val="15000"/>
            </a:spcAft>
            <a:buChar char="•"/>
          </a:pPr>
          <a:r>
            <a:rPr lang="en-US" sz="2300" kern="1200" dirty="0"/>
            <a:t>AIFF</a:t>
          </a:r>
          <a:endParaRPr lang="ru-RU" sz="2300" kern="1200" dirty="0"/>
        </a:p>
        <a:p>
          <a:pPr marL="228600" lvl="1" indent="-228600" algn="l" defTabSz="1022350">
            <a:lnSpc>
              <a:spcPct val="90000"/>
            </a:lnSpc>
            <a:spcBef>
              <a:spcPct val="0"/>
            </a:spcBef>
            <a:spcAft>
              <a:spcPct val="15000"/>
            </a:spcAft>
            <a:buChar char="•"/>
          </a:pPr>
          <a:r>
            <a:rPr lang="en-US" sz="2300" kern="1200" dirty="0"/>
            <a:t>CDDA</a:t>
          </a:r>
          <a:endParaRPr lang="ru-RU" sz="2300" kern="1200" dirty="0"/>
        </a:p>
        <a:p>
          <a:pPr marL="228600" lvl="1" indent="-228600" algn="l" defTabSz="1022350">
            <a:lnSpc>
              <a:spcPct val="90000"/>
            </a:lnSpc>
            <a:spcBef>
              <a:spcPct val="0"/>
            </a:spcBef>
            <a:spcAft>
              <a:spcPct val="15000"/>
            </a:spcAft>
            <a:buChar char="•"/>
          </a:pPr>
          <a:r>
            <a:rPr lang="en-US" sz="2300" kern="1200" dirty="0"/>
            <a:t>…</a:t>
          </a:r>
          <a:endParaRPr lang="ru-RU" sz="2300" kern="1200" dirty="0"/>
        </a:p>
      </dsp:txBody>
      <dsp:txXfrm>
        <a:off x="2166" y="1197306"/>
        <a:ext cx="2112764" cy="2817399"/>
      </dsp:txXfrm>
    </dsp:sp>
    <dsp:sp modelId="{A59C8855-9501-424B-A587-5852C0DCD28C}">
      <dsp:nvSpPr>
        <dsp:cNvPr id="0" name=""/>
        <dsp:cNvSpPr/>
      </dsp:nvSpPr>
      <dsp:spPr>
        <a:xfrm>
          <a:off x="2410717" y="363619"/>
          <a:ext cx="2112764" cy="833686"/>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ru-RU" sz="2300" kern="1200" dirty="0"/>
            <a:t>Со сжатием</a:t>
          </a:r>
          <a:r>
            <a:rPr lang="en-US" sz="2300" kern="1200" dirty="0"/>
            <a:t> </a:t>
          </a:r>
          <a:r>
            <a:rPr lang="ru-RU" sz="2300" kern="1200" dirty="0"/>
            <a:t>без потерь</a:t>
          </a:r>
        </a:p>
      </dsp:txBody>
      <dsp:txXfrm>
        <a:off x="2410717" y="363619"/>
        <a:ext cx="2112764" cy="833686"/>
      </dsp:txXfrm>
    </dsp:sp>
    <dsp:sp modelId="{A5DF4C2D-89E0-4FED-AE65-758EAB792ACE}">
      <dsp:nvSpPr>
        <dsp:cNvPr id="0" name=""/>
        <dsp:cNvSpPr/>
      </dsp:nvSpPr>
      <dsp:spPr>
        <a:xfrm>
          <a:off x="2410717" y="1197306"/>
          <a:ext cx="2112764" cy="281739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FLAC</a:t>
          </a:r>
          <a:endParaRPr lang="ru-RU" sz="2300" kern="1200" dirty="0"/>
        </a:p>
        <a:p>
          <a:pPr marL="228600" lvl="1" indent="-228600" algn="l" defTabSz="1022350">
            <a:lnSpc>
              <a:spcPct val="90000"/>
            </a:lnSpc>
            <a:spcBef>
              <a:spcPct val="0"/>
            </a:spcBef>
            <a:spcAft>
              <a:spcPct val="15000"/>
            </a:spcAft>
            <a:buChar char="•"/>
          </a:pPr>
          <a:r>
            <a:rPr lang="en-US" sz="2300" kern="1200" dirty="0"/>
            <a:t>Apple Lossless</a:t>
          </a:r>
          <a:endParaRPr lang="ru-RU" sz="2300" kern="1200" dirty="0"/>
        </a:p>
        <a:p>
          <a:pPr marL="228600" lvl="1" indent="-228600" algn="l" defTabSz="1022350">
            <a:lnSpc>
              <a:spcPct val="90000"/>
            </a:lnSpc>
            <a:spcBef>
              <a:spcPct val="0"/>
            </a:spcBef>
            <a:spcAft>
              <a:spcPct val="15000"/>
            </a:spcAft>
            <a:buChar char="•"/>
          </a:pPr>
          <a:r>
            <a:rPr lang="en-US" sz="2300" kern="1200" dirty="0"/>
            <a:t>Monkey’s Audio</a:t>
          </a:r>
          <a:endParaRPr lang="ru-RU" sz="2300" kern="1200" dirty="0"/>
        </a:p>
        <a:p>
          <a:pPr marL="228600" lvl="1" indent="-228600" algn="l" defTabSz="1022350">
            <a:lnSpc>
              <a:spcPct val="90000"/>
            </a:lnSpc>
            <a:spcBef>
              <a:spcPct val="0"/>
            </a:spcBef>
            <a:spcAft>
              <a:spcPct val="15000"/>
            </a:spcAft>
            <a:buChar char="•"/>
          </a:pPr>
          <a:r>
            <a:rPr lang="en-US" sz="2300" kern="1200" dirty="0"/>
            <a:t>ADX</a:t>
          </a:r>
          <a:endParaRPr lang="ru-RU" sz="2300" kern="1200" dirty="0"/>
        </a:p>
        <a:p>
          <a:pPr marL="228600" lvl="1" indent="-228600" algn="l" defTabSz="1022350">
            <a:lnSpc>
              <a:spcPct val="90000"/>
            </a:lnSpc>
            <a:spcBef>
              <a:spcPct val="0"/>
            </a:spcBef>
            <a:spcAft>
              <a:spcPct val="15000"/>
            </a:spcAft>
            <a:buChar char="•"/>
          </a:pPr>
          <a:r>
            <a:rPr lang="en-US" sz="2300" kern="1200" dirty="0"/>
            <a:t>…</a:t>
          </a:r>
          <a:endParaRPr lang="ru-RU" sz="2300" kern="1200" dirty="0"/>
        </a:p>
      </dsp:txBody>
      <dsp:txXfrm>
        <a:off x="2410717" y="1197306"/>
        <a:ext cx="2112764" cy="2817399"/>
      </dsp:txXfrm>
    </dsp:sp>
    <dsp:sp modelId="{BE565B96-45E8-485F-98BB-05F8446ECB09}">
      <dsp:nvSpPr>
        <dsp:cNvPr id="0" name=""/>
        <dsp:cNvSpPr/>
      </dsp:nvSpPr>
      <dsp:spPr>
        <a:xfrm>
          <a:off x="4819269" y="363619"/>
          <a:ext cx="2112764" cy="833686"/>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ru-RU" sz="2300" kern="1200" dirty="0"/>
            <a:t>Со сжатием с потерями</a:t>
          </a:r>
        </a:p>
      </dsp:txBody>
      <dsp:txXfrm>
        <a:off x="4819269" y="363619"/>
        <a:ext cx="2112764" cy="833686"/>
      </dsp:txXfrm>
    </dsp:sp>
    <dsp:sp modelId="{8AB79BD5-3C14-4DCD-AF8E-6322BF0CC362}">
      <dsp:nvSpPr>
        <dsp:cNvPr id="0" name=""/>
        <dsp:cNvSpPr/>
      </dsp:nvSpPr>
      <dsp:spPr>
        <a:xfrm>
          <a:off x="4819269" y="1197306"/>
          <a:ext cx="2112764" cy="281739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MP3</a:t>
          </a:r>
          <a:endParaRPr lang="ru-RU" sz="2300" kern="1200" dirty="0"/>
        </a:p>
        <a:p>
          <a:pPr marL="228600" lvl="1" indent="-228600" algn="l" defTabSz="1022350">
            <a:lnSpc>
              <a:spcPct val="90000"/>
            </a:lnSpc>
            <a:spcBef>
              <a:spcPct val="0"/>
            </a:spcBef>
            <a:spcAft>
              <a:spcPct val="15000"/>
            </a:spcAft>
            <a:buChar char="•"/>
          </a:pPr>
          <a:r>
            <a:rPr lang="en-US" sz="2300" kern="1200" dirty="0"/>
            <a:t>MP2</a:t>
          </a:r>
          <a:endParaRPr lang="ru-RU" sz="2300" kern="1200" dirty="0"/>
        </a:p>
        <a:p>
          <a:pPr marL="228600" lvl="1" indent="-228600" algn="l" defTabSz="1022350">
            <a:lnSpc>
              <a:spcPct val="90000"/>
            </a:lnSpc>
            <a:spcBef>
              <a:spcPct val="0"/>
            </a:spcBef>
            <a:spcAft>
              <a:spcPct val="15000"/>
            </a:spcAft>
            <a:buChar char="•"/>
          </a:pPr>
          <a:r>
            <a:rPr lang="en-US" sz="2300" kern="1200" dirty="0"/>
            <a:t>AAC</a:t>
          </a:r>
          <a:endParaRPr lang="ru-RU" sz="2300" kern="1200" dirty="0"/>
        </a:p>
        <a:p>
          <a:pPr marL="228600" lvl="1" indent="-228600" algn="l" defTabSz="1022350">
            <a:lnSpc>
              <a:spcPct val="90000"/>
            </a:lnSpc>
            <a:spcBef>
              <a:spcPct val="0"/>
            </a:spcBef>
            <a:spcAft>
              <a:spcPct val="15000"/>
            </a:spcAft>
            <a:buChar char="•"/>
          </a:pPr>
          <a:r>
            <a:rPr lang="en-US" sz="2300" kern="1200" dirty="0" err="1"/>
            <a:t>Vorbis</a:t>
          </a:r>
          <a:endParaRPr lang="ru-RU" sz="2300" kern="1200" dirty="0"/>
        </a:p>
        <a:p>
          <a:pPr marL="228600" lvl="1" indent="-228600" algn="l" defTabSz="1022350">
            <a:lnSpc>
              <a:spcPct val="90000"/>
            </a:lnSpc>
            <a:spcBef>
              <a:spcPct val="0"/>
            </a:spcBef>
            <a:spcAft>
              <a:spcPct val="15000"/>
            </a:spcAft>
            <a:buChar char="•"/>
          </a:pPr>
          <a:r>
            <a:rPr lang="en-US" sz="2300" kern="1200" dirty="0"/>
            <a:t>WMA</a:t>
          </a:r>
          <a:endParaRPr lang="ru-RU" sz="2300" kern="1200" dirty="0"/>
        </a:p>
        <a:p>
          <a:pPr marL="228600" lvl="1" indent="-228600" algn="l" defTabSz="1022350">
            <a:lnSpc>
              <a:spcPct val="90000"/>
            </a:lnSpc>
            <a:spcBef>
              <a:spcPct val="0"/>
            </a:spcBef>
            <a:spcAft>
              <a:spcPct val="15000"/>
            </a:spcAft>
            <a:buChar char="•"/>
          </a:pPr>
          <a:r>
            <a:rPr lang="en-US" sz="2300" kern="1200" dirty="0"/>
            <a:t>…</a:t>
          </a:r>
          <a:endParaRPr lang="ru-RU" sz="2300" kern="1200" dirty="0"/>
        </a:p>
      </dsp:txBody>
      <dsp:txXfrm>
        <a:off x="4819269" y="1197306"/>
        <a:ext cx="2112764" cy="281739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BA26DC-DDDC-4CC5-A23D-6BEC709730EF}"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3DD0B6-1277-41EA-8696-C19CAC9912B8}" type="slidenum">
              <a:rPr lang="en-US" smtClean="0"/>
              <a:t>‹#›</a:t>
            </a:fld>
            <a:endParaRPr lang="en-US"/>
          </a:p>
        </p:txBody>
      </p:sp>
    </p:spTree>
    <p:extLst>
      <p:ext uri="{BB962C8B-B14F-4D97-AF65-F5344CB8AC3E}">
        <p14:creationId xmlns:p14="http://schemas.microsoft.com/office/powerpoint/2010/main" val="2680072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3DD0B6-1277-41EA-8696-C19CAC9912B8}" type="slidenum">
              <a:rPr lang="en-US" smtClean="0"/>
              <a:t>1</a:t>
            </a:fld>
            <a:endParaRPr lang="en-US"/>
          </a:p>
        </p:txBody>
      </p:sp>
    </p:spTree>
    <p:extLst>
      <p:ext uri="{BB962C8B-B14F-4D97-AF65-F5344CB8AC3E}">
        <p14:creationId xmlns:p14="http://schemas.microsoft.com/office/powerpoint/2010/main" val="1445877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3DD0B6-1277-41EA-8696-C19CAC9912B8}" type="slidenum">
              <a:rPr lang="en-US" smtClean="0"/>
              <a:t>3</a:t>
            </a:fld>
            <a:endParaRPr lang="en-US"/>
          </a:p>
        </p:txBody>
      </p:sp>
    </p:spTree>
    <p:extLst>
      <p:ext uri="{BB962C8B-B14F-4D97-AF65-F5344CB8AC3E}">
        <p14:creationId xmlns:p14="http://schemas.microsoft.com/office/powerpoint/2010/main" val="819829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F33DD0B6-1277-41EA-8696-C19CAC9912B8}" type="slidenum">
              <a:rPr lang="en-US" smtClean="0"/>
              <a:t>4</a:t>
            </a:fld>
            <a:endParaRPr lang="en-US"/>
          </a:p>
        </p:txBody>
      </p:sp>
    </p:spTree>
    <p:extLst>
      <p:ext uri="{BB962C8B-B14F-4D97-AF65-F5344CB8AC3E}">
        <p14:creationId xmlns:p14="http://schemas.microsoft.com/office/powerpoint/2010/main" val="918334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F33DD0B6-1277-41EA-8696-C19CAC9912B8}" type="slidenum">
              <a:rPr lang="en-US" smtClean="0"/>
              <a:t>5</a:t>
            </a:fld>
            <a:endParaRPr lang="en-US"/>
          </a:p>
        </p:txBody>
      </p:sp>
    </p:spTree>
    <p:extLst>
      <p:ext uri="{BB962C8B-B14F-4D97-AF65-F5344CB8AC3E}">
        <p14:creationId xmlns:p14="http://schemas.microsoft.com/office/powerpoint/2010/main" val="2056345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33DD0B6-1277-41EA-8696-C19CAC9912B8}" type="slidenum">
              <a:rPr lang="en-US" smtClean="0"/>
              <a:t>6</a:t>
            </a:fld>
            <a:endParaRPr lang="en-US"/>
          </a:p>
        </p:txBody>
      </p:sp>
    </p:spTree>
    <p:extLst>
      <p:ext uri="{BB962C8B-B14F-4D97-AF65-F5344CB8AC3E}">
        <p14:creationId xmlns:p14="http://schemas.microsoft.com/office/powerpoint/2010/main" val="2672646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F33DD0B6-1277-41EA-8696-C19CAC9912B8}" type="slidenum">
              <a:rPr lang="en-US" smtClean="0"/>
              <a:t>7</a:t>
            </a:fld>
            <a:endParaRPr lang="en-US"/>
          </a:p>
        </p:txBody>
      </p:sp>
    </p:spTree>
    <p:extLst>
      <p:ext uri="{BB962C8B-B14F-4D97-AF65-F5344CB8AC3E}">
        <p14:creationId xmlns:p14="http://schemas.microsoft.com/office/powerpoint/2010/main" val="1269238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F33DD0B6-1277-41EA-8696-C19CAC9912B8}" type="slidenum">
              <a:rPr lang="en-US" smtClean="0"/>
              <a:t>10</a:t>
            </a:fld>
            <a:endParaRPr lang="en-US"/>
          </a:p>
        </p:txBody>
      </p:sp>
    </p:spTree>
    <p:extLst>
      <p:ext uri="{BB962C8B-B14F-4D97-AF65-F5344CB8AC3E}">
        <p14:creationId xmlns:p14="http://schemas.microsoft.com/office/powerpoint/2010/main" val="1922062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33DD0B6-1277-41EA-8696-C19CAC9912B8}" type="slidenum">
              <a:rPr lang="en-US" smtClean="0"/>
              <a:t>11</a:t>
            </a:fld>
            <a:endParaRPr lang="en-US"/>
          </a:p>
        </p:txBody>
      </p:sp>
    </p:spTree>
    <p:extLst>
      <p:ext uri="{BB962C8B-B14F-4D97-AF65-F5344CB8AC3E}">
        <p14:creationId xmlns:p14="http://schemas.microsoft.com/office/powerpoint/2010/main" val="1778381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33DD0B6-1277-41EA-8696-C19CAC9912B8}" type="slidenum">
              <a:rPr lang="en-US" smtClean="0"/>
              <a:t>12</a:t>
            </a:fld>
            <a:endParaRPr lang="en-US"/>
          </a:p>
        </p:txBody>
      </p:sp>
    </p:spTree>
    <p:extLst>
      <p:ext uri="{BB962C8B-B14F-4D97-AF65-F5344CB8AC3E}">
        <p14:creationId xmlns:p14="http://schemas.microsoft.com/office/powerpoint/2010/main" val="3524510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33DD0B6-1277-41EA-8696-C19CAC9912B8}" type="slidenum">
              <a:rPr lang="en-US" smtClean="0"/>
              <a:t>13</a:t>
            </a:fld>
            <a:endParaRPr lang="en-US"/>
          </a:p>
        </p:txBody>
      </p:sp>
    </p:spTree>
    <p:extLst>
      <p:ext uri="{BB962C8B-B14F-4D97-AF65-F5344CB8AC3E}">
        <p14:creationId xmlns:p14="http://schemas.microsoft.com/office/powerpoint/2010/main" val="1479799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3DD0B6-1277-41EA-8696-C19CAC9912B8}" type="slidenum">
              <a:rPr lang="en-US" smtClean="0"/>
              <a:t>14</a:t>
            </a:fld>
            <a:endParaRPr lang="en-US"/>
          </a:p>
        </p:txBody>
      </p:sp>
    </p:spTree>
    <p:extLst>
      <p:ext uri="{BB962C8B-B14F-4D97-AF65-F5344CB8AC3E}">
        <p14:creationId xmlns:p14="http://schemas.microsoft.com/office/powerpoint/2010/main" val="3487247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33DD0B6-1277-41EA-8696-C19CAC9912B8}" type="slidenum">
              <a:rPr lang="en-US" smtClean="0"/>
              <a:t>15</a:t>
            </a:fld>
            <a:endParaRPr lang="en-US"/>
          </a:p>
        </p:txBody>
      </p:sp>
    </p:spTree>
    <p:extLst>
      <p:ext uri="{BB962C8B-B14F-4D97-AF65-F5344CB8AC3E}">
        <p14:creationId xmlns:p14="http://schemas.microsoft.com/office/powerpoint/2010/main" val="1885784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F33DD0B6-1277-41EA-8696-C19CAC9912B8}" type="slidenum">
              <a:rPr lang="en-US" smtClean="0"/>
              <a:t>17</a:t>
            </a:fld>
            <a:endParaRPr lang="en-US"/>
          </a:p>
        </p:txBody>
      </p:sp>
    </p:spTree>
    <p:extLst>
      <p:ext uri="{BB962C8B-B14F-4D97-AF65-F5344CB8AC3E}">
        <p14:creationId xmlns:p14="http://schemas.microsoft.com/office/powerpoint/2010/main" val="2184467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33DD0B6-1277-41EA-8696-C19CAC9912B8}" type="slidenum">
              <a:rPr lang="en-US" smtClean="0"/>
              <a:t>18</a:t>
            </a:fld>
            <a:endParaRPr lang="en-US"/>
          </a:p>
        </p:txBody>
      </p:sp>
    </p:spTree>
    <p:extLst>
      <p:ext uri="{BB962C8B-B14F-4D97-AF65-F5344CB8AC3E}">
        <p14:creationId xmlns:p14="http://schemas.microsoft.com/office/powerpoint/2010/main" val="1327077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https://www.kaggle.com/khsamaha/solar-flares-rhessi?select=hessi.solar.flare.2002to2016.csv</a:t>
            </a:r>
            <a:endParaRPr lang="ru-RU" b="1" dirty="0"/>
          </a:p>
          <a:p>
            <a:endParaRPr lang="en-US" b="1" dirty="0"/>
          </a:p>
        </p:txBody>
      </p:sp>
      <p:sp>
        <p:nvSpPr>
          <p:cNvPr id="4" name="Slide Number Placeholder 3"/>
          <p:cNvSpPr>
            <a:spLocks noGrp="1"/>
          </p:cNvSpPr>
          <p:nvPr>
            <p:ph type="sldNum" sz="quarter" idx="5"/>
          </p:nvPr>
        </p:nvSpPr>
        <p:spPr/>
        <p:txBody>
          <a:bodyPr/>
          <a:lstStyle/>
          <a:p>
            <a:fld id="{F33DD0B6-1277-41EA-8696-C19CAC9912B8}" type="slidenum">
              <a:rPr lang="en-US" smtClean="0"/>
              <a:t>20</a:t>
            </a:fld>
            <a:endParaRPr lang="en-US"/>
          </a:p>
        </p:txBody>
      </p:sp>
    </p:spTree>
    <p:extLst>
      <p:ext uri="{BB962C8B-B14F-4D97-AF65-F5344CB8AC3E}">
        <p14:creationId xmlns:p14="http://schemas.microsoft.com/office/powerpoint/2010/main" val="2725548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Словарь</a:t>
            </a:r>
            <a:endParaRPr lang="LID4096" dirty="0"/>
          </a:p>
        </p:txBody>
      </p:sp>
      <p:sp>
        <p:nvSpPr>
          <p:cNvPr id="4" name="Slide Number Placeholder 3"/>
          <p:cNvSpPr>
            <a:spLocks noGrp="1"/>
          </p:cNvSpPr>
          <p:nvPr>
            <p:ph type="sldNum" sz="quarter" idx="5"/>
          </p:nvPr>
        </p:nvSpPr>
        <p:spPr/>
        <p:txBody>
          <a:bodyPr/>
          <a:lstStyle/>
          <a:p>
            <a:fld id="{F33DD0B6-1277-41EA-8696-C19CAC9912B8}" type="slidenum">
              <a:rPr lang="en-US" smtClean="0"/>
              <a:t>22</a:t>
            </a:fld>
            <a:endParaRPr lang="en-US"/>
          </a:p>
        </p:txBody>
      </p:sp>
    </p:spTree>
    <p:extLst>
      <p:ext uri="{BB962C8B-B14F-4D97-AF65-F5344CB8AC3E}">
        <p14:creationId xmlns:p14="http://schemas.microsoft.com/office/powerpoint/2010/main" val="1775032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F33DD0B6-1277-41EA-8696-C19CAC9912B8}" type="slidenum">
              <a:rPr lang="en-US" smtClean="0"/>
              <a:t>23</a:t>
            </a:fld>
            <a:endParaRPr lang="en-US"/>
          </a:p>
        </p:txBody>
      </p:sp>
    </p:spTree>
    <p:extLst>
      <p:ext uri="{BB962C8B-B14F-4D97-AF65-F5344CB8AC3E}">
        <p14:creationId xmlns:p14="http://schemas.microsoft.com/office/powerpoint/2010/main" val="30592420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F33DD0B6-1277-41EA-8696-C19CAC9912B8}" type="slidenum">
              <a:rPr lang="en-US" smtClean="0"/>
              <a:t>24</a:t>
            </a:fld>
            <a:endParaRPr lang="en-US"/>
          </a:p>
        </p:txBody>
      </p:sp>
    </p:spTree>
    <p:extLst>
      <p:ext uri="{BB962C8B-B14F-4D97-AF65-F5344CB8AC3E}">
        <p14:creationId xmlns:p14="http://schemas.microsoft.com/office/powerpoint/2010/main" val="7107384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Дисклеймер – сейчас будет хардкорная алгебра, мы её не будем выводить, доказывать и объяснять, а просто скажем, что так можно</a:t>
            </a:r>
            <a:endParaRPr lang="LID4096" dirty="0"/>
          </a:p>
        </p:txBody>
      </p:sp>
      <p:sp>
        <p:nvSpPr>
          <p:cNvPr id="4" name="Slide Number Placeholder 3"/>
          <p:cNvSpPr>
            <a:spLocks noGrp="1"/>
          </p:cNvSpPr>
          <p:nvPr>
            <p:ph type="sldNum" sz="quarter" idx="5"/>
          </p:nvPr>
        </p:nvSpPr>
        <p:spPr/>
        <p:txBody>
          <a:bodyPr/>
          <a:lstStyle/>
          <a:p>
            <a:fld id="{F33DD0B6-1277-41EA-8696-C19CAC9912B8}" type="slidenum">
              <a:rPr lang="en-US" smtClean="0"/>
              <a:t>26</a:t>
            </a:fld>
            <a:endParaRPr lang="en-US"/>
          </a:p>
        </p:txBody>
      </p:sp>
    </p:spTree>
    <p:extLst>
      <p:ext uri="{BB962C8B-B14F-4D97-AF65-F5344CB8AC3E}">
        <p14:creationId xmlns:p14="http://schemas.microsoft.com/office/powerpoint/2010/main" val="38673085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33DD0B6-1277-41EA-8696-C19CAC9912B8}" type="slidenum">
              <a:rPr lang="en-US" smtClean="0"/>
              <a:t>28</a:t>
            </a:fld>
            <a:endParaRPr lang="en-US"/>
          </a:p>
        </p:txBody>
      </p:sp>
    </p:spTree>
    <p:extLst>
      <p:ext uri="{BB962C8B-B14F-4D97-AF65-F5344CB8AC3E}">
        <p14:creationId xmlns:p14="http://schemas.microsoft.com/office/powerpoint/2010/main" val="561642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F33DD0B6-1277-41EA-8696-C19CAC9912B8}" type="slidenum">
              <a:rPr lang="en-US" smtClean="0"/>
              <a:t>30</a:t>
            </a:fld>
            <a:endParaRPr lang="en-US"/>
          </a:p>
        </p:txBody>
      </p:sp>
    </p:spTree>
    <p:extLst>
      <p:ext uri="{BB962C8B-B14F-4D97-AF65-F5344CB8AC3E}">
        <p14:creationId xmlns:p14="http://schemas.microsoft.com/office/powerpoint/2010/main" val="14304133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F33DD0B6-1277-41EA-8696-C19CAC9912B8}" type="slidenum">
              <a:rPr lang="en-US" smtClean="0"/>
              <a:t>31</a:t>
            </a:fld>
            <a:endParaRPr lang="en-US"/>
          </a:p>
        </p:txBody>
      </p:sp>
    </p:spTree>
    <p:extLst>
      <p:ext uri="{BB962C8B-B14F-4D97-AF65-F5344CB8AC3E}">
        <p14:creationId xmlns:p14="http://schemas.microsoft.com/office/powerpoint/2010/main" val="18955309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3DD0B6-1277-41EA-8696-C19CAC9912B8}" type="slidenum">
              <a:rPr lang="en-US" smtClean="0"/>
              <a:t>33</a:t>
            </a:fld>
            <a:endParaRPr lang="en-US"/>
          </a:p>
        </p:txBody>
      </p:sp>
    </p:spTree>
    <p:extLst>
      <p:ext uri="{BB962C8B-B14F-4D97-AF65-F5344CB8AC3E}">
        <p14:creationId xmlns:p14="http://schemas.microsoft.com/office/powerpoint/2010/main" val="1422755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3DD0B6-1277-41EA-8696-C19CAC9912B8}" type="slidenum">
              <a:rPr lang="en-US" smtClean="0"/>
              <a:t>37</a:t>
            </a:fld>
            <a:endParaRPr lang="en-US"/>
          </a:p>
        </p:txBody>
      </p:sp>
    </p:spTree>
    <p:extLst>
      <p:ext uri="{BB962C8B-B14F-4D97-AF65-F5344CB8AC3E}">
        <p14:creationId xmlns:p14="http://schemas.microsoft.com/office/powerpoint/2010/main" val="403860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3DD0B6-1277-41EA-8696-C19CAC9912B8}" type="slidenum">
              <a:rPr lang="en-US" smtClean="0"/>
              <a:t>38</a:t>
            </a:fld>
            <a:endParaRPr lang="en-US"/>
          </a:p>
        </p:txBody>
      </p:sp>
    </p:spTree>
    <p:extLst>
      <p:ext uri="{BB962C8B-B14F-4D97-AF65-F5344CB8AC3E}">
        <p14:creationId xmlns:p14="http://schemas.microsoft.com/office/powerpoint/2010/main" val="36645864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7B4D6E-B0FE-488E-9D06-8BA112C678A9}" type="slidenum">
              <a:rPr lang="ru-RU" altLang="ru-BY" smtClean="0"/>
              <a:pPr/>
              <a:t>42</a:t>
            </a:fld>
            <a:endParaRPr lang="ru-RU" altLang="ru-BY"/>
          </a:p>
        </p:txBody>
      </p:sp>
    </p:spTree>
    <p:extLst>
      <p:ext uri="{BB962C8B-B14F-4D97-AF65-F5344CB8AC3E}">
        <p14:creationId xmlns:p14="http://schemas.microsoft.com/office/powerpoint/2010/main" val="30643528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7B4D6E-B0FE-488E-9D06-8BA112C678A9}" type="slidenum">
              <a:rPr lang="ru-RU" altLang="ru-BY" smtClean="0"/>
              <a:pPr/>
              <a:t>43</a:t>
            </a:fld>
            <a:endParaRPr lang="ru-RU" altLang="ru-BY"/>
          </a:p>
        </p:txBody>
      </p:sp>
    </p:spTree>
    <p:extLst>
      <p:ext uri="{BB962C8B-B14F-4D97-AF65-F5344CB8AC3E}">
        <p14:creationId xmlns:p14="http://schemas.microsoft.com/office/powerpoint/2010/main" val="74628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Хорошо, возьмём </a:t>
            </a:r>
            <a:r>
              <a:rPr lang="ru-RU" b="1" dirty="0"/>
              <a:t>часовую стрелку</a:t>
            </a:r>
            <a:r>
              <a:rPr lang="ru-RU" dirty="0"/>
              <a:t>.</a:t>
            </a:r>
          </a:p>
          <a:p>
            <a:r>
              <a:rPr lang="ru-RU" b="1" dirty="0"/>
              <a:t>Пример с часами</a:t>
            </a:r>
          </a:p>
          <a:p>
            <a:r>
              <a:rPr lang="ru-RU" dirty="0"/>
              <a:t>Часовая стрелка делает полный оборот за </a:t>
            </a:r>
            <a:r>
              <a:rPr lang="ru-RU" b="1" dirty="0"/>
              <a:t>12 часов</a:t>
            </a:r>
            <a:r>
              <a:rPr lang="ru-RU" dirty="0"/>
              <a:t>. Это её «период». Допустим, вы смотрите на часы не постоянно, а изредка, через равные промежутки, и по этим взглядам пытаетесь понять, как идёт время.</a:t>
            </a:r>
          </a:p>
          <a:p>
            <a:r>
              <a:rPr lang="ru-RU" b="1" dirty="0"/>
              <a:t>Смотрите каждый час.</a:t>
            </a:r>
            <a:r>
              <a:rPr lang="ru-RU" dirty="0"/>
              <a:t> Стрелка в 1, во 2, в 3… Видно, что она идёт вперёд и с какой скоростью. Всё восстанавливается.</a:t>
            </a:r>
          </a:p>
          <a:p>
            <a:r>
              <a:rPr lang="ru-RU" b="1" dirty="0"/>
              <a:t>Смотрите ровно раз в 12 часов.</a:t>
            </a:r>
            <a:r>
              <a:rPr lang="ru-RU" dirty="0"/>
              <a:t> Стрелка каждый раз показывает одно и то же, например 3. Кажется, что </a:t>
            </a:r>
            <a:r>
              <a:rPr lang="ru-RU" b="1" dirty="0"/>
              <a:t>часы стоят</a:t>
            </a:r>
            <a:r>
              <a:rPr lang="ru-RU" dirty="0"/>
              <a:t>, хотя они шли всё это время.</a:t>
            </a:r>
          </a:p>
          <a:p>
            <a:r>
              <a:rPr lang="ru-RU" b="1" dirty="0"/>
              <a:t>Смотрите раз в 11 часов.</a:t>
            </a:r>
            <a:r>
              <a:rPr lang="ru-RU" dirty="0"/>
              <a:t> Сначала стрелка на 12, через 11 часов — на 11, ещё через 11 — на 10. Кажется, что </a:t>
            </a:r>
            <a:r>
              <a:rPr lang="ru-RU" b="1" dirty="0"/>
              <a:t>часы идут назад</a:t>
            </a:r>
            <a:r>
              <a:rPr lang="ru-RU" dirty="0"/>
              <a:t>, по часу за взгляд. Хотя на самом деле стрелка честно прошла почти полный круг вперёд.</a:t>
            </a:r>
          </a:p>
          <a:p>
            <a:r>
              <a:rPr lang="ru-RU" b="1" dirty="0"/>
              <a:t>Смотрите раз в 7 часов.</a:t>
            </a:r>
            <a:r>
              <a:rPr lang="ru-RU" dirty="0"/>
              <a:t> Стрелка на 12, потом на 7, потом на 2. Можно решить, что она прошла 7 часов вперёд, а можно — что 5 часов назад. Оба варианта выглядят одинаково правдоподобно, и </a:t>
            </a:r>
            <a:r>
              <a:rPr lang="ru-RU" b="1" dirty="0"/>
              <a:t>однозначно понять нельзя</a:t>
            </a:r>
            <a:r>
              <a:rPr lang="ru-RU" dirty="0"/>
              <a:t>.</a:t>
            </a:r>
          </a:p>
          <a:p>
            <a:r>
              <a:rPr lang="ru-RU" b="1" dirty="0"/>
              <a:t>Смотрите чаще, чем раз в 6 часов.</a:t>
            </a:r>
            <a:r>
              <a:rPr lang="ru-RU" dirty="0"/>
              <a:t> Стрелка между двумя взглядами проходит меньше половины круга. Тогда путь «вперёд» всегда короче пути «назад», и ошибиться невозможно.</a:t>
            </a:r>
          </a:p>
          <a:p>
            <a:r>
              <a:rPr lang="ru-RU" b="1" dirty="0"/>
              <a:t>Вывод:</a:t>
            </a:r>
            <a:r>
              <a:rPr lang="ru-RU" dirty="0"/>
              <a:t> чтобы понять, как движется стрелка, нужно смотреть </a:t>
            </a:r>
            <a:r>
              <a:rPr lang="ru-RU" b="1" dirty="0"/>
              <a:t>больше двух раз за её полный оборот</a:t>
            </a:r>
            <a:r>
              <a:rPr lang="ru-RU" dirty="0"/>
              <a:t>, то есть чаще, чем раз в 6 часов. Это и есть теорема Котельникова.</a:t>
            </a:r>
          </a:p>
          <a:p>
            <a:r>
              <a:rPr lang="ru-RU" b="1" dirty="0"/>
              <a:t>Как это переносится на звук</a:t>
            </a:r>
          </a:p>
          <a:p>
            <a:r>
              <a:rPr lang="ru-RU" dirty="0"/>
              <a:t>Часы</a:t>
            </a:r>
          </a:p>
          <a:p>
            <a:r>
              <a:rPr lang="ru-RU" dirty="0"/>
              <a:t>Звук</a:t>
            </a:r>
          </a:p>
          <a:p>
            <a:r>
              <a:rPr lang="ru-RU" dirty="0"/>
              <a:t>оборот стрелки за 12 часов одно колебание звуковой волны </a:t>
            </a:r>
          </a:p>
          <a:p>
            <a:r>
              <a:rPr lang="ru-RU" dirty="0"/>
              <a:t>как часто вы смотрите на часы частота дискретизации (сколько замеров в секунду) </a:t>
            </a:r>
          </a:p>
          <a:p>
            <a:r>
              <a:rPr lang="ru-RU" dirty="0"/>
              <a:t>«часы стоят» или «идут назад» алиасинг — ложный звук другой частоты </a:t>
            </a:r>
          </a:p>
          <a:p>
            <a:r>
              <a:rPr lang="ru-RU" dirty="0"/>
              <a:t>смотреть чаще, чем раз в 6 часов </a:t>
            </a:r>
            <a:r>
              <a:rPr lang="ru-RU" dirty="0" err="1"/>
              <a:t>fд</a:t>
            </a:r>
            <a:r>
              <a:rPr lang="ru-RU" dirty="0"/>
              <a:t> &gt; 2·fmax </a:t>
            </a:r>
          </a:p>
          <a:p>
            <a:r>
              <a:rPr lang="ru-RU" dirty="0"/>
              <a:t>Звук — это множество «стрелок», которые крутятся с разной скоростью: низкие частоты медленно, высокие быстро. Частота замеров должна быть достаточной для </a:t>
            </a:r>
            <a:r>
              <a:rPr lang="ru-RU" b="1" dirty="0"/>
              <a:t>самой быстрой</a:t>
            </a:r>
            <a:r>
              <a:rPr lang="ru-RU" dirty="0"/>
              <a:t> из них. Человек слышит примерно до 20 000 колебаний в секунду, значит, нужно больше 40 000 замеров в секунду. Отсюда 44 100 у CD.</a:t>
            </a:r>
          </a:p>
          <a:p>
            <a:r>
              <a:rPr lang="ru-RU" b="1" dirty="0"/>
              <a:t>Ещё короче, бытовой пример</a:t>
            </a:r>
          </a:p>
          <a:p>
            <a:r>
              <a:rPr lang="ru-RU" dirty="0"/>
              <a:t>Вы хотите узнать, как меняется температура на улице в течение суток, но меряете её </a:t>
            </a:r>
            <a:r>
              <a:rPr lang="ru-RU" b="1" dirty="0"/>
              <a:t>раз в сутки, ровно в полдень</a:t>
            </a:r>
            <a:r>
              <a:rPr lang="ru-RU" dirty="0"/>
              <a:t>. Каждый день вы видите примерно одно и то же и заключаете, что температура не меняется. Ночной холод полностью пропущен.</a:t>
            </a:r>
          </a:p>
          <a:p>
            <a:r>
              <a:rPr lang="ru-RU" dirty="0"/>
              <a:t>Если мерить </a:t>
            </a:r>
            <a:r>
              <a:rPr lang="ru-RU" b="1" dirty="0"/>
              <a:t>два раза в сутки</a:t>
            </a:r>
            <a:r>
              <a:rPr lang="ru-RU" dirty="0"/>
              <a:t>, днём и ночью, перепад уже виден. А чтобы увидеть форму кривой, нужно мерить чаще.</a:t>
            </a:r>
          </a:p>
          <a:p>
            <a:r>
              <a:rPr lang="ru-RU" b="1" dirty="0"/>
              <a:t>Теорема Котельникова связывает их: измерять нужно больше чем в 2 раза чаще, чем колеблется самый высокий звук. Самый высокий слышимый звук — 20 000 колебаний в секунду, значит, нужно больше 40 000 измерений в секунду. Отсюда 44 100.</a:t>
            </a:r>
          </a:p>
        </p:txBody>
      </p:sp>
      <p:sp>
        <p:nvSpPr>
          <p:cNvPr id="4" name="Номер слайда 3"/>
          <p:cNvSpPr>
            <a:spLocks noGrp="1"/>
          </p:cNvSpPr>
          <p:nvPr>
            <p:ph type="sldNum" sz="quarter" idx="5"/>
          </p:nvPr>
        </p:nvSpPr>
        <p:spPr/>
        <p:txBody>
          <a:bodyPr/>
          <a:lstStyle/>
          <a:p>
            <a:fld id="{F33DD0B6-1277-41EA-8696-C19CAC9912B8}" type="slidenum">
              <a:rPr lang="en-US" smtClean="0"/>
              <a:t>44</a:t>
            </a:fld>
            <a:endParaRPr lang="en-US"/>
          </a:p>
        </p:txBody>
      </p:sp>
    </p:spTree>
    <p:extLst>
      <p:ext uri="{BB962C8B-B14F-4D97-AF65-F5344CB8AC3E}">
        <p14:creationId xmlns:p14="http://schemas.microsoft.com/office/powerpoint/2010/main" val="21791952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7B4D6E-B0FE-488E-9D06-8BA112C678A9}" type="slidenum">
              <a:rPr lang="ru-RU" altLang="ru-BY" smtClean="0"/>
              <a:pPr/>
              <a:t>45</a:t>
            </a:fld>
            <a:endParaRPr lang="ru-RU" altLang="ru-BY"/>
          </a:p>
        </p:txBody>
      </p:sp>
    </p:spTree>
    <p:extLst>
      <p:ext uri="{BB962C8B-B14F-4D97-AF65-F5344CB8AC3E}">
        <p14:creationId xmlns:p14="http://schemas.microsoft.com/office/powerpoint/2010/main" val="29412302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A77B4D6E-B0FE-488E-9D06-8BA112C678A9}" type="slidenum">
              <a:rPr lang="ru-RU" altLang="ru-BY" smtClean="0"/>
              <a:pPr/>
              <a:t>46</a:t>
            </a:fld>
            <a:endParaRPr lang="ru-RU" altLang="ru-BY"/>
          </a:p>
        </p:txBody>
      </p:sp>
    </p:spTree>
    <p:extLst>
      <p:ext uri="{BB962C8B-B14F-4D97-AF65-F5344CB8AC3E}">
        <p14:creationId xmlns:p14="http://schemas.microsoft.com/office/powerpoint/2010/main" val="525367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https://habr.com/ru/company/dataart/blog/343464/</a:t>
            </a:r>
          </a:p>
        </p:txBody>
      </p:sp>
      <p:sp>
        <p:nvSpPr>
          <p:cNvPr id="4" name="Slide Number Placeholder 3"/>
          <p:cNvSpPr>
            <a:spLocks noGrp="1"/>
          </p:cNvSpPr>
          <p:nvPr>
            <p:ph type="sldNum" sz="quarter" idx="5"/>
          </p:nvPr>
        </p:nvSpPr>
        <p:spPr/>
        <p:txBody>
          <a:bodyPr/>
          <a:lstStyle/>
          <a:p>
            <a:fld id="{F33DD0B6-1277-41EA-8696-C19CAC9912B8}" type="slidenum">
              <a:rPr lang="en-US" smtClean="0"/>
              <a:t>49</a:t>
            </a:fld>
            <a:endParaRPr lang="en-US"/>
          </a:p>
        </p:txBody>
      </p:sp>
    </p:spTree>
    <p:extLst>
      <p:ext uri="{BB962C8B-B14F-4D97-AF65-F5344CB8AC3E}">
        <p14:creationId xmlns:p14="http://schemas.microsoft.com/office/powerpoint/2010/main" val="27683024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3DD0B6-1277-41EA-8696-C19CAC9912B8}" type="slidenum">
              <a:rPr lang="en-US" smtClean="0"/>
              <a:t>50</a:t>
            </a:fld>
            <a:endParaRPr lang="en-US"/>
          </a:p>
        </p:txBody>
      </p:sp>
    </p:spTree>
    <p:extLst>
      <p:ext uri="{BB962C8B-B14F-4D97-AF65-F5344CB8AC3E}">
        <p14:creationId xmlns:p14="http://schemas.microsoft.com/office/powerpoint/2010/main" val="37603038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A77B4D6E-B0FE-488E-9D06-8BA112C678A9}" type="slidenum">
              <a:rPr lang="ru-RU" altLang="ru-BY" smtClean="0"/>
              <a:pPr/>
              <a:t>52</a:t>
            </a:fld>
            <a:endParaRPr lang="ru-RU" altLang="ru-BY"/>
          </a:p>
        </p:txBody>
      </p:sp>
    </p:spTree>
    <p:extLst>
      <p:ext uri="{BB962C8B-B14F-4D97-AF65-F5344CB8AC3E}">
        <p14:creationId xmlns:p14="http://schemas.microsoft.com/office/powerpoint/2010/main" val="16758740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7B4D6E-B0FE-488E-9D06-8BA112C678A9}" type="slidenum">
              <a:rPr lang="ru-RU" altLang="ru-BY" smtClean="0"/>
              <a:pPr/>
              <a:t>53</a:t>
            </a:fld>
            <a:endParaRPr lang="ru-RU" altLang="ru-BY"/>
          </a:p>
        </p:txBody>
      </p:sp>
    </p:spTree>
    <p:extLst>
      <p:ext uri="{BB962C8B-B14F-4D97-AF65-F5344CB8AC3E}">
        <p14:creationId xmlns:p14="http://schemas.microsoft.com/office/powerpoint/2010/main" val="39300640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Оптимизация поиска по подобию</a:t>
            </a:r>
            <a:endParaRPr lang="en-US" dirty="0"/>
          </a:p>
        </p:txBody>
      </p:sp>
      <p:sp>
        <p:nvSpPr>
          <p:cNvPr id="4" name="Slide Number Placeholder 3"/>
          <p:cNvSpPr>
            <a:spLocks noGrp="1"/>
          </p:cNvSpPr>
          <p:nvPr>
            <p:ph type="sldNum" sz="quarter" idx="5"/>
          </p:nvPr>
        </p:nvSpPr>
        <p:spPr/>
        <p:txBody>
          <a:bodyPr/>
          <a:lstStyle/>
          <a:p>
            <a:fld id="{F33DD0B6-1277-41EA-8696-C19CAC9912B8}" type="slidenum">
              <a:rPr lang="en-US" smtClean="0"/>
              <a:t>56</a:t>
            </a:fld>
            <a:endParaRPr lang="en-US"/>
          </a:p>
        </p:txBody>
      </p:sp>
    </p:spTree>
    <p:extLst>
      <p:ext uri="{BB962C8B-B14F-4D97-AF65-F5344CB8AC3E}">
        <p14:creationId xmlns:p14="http://schemas.microsoft.com/office/powerpoint/2010/main" val="1811228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1758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8971032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62D6E202-B606-4609-B914-27C9371A1F6D}" type="datetime1">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43957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62D6E202-B606-4609-B914-27C9371A1F6D}" type="datetime1">
              <a:rPr lang="en-US" smtClean="0"/>
              <a:t>10/21/2026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4067487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62D6E202-B606-4609-B914-27C9371A1F6D}" type="datetime1">
              <a:rPr lang="en-US" smtClean="0"/>
              <a:t>10/21/2026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29394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62D6E202-B606-4609-B914-27C9371A1F6D}" type="datetime1">
              <a:rPr lang="en-US" smtClean="0"/>
              <a:t>10/21/2026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6352426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2D6E202-B606-4609-B914-27C9371A1F6D}" type="datetime1">
              <a:rPr lang="en-US" smtClean="0"/>
              <a:t>10/21/2026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4604020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D6E202-B606-4609-B914-27C9371A1F6D}" type="datetime1">
              <a:rPr lang="en-US" smtClean="0"/>
              <a:t>10/21/2026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62388969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62D6E202-B606-4609-B914-27C9371A1F6D}" type="datetime1">
              <a:rPr lang="en-US" smtClean="0"/>
              <a:t>10/21/2026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652871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0610832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047877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17873" y="758952"/>
            <a:ext cx="7356255" cy="3566160"/>
          </a:xfrm>
          <a:prstGeom prst="rect">
            <a:avLst/>
          </a:prstGeom>
        </p:spPr>
        <p:txBody>
          <a:bodyPr anchor="b" anchorCtr="0">
            <a:normAutofit/>
          </a:bodyPr>
          <a:lstStyle>
            <a:lvl1pPr algn="ctr">
              <a:lnSpc>
                <a:spcPct val="90000"/>
              </a:lnSpc>
              <a:defRPr sz="8000" b="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417873" y="4663440"/>
            <a:ext cx="7356255" cy="1143000"/>
          </a:xfrm>
        </p:spPr>
        <p:txBody>
          <a:bodyPr lIns="91440" rIns="91440" anchor="t" anchorCtr="0">
            <a:normAutofit/>
          </a:bodyPr>
          <a:lstStyle>
            <a:lvl1pPr marL="0" indent="0" algn="ctr">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158240" y="4485132"/>
            <a:ext cx="9875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10/21/2026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2" name="Oval 11">
            <a:extLst>
              <a:ext uri="{FF2B5EF4-FFF2-40B4-BE49-F238E27FC236}">
                <a16:creationId xmlns:a16="http://schemas.microsoft.com/office/drawing/2014/main" id="{8675A452-E352-BE40-9E44-7C0E90F4DBC5}"/>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72E00246-7C7C-8E48-B95E-02BE89F197F5}"/>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BF1652A-A323-BC48-9A00-7ECF1C4E1DA4}"/>
              </a:ext>
            </a:extLst>
          </p:cNvPr>
          <p:cNvSpPr/>
          <p:nvPr userDrawn="1"/>
        </p:nvSpPr>
        <p:spPr>
          <a:xfrm>
            <a:off x="11634902" y="2565781"/>
            <a:ext cx="283407" cy="283407"/>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F733BC29-8FD1-CB45-8FF6-0C7CC3CB423D}"/>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4C67EB1F-C984-B840-BD1F-FD174D01A3AF}"/>
              </a:ext>
            </a:extLst>
          </p:cNvPr>
          <p:cNvSpPr/>
          <p:nvPr userDrawn="1"/>
        </p:nvSpPr>
        <p:spPr>
          <a:xfrm>
            <a:off x="6135" y="0"/>
            <a:ext cx="1700492" cy="1700492"/>
          </a:xfrm>
          <a:prstGeom prst="ellipse">
            <a:avLst/>
          </a:prstGeom>
          <a:noFill/>
          <a:ln w="381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9D75F8B1-A294-E349-BD08-B06B2954212A}"/>
              </a:ext>
            </a:extLst>
          </p:cNvPr>
          <p:cNvGrpSpPr/>
          <p:nvPr userDrawn="1"/>
        </p:nvGrpSpPr>
        <p:grpSpPr>
          <a:xfrm>
            <a:off x="495300" y="0"/>
            <a:ext cx="11201400" cy="6880860"/>
            <a:chOff x="495300" y="0"/>
            <a:chExt cx="11201400" cy="6880860"/>
          </a:xfrm>
        </p:grpSpPr>
        <p:sp>
          <p:nvSpPr>
            <p:cNvPr id="33" name="Freeform 32">
              <a:extLst>
                <a:ext uri="{FF2B5EF4-FFF2-40B4-BE49-F238E27FC236}">
                  <a16:creationId xmlns:a16="http://schemas.microsoft.com/office/drawing/2014/main" id="{5942EFAD-842E-9C46-9853-C0F135D24007}"/>
                </a:ext>
              </a:extLst>
            </p:cNvPr>
            <p:cNvSpPr/>
            <p:nvPr userDrawn="1"/>
          </p:nvSpPr>
          <p:spPr>
            <a:xfrm>
              <a:off x="495300" y="0"/>
              <a:ext cx="1337265" cy="6880860"/>
            </a:xfrm>
            <a:custGeom>
              <a:avLst/>
              <a:gdLst>
                <a:gd name="connsiteX0" fmla="*/ 1173967 w 1337265"/>
                <a:gd name="connsiteY0" fmla="*/ 0 h 6880860"/>
                <a:gd name="connsiteX1" fmla="*/ 1319300 w 1337265"/>
                <a:gd name="connsiteY1" fmla="*/ 0 h 6880860"/>
                <a:gd name="connsiteX2" fmla="*/ 1204253 w 1337265"/>
                <a:gd name="connsiteY2" fmla="*/ 146399 h 6880860"/>
                <a:gd name="connsiteX3" fmla="*/ 114300 w 1337265"/>
                <a:gd name="connsiteY3" fmla="*/ 3429000 h 6880860"/>
                <a:gd name="connsiteX4" fmla="*/ 1204253 w 1337265"/>
                <a:gd name="connsiteY4" fmla="*/ 6711601 h 6880860"/>
                <a:gd name="connsiteX5" fmla="*/ 1337265 w 1337265"/>
                <a:gd name="connsiteY5" fmla="*/ 6880860 h 6880860"/>
                <a:gd name="connsiteX6" fmla="*/ 1191931 w 1337265"/>
                <a:gd name="connsiteY6" fmla="*/ 6880860 h 6880860"/>
                <a:gd name="connsiteX7" fmla="*/ 1112661 w 1337265"/>
                <a:gd name="connsiteY7" fmla="*/ 6779988 h 6880860"/>
                <a:gd name="connsiteX8" fmla="*/ 0 w 1337265"/>
                <a:gd name="connsiteY8" fmla="*/ 3429000 h 6880860"/>
                <a:gd name="connsiteX9" fmla="*/ 1112661 w 1337265"/>
                <a:gd name="connsiteY9" fmla="*/ 78012 h 6880860"/>
                <a:gd name="connsiteX10" fmla="*/ 1173967 w 1337265"/>
                <a:gd name="connsiteY10" fmla="*/ 0 h 688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7265" h="6880860">
                  <a:moveTo>
                    <a:pt x="1173967" y="0"/>
                  </a:moveTo>
                  <a:lnTo>
                    <a:pt x="1319300" y="0"/>
                  </a:lnTo>
                  <a:lnTo>
                    <a:pt x="1204253" y="146399"/>
                  </a:lnTo>
                  <a:cubicBezTo>
                    <a:pt x="519693" y="1061765"/>
                    <a:pt x="114300" y="2198040"/>
                    <a:pt x="114300" y="3429000"/>
                  </a:cubicBezTo>
                  <a:cubicBezTo>
                    <a:pt x="114300" y="4659960"/>
                    <a:pt x="519693" y="5796235"/>
                    <a:pt x="1204253" y="6711601"/>
                  </a:cubicBezTo>
                  <a:lnTo>
                    <a:pt x="1337265" y="6880860"/>
                  </a:lnTo>
                  <a:lnTo>
                    <a:pt x="1191931" y="6880860"/>
                  </a:lnTo>
                  <a:lnTo>
                    <a:pt x="1112661" y="6779988"/>
                  </a:lnTo>
                  <a:cubicBezTo>
                    <a:pt x="413839" y="5845552"/>
                    <a:pt x="0" y="4685605"/>
                    <a:pt x="0" y="3429000"/>
                  </a:cubicBezTo>
                  <a:cubicBezTo>
                    <a:pt x="0" y="2172395"/>
                    <a:pt x="413839" y="1012448"/>
                    <a:pt x="1112661" y="78012"/>
                  </a:cubicBezTo>
                  <a:lnTo>
                    <a:pt x="1173967"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31">
              <a:extLst>
                <a:ext uri="{FF2B5EF4-FFF2-40B4-BE49-F238E27FC236}">
                  <a16:creationId xmlns:a16="http://schemas.microsoft.com/office/drawing/2014/main" id="{BE0B7AF7-52C0-EB45-93DE-79DFF44F5AAE}"/>
                </a:ext>
              </a:extLst>
            </p:cNvPr>
            <p:cNvSpPr/>
            <p:nvPr userDrawn="1"/>
          </p:nvSpPr>
          <p:spPr>
            <a:xfrm>
              <a:off x="10359435" y="0"/>
              <a:ext cx="1337265" cy="6880860"/>
            </a:xfrm>
            <a:custGeom>
              <a:avLst/>
              <a:gdLst>
                <a:gd name="connsiteX0" fmla="*/ 17965 w 1337265"/>
                <a:gd name="connsiteY0" fmla="*/ 0 h 6880860"/>
                <a:gd name="connsiteX1" fmla="*/ 163299 w 1337265"/>
                <a:gd name="connsiteY1" fmla="*/ 0 h 6880860"/>
                <a:gd name="connsiteX2" fmla="*/ 224604 w 1337265"/>
                <a:gd name="connsiteY2" fmla="*/ 78012 h 6880860"/>
                <a:gd name="connsiteX3" fmla="*/ 1337265 w 1337265"/>
                <a:gd name="connsiteY3" fmla="*/ 3429000 h 6880860"/>
                <a:gd name="connsiteX4" fmla="*/ 224604 w 1337265"/>
                <a:gd name="connsiteY4" fmla="*/ 6779988 h 6880860"/>
                <a:gd name="connsiteX5" fmla="*/ 145334 w 1337265"/>
                <a:gd name="connsiteY5" fmla="*/ 6880860 h 6880860"/>
                <a:gd name="connsiteX6" fmla="*/ 0 w 1337265"/>
                <a:gd name="connsiteY6" fmla="*/ 6880860 h 6880860"/>
                <a:gd name="connsiteX7" fmla="*/ 133012 w 1337265"/>
                <a:gd name="connsiteY7" fmla="*/ 6711601 h 6880860"/>
                <a:gd name="connsiteX8" fmla="*/ 1222965 w 1337265"/>
                <a:gd name="connsiteY8" fmla="*/ 3429000 h 6880860"/>
                <a:gd name="connsiteX9" fmla="*/ 133012 w 1337265"/>
                <a:gd name="connsiteY9" fmla="*/ 146399 h 6880860"/>
                <a:gd name="connsiteX10" fmla="*/ 17965 w 1337265"/>
                <a:gd name="connsiteY10" fmla="*/ 0 h 688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7265" h="6880860">
                  <a:moveTo>
                    <a:pt x="17965" y="0"/>
                  </a:moveTo>
                  <a:lnTo>
                    <a:pt x="163299" y="0"/>
                  </a:lnTo>
                  <a:lnTo>
                    <a:pt x="224604" y="78012"/>
                  </a:lnTo>
                  <a:cubicBezTo>
                    <a:pt x="923426" y="1012448"/>
                    <a:pt x="1337265" y="2172395"/>
                    <a:pt x="1337265" y="3429000"/>
                  </a:cubicBezTo>
                  <a:cubicBezTo>
                    <a:pt x="1337265" y="4685605"/>
                    <a:pt x="923426" y="5845552"/>
                    <a:pt x="224604" y="6779988"/>
                  </a:cubicBezTo>
                  <a:lnTo>
                    <a:pt x="145334" y="6880860"/>
                  </a:lnTo>
                  <a:lnTo>
                    <a:pt x="0" y="6880860"/>
                  </a:lnTo>
                  <a:lnTo>
                    <a:pt x="133012" y="6711601"/>
                  </a:lnTo>
                  <a:cubicBezTo>
                    <a:pt x="817572" y="5796235"/>
                    <a:pt x="1222965" y="4659960"/>
                    <a:pt x="1222965" y="3429000"/>
                  </a:cubicBezTo>
                  <a:cubicBezTo>
                    <a:pt x="1222965" y="2198040"/>
                    <a:pt x="817572" y="1061765"/>
                    <a:pt x="133012" y="146399"/>
                  </a:cubicBezTo>
                  <a:lnTo>
                    <a:pt x="17965"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64491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71DAD948-6707-714E-9E8F-26A36F4AE20E}"/>
              </a:ext>
            </a:extLst>
          </p:cNvPr>
          <p:cNvSpPr/>
          <p:nvPr userDrawn="1"/>
        </p:nvSpPr>
        <p:spPr>
          <a:xfrm>
            <a:off x="10429390" y="360726"/>
            <a:ext cx="1035859" cy="1035859"/>
          </a:xfrm>
          <a:prstGeom prst="ellipse">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5F81511-AC79-6748-869A-9982CD568B16}"/>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5">
            <a:extLst>
              <a:ext uri="{FF2B5EF4-FFF2-40B4-BE49-F238E27FC236}">
                <a16:creationId xmlns:a16="http://schemas.microsoft.com/office/drawing/2014/main" id="{A6F72D4E-9F4D-6341-9F9E-63E01AF59B47}"/>
              </a:ext>
            </a:extLst>
          </p:cNvPr>
          <p:cNvSpPr>
            <a:spLocks noGrp="1"/>
          </p:cNvSpPr>
          <p:nvPr>
            <p:ph type="pic" sz="quarter" idx="13"/>
          </p:nvPr>
        </p:nvSpPr>
        <p:spPr>
          <a:xfrm>
            <a:off x="5654414" y="265113"/>
            <a:ext cx="6089650" cy="6089650"/>
          </a:xfrm>
          <a:prstGeom prst="ellipse">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fld id="{4EDE50D6-574B-40AF-946F-D52A04ADE379}" type="datetime1">
              <a:rPr lang="en-US" smtClean="0"/>
              <a:t>10/21/2026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18" name="Content Placeholder 2">
            <a:extLst>
              <a:ext uri="{FF2B5EF4-FFF2-40B4-BE49-F238E27FC236}">
                <a16:creationId xmlns:a16="http://schemas.microsoft.com/office/drawing/2014/main" id="{A2F758DC-4792-1D42-83A8-ED4E6CD5F7E3}"/>
              </a:ext>
            </a:extLst>
          </p:cNvPr>
          <p:cNvSpPr>
            <a:spLocks noGrp="1"/>
          </p:cNvSpPr>
          <p:nvPr>
            <p:ph sz="half" idx="1"/>
          </p:nvPr>
        </p:nvSpPr>
        <p:spPr>
          <a:xfrm>
            <a:off x="1097279" y="2322728"/>
            <a:ext cx="4144096" cy="4032225"/>
          </a:xfrm>
        </p:spPr>
        <p:txBody>
          <a:bodyPr anchor="t">
            <a:normAutofit/>
          </a:bodyPr>
          <a:lstStyle>
            <a:lvl1pPr>
              <a:defRPr sz="1600"/>
            </a:lvl1pPr>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a:extLst>
              <a:ext uri="{FF2B5EF4-FFF2-40B4-BE49-F238E27FC236}">
                <a16:creationId xmlns:a16="http://schemas.microsoft.com/office/drawing/2014/main" id="{2CB8633A-7C70-3C48-8FEE-69941AF2B466}"/>
              </a:ext>
            </a:extLst>
          </p:cNvPr>
          <p:cNvSpPr/>
          <p:nvPr userDrawn="1"/>
        </p:nvSpPr>
        <p:spPr>
          <a:xfrm>
            <a:off x="5535466" y="5600935"/>
            <a:ext cx="643415" cy="643415"/>
          </a:xfrm>
          <a:prstGeom prst="ellipse">
            <a:avLst/>
          </a:prstGeom>
          <a:noFill/>
          <a:ln w="3810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23B967D9-597D-E14A-AE80-4C3877655FB2}"/>
              </a:ext>
            </a:extLst>
          </p:cNvPr>
          <p:cNvSpPr/>
          <p:nvPr userDrawn="1"/>
        </p:nvSpPr>
        <p:spPr>
          <a:xfrm>
            <a:off x="5664569" y="541205"/>
            <a:ext cx="283407" cy="283407"/>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B7114435-8CC0-E744-B541-8EF28B774ECF}"/>
              </a:ext>
            </a:extLst>
          </p:cNvPr>
          <p:cNvSpPr/>
          <p:nvPr userDrawn="1"/>
        </p:nvSpPr>
        <p:spPr>
          <a:xfrm flipV="1">
            <a:off x="11885583" y="3453319"/>
            <a:ext cx="167338" cy="167338"/>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BB844B6D-9772-1D4A-A22A-19F6A1250CD6}"/>
              </a:ext>
            </a:extLst>
          </p:cNvPr>
          <p:cNvGrpSpPr/>
          <p:nvPr userDrawn="1"/>
        </p:nvGrpSpPr>
        <p:grpSpPr>
          <a:xfrm rot="5400000">
            <a:off x="-21619" y="1088453"/>
            <a:ext cx="910099" cy="99010"/>
            <a:chOff x="622418" y="280927"/>
            <a:chExt cx="2335705" cy="254101"/>
          </a:xfrm>
        </p:grpSpPr>
        <p:sp>
          <p:nvSpPr>
            <p:cNvPr id="31" name="Oval 30">
              <a:extLst>
                <a:ext uri="{FF2B5EF4-FFF2-40B4-BE49-F238E27FC236}">
                  <a16:creationId xmlns:a16="http://schemas.microsoft.com/office/drawing/2014/main" id="{4834FA13-7139-8546-99A9-CF39B5EDFDF5}"/>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746C656-7A16-8445-80B5-88C23703E694}"/>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1E0A223A-22AD-6D40-9B6F-62F488036D58}"/>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1DB8FD84-D022-E842-9B56-88F0574EBD30}"/>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42F4DC0E-4CC4-374D-BE14-132577B95A70}"/>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A4E00522-1D16-F244-89FE-668EEBD08F2B}"/>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Title 1">
            <a:extLst>
              <a:ext uri="{FF2B5EF4-FFF2-40B4-BE49-F238E27FC236}">
                <a16:creationId xmlns:a16="http://schemas.microsoft.com/office/drawing/2014/main" id="{C4C5AC59-B537-D54C-9B5C-55B75E9117A7}"/>
              </a:ext>
            </a:extLst>
          </p:cNvPr>
          <p:cNvSpPr>
            <a:spLocks noGrp="1"/>
          </p:cNvSpPr>
          <p:nvPr>
            <p:ph type="title" hasCustomPrompt="1"/>
          </p:nvPr>
        </p:nvSpPr>
        <p:spPr>
          <a:xfrm>
            <a:off x="1097280" y="421817"/>
            <a:ext cx="4144095" cy="1369074"/>
          </a:xfrm>
          <a:prstGeom prst="rect">
            <a:avLst/>
          </a:prstGeom>
        </p:spPr>
        <p:txBody>
          <a:bodyPr lIns="0" rIns="0" anchor="ctr">
            <a:normAutofit/>
          </a:bodyPr>
          <a:lstStyle>
            <a:lvl1pPr>
              <a:defRPr sz="4000" cap="all" baseline="0"/>
            </a:lvl1pPr>
          </a:lstStyle>
          <a:p>
            <a:r>
              <a:rPr lang="en-US" dirty="0"/>
              <a:t>Title Goes Here</a:t>
            </a:r>
          </a:p>
        </p:txBody>
      </p:sp>
    </p:spTree>
    <p:extLst>
      <p:ext uri="{BB962C8B-B14F-4D97-AF65-F5344CB8AC3E}">
        <p14:creationId xmlns:p14="http://schemas.microsoft.com/office/powerpoint/2010/main" val="2237094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10/21/2026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21" name="Group 20">
            <a:extLst>
              <a:ext uri="{FF2B5EF4-FFF2-40B4-BE49-F238E27FC236}">
                <a16:creationId xmlns:a16="http://schemas.microsoft.com/office/drawing/2014/main" id="{7A2141DD-8D8D-FA43-BD4F-2CFC93C87782}"/>
              </a:ext>
            </a:extLst>
          </p:cNvPr>
          <p:cNvGrpSpPr/>
          <p:nvPr userDrawn="1"/>
        </p:nvGrpSpPr>
        <p:grpSpPr>
          <a:xfrm rot="5400000">
            <a:off x="-21619" y="1088453"/>
            <a:ext cx="910099" cy="99010"/>
            <a:chOff x="622418" y="280927"/>
            <a:chExt cx="2335705" cy="254101"/>
          </a:xfrm>
        </p:grpSpPr>
        <p:sp>
          <p:nvSpPr>
            <p:cNvPr id="22" name="Oval 21">
              <a:extLst>
                <a:ext uri="{FF2B5EF4-FFF2-40B4-BE49-F238E27FC236}">
                  <a16:creationId xmlns:a16="http://schemas.microsoft.com/office/drawing/2014/main" id="{71A62821-5E0F-DE41-B5C2-17A3A7277F4E}"/>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C311AE14-D8F0-1D4C-9D8D-603836582793}"/>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1F2BE645-D4F2-304C-9AFA-473D8F888A85}"/>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93640330-30A6-6948-87A7-9DE6D41794F5}"/>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ADFB6548-D83C-1D4E-AE87-2E8F1D3D0FA7}"/>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97C7400-7EDC-8845-AB5A-80FB8175C1E2}"/>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itle 1">
            <a:extLst>
              <a:ext uri="{FF2B5EF4-FFF2-40B4-BE49-F238E27FC236}">
                <a16:creationId xmlns:a16="http://schemas.microsoft.com/office/drawing/2014/main" id="{BC941C44-9B96-0040-8C71-D8364EB577C2}"/>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29" name="Oval 28">
            <a:extLst>
              <a:ext uri="{FF2B5EF4-FFF2-40B4-BE49-F238E27FC236}">
                <a16:creationId xmlns:a16="http://schemas.microsoft.com/office/drawing/2014/main" id="{E014993B-5057-2A4C-9CA0-383DC5504020}"/>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43B110E8-1FE2-BC47-A5AE-4C698B688B65}"/>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87DACF2F-5D4D-434D-8786-E4DF0385E6F6}"/>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FE816CC-CBCA-7946-B9E5-E9649EF369BE}"/>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523959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10/21/2026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4" name="Picture Placeholder 3">
            <a:extLst>
              <a:ext uri="{FF2B5EF4-FFF2-40B4-BE49-F238E27FC236}">
                <a16:creationId xmlns:a16="http://schemas.microsoft.com/office/drawing/2014/main" id="{C950F4E3-11A9-2549-A00D-601AEF6E49A4}"/>
              </a:ext>
            </a:extLst>
          </p:cNvPr>
          <p:cNvSpPr>
            <a:spLocks noGrp="1"/>
          </p:cNvSpPr>
          <p:nvPr>
            <p:ph type="pic" sz="quarter" idx="13"/>
          </p:nvPr>
        </p:nvSpPr>
        <p:spPr>
          <a:xfrm>
            <a:off x="1097279" y="2160508"/>
            <a:ext cx="2919413" cy="2919413"/>
          </a:xfrm>
          <a:prstGeom prst="ellipse">
            <a:avLst/>
          </a:prstGeom>
          <a:solidFill>
            <a:srgbClr val="EDEFF7"/>
          </a:solidFill>
          <a:ln w="38100">
            <a:solidFill>
              <a:schemeClr val="accent3"/>
            </a:solidFill>
          </a:ln>
        </p:spPr>
        <p:txBody>
          <a:bodyPr anchor="ctr"/>
          <a:lstStyle>
            <a:lvl1pPr algn="ctr">
              <a:defRPr/>
            </a:lvl1pPr>
          </a:lstStyle>
          <a:p>
            <a:r>
              <a:rPr lang="en-US"/>
              <a:t>Click icon to add picture</a:t>
            </a:r>
            <a:endParaRPr lang="en-US" dirty="0"/>
          </a:p>
        </p:txBody>
      </p:sp>
      <p:sp>
        <p:nvSpPr>
          <p:cNvPr id="21" name="Picture Placeholder 3">
            <a:extLst>
              <a:ext uri="{FF2B5EF4-FFF2-40B4-BE49-F238E27FC236}">
                <a16:creationId xmlns:a16="http://schemas.microsoft.com/office/drawing/2014/main" id="{21B5A175-E633-E74F-AE3B-DF58F989F443}"/>
              </a:ext>
            </a:extLst>
          </p:cNvPr>
          <p:cNvSpPr>
            <a:spLocks noGrp="1"/>
          </p:cNvSpPr>
          <p:nvPr>
            <p:ph type="pic" sz="quarter" idx="14"/>
          </p:nvPr>
        </p:nvSpPr>
        <p:spPr>
          <a:xfrm>
            <a:off x="4659186" y="2160508"/>
            <a:ext cx="2919413" cy="2919413"/>
          </a:xfrm>
          <a:prstGeom prst="ellipse">
            <a:avLst/>
          </a:prstGeom>
          <a:solidFill>
            <a:srgbClr val="EDEFF7"/>
          </a:solidFill>
          <a:ln w="38100">
            <a:solidFill>
              <a:schemeClr val="accent6"/>
            </a:solidFill>
          </a:ln>
        </p:spPr>
        <p:txBody>
          <a:bodyPr anchor="ctr"/>
          <a:lstStyle>
            <a:lvl1pPr algn="ctr">
              <a:defRPr/>
            </a:lvl1pPr>
          </a:lstStyle>
          <a:p>
            <a:r>
              <a:rPr lang="en-US"/>
              <a:t>Click icon to add picture</a:t>
            </a:r>
            <a:endParaRPr lang="en-US" dirty="0"/>
          </a:p>
        </p:txBody>
      </p:sp>
      <p:sp>
        <p:nvSpPr>
          <p:cNvPr id="22" name="Picture Placeholder 3">
            <a:extLst>
              <a:ext uri="{FF2B5EF4-FFF2-40B4-BE49-F238E27FC236}">
                <a16:creationId xmlns:a16="http://schemas.microsoft.com/office/drawing/2014/main" id="{261D2778-BA56-D247-9B2C-28D010C9D4E2}"/>
              </a:ext>
            </a:extLst>
          </p:cNvPr>
          <p:cNvSpPr>
            <a:spLocks noGrp="1"/>
          </p:cNvSpPr>
          <p:nvPr>
            <p:ph type="pic" sz="quarter" idx="15"/>
          </p:nvPr>
        </p:nvSpPr>
        <p:spPr>
          <a:xfrm>
            <a:off x="8221093" y="2160508"/>
            <a:ext cx="2919413" cy="2919413"/>
          </a:xfrm>
          <a:prstGeom prst="ellipse">
            <a:avLst/>
          </a:prstGeom>
          <a:solidFill>
            <a:srgbClr val="EDEFF7"/>
          </a:solidFill>
          <a:ln w="38100">
            <a:solidFill>
              <a:schemeClr val="accent1"/>
            </a:solidFill>
          </a:ln>
        </p:spPr>
        <p:txBody>
          <a:bodyPr anchor="ctr"/>
          <a:lstStyle>
            <a:lvl1pPr algn="ctr">
              <a:defRPr/>
            </a:lvl1pPr>
          </a:lstStyle>
          <a:p>
            <a:r>
              <a:rPr lang="en-US"/>
              <a:t>Click icon to add picture</a:t>
            </a:r>
            <a:endParaRPr lang="en-US" dirty="0"/>
          </a:p>
        </p:txBody>
      </p:sp>
      <p:sp>
        <p:nvSpPr>
          <p:cNvPr id="23" name="Text Placeholder 3">
            <a:extLst>
              <a:ext uri="{FF2B5EF4-FFF2-40B4-BE49-F238E27FC236}">
                <a16:creationId xmlns:a16="http://schemas.microsoft.com/office/drawing/2014/main" id="{2DAF6EFF-134E-BA40-8B51-917FDE13C076}"/>
              </a:ext>
            </a:extLst>
          </p:cNvPr>
          <p:cNvSpPr>
            <a:spLocks noGrp="1"/>
          </p:cNvSpPr>
          <p:nvPr>
            <p:ph type="body" sz="half" idx="2" hasCustomPrompt="1"/>
          </p:nvPr>
        </p:nvSpPr>
        <p:spPr>
          <a:xfrm>
            <a:off x="1097279" y="5486968"/>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Name Goes Here</a:t>
            </a:r>
          </a:p>
        </p:txBody>
      </p:sp>
      <p:sp>
        <p:nvSpPr>
          <p:cNvPr id="24" name="Text Placeholder 3">
            <a:extLst>
              <a:ext uri="{FF2B5EF4-FFF2-40B4-BE49-F238E27FC236}">
                <a16:creationId xmlns:a16="http://schemas.microsoft.com/office/drawing/2014/main" id="{188BF917-678C-1249-95B9-7FD2AC7B2231}"/>
              </a:ext>
            </a:extLst>
          </p:cNvPr>
          <p:cNvSpPr>
            <a:spLocks noGrp="1"/>
          </p:cNvSpPr>
          <p:nvPr>
            <p:ph type="body" sz="half" idx="16" hasCustomPrompt="1"/>
          </p:nvPr>
        </p:nvSpPr>
        <p:spPr>
          <a:xfrm>
            <a:off x="4666773" y="5486968"/>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Name Goes Here</a:t>
            </a:r>
          </a:p>
        </p:txBody>
      </p:sp>
      <p:sp>
        <p:nvSpPr>
          <p:cNvPr id="25" name="Text Placeholder 3">
            <a:extLst>
              <a:ext uri="{FF2B5EF4-FFF2-40B4-BE49-F238E27FC236}">
                <a16:creationId xmlns:a16="http://schemas.microsoft.com/office/drawing/2014/main" id="{BAFF17AE-3EA2-2D47-BCDD-E5587B127062}"/>
              </a:ext>
            </a:extLst>
          </p:cNvPr>
          <p:cNvSpPr>
            <a:spLocks noGrp="1"/>
          </p:cNvSpPr>
          <p:nvPr>
            <p:ph type="body" sz="half" idx="17" hasCustomPrompt="1"/>
          </p:nvPr>
        </p:nvSpPr>
        <p:spPr>
          <a:xfrm>
            <a:off x="8236267" y="5486968"/>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Name Goes Here</a:t>
            </a:r>
          </a:p>
        </p:txBody>
      </p:sp>
      <p:grpSp>
        <p:nvGrpSpPr>
          <p:cNvPr id="26" name="Group 25">
            <a:extLst>
              <a:ext uri="{FF2B5EF4-FFF2-40B4-BE49-F238E27FC236}">
                <a16:creationId xmlns:a16="http://schemas.microsoft.com/office/drawing/2014/main" id="{F2D7EDB7-7C02-0245-8A1F-553F094A4429}"/>
              </a:ext>
            </a:extLst>
          </p:cNvPr>
          <p:cNvGrpSpPr/>
          <p:nvPr userDrawn="1"/>
        </p:nvGrpSpPr>
        <p:grpSpPr>
          <a:xfrm rot="5400000">
            <a:off x="-21619" y="1088453"/>
            <a:ext cx="910099" cy="99010"/>
            <a:chOff x="622418" y="280927"/>
            <a:chExt cx="2335705" cy="254101"/>
          </a:xfrm>
        </p:grpSpPr>
        <p:sp>
          <p:nvSpPr>
            <p:cNvPr id="27" name="Oval 26">
              <a:extLst>
                <a:ext uri="{FF2B5EF4-FFF2-40B4-BE49-F238E27FC236}">
                  <a16:creationId xmlns:a16="http://schemas.microsoft.com/office/drawing/2014/main" id="{8CF5D165-4F6F-2447-8B9E-8B0D94808ED3}"/>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46C35C7-7133-4C43-BBF7-575440F7BAD3}"/>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D33DD7BE-C379-5C42-9FB0-EF72161049F4}"/>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743DFC41-C6DE-7942-9358-E23A1EE8759D}"/>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A2ABB593-7229-9548-8BCC-C947B1BF8D93}"/>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86D2413-D60D-484E-ACAB-31891AFDA133}"/>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4" name="Title 1">
            <a:extLst>
              <a:ext uri="{FF2B5EF4-FFF2-40B4-BE49-F238E27FC236}">
                <a16:creationId xmlns:a16="http://schemas.microsoft.com/office/drawing/2014/main" id="{86090E0F-345E-3D4B-8886-95D8A4A77CE7}"/>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Tree>
    <p:extLst>
      <p:ext uri="{BB962C8B-B14F-4D97-AF65-F5344CB8AC3E}">
        <p14:creationId xmlns:p14="http://schemas.microsoft.com/office/powerpoint/2010/main" val="32586829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10/21/2026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11" name="Group 10">
            <a:extLst>
              <a:ext uri="{FF2B5EF4-FFF2-40B4-BE49-F238E27FC236}">
                <a16:creationId xmlns:a16="http://schemas.microsoft.com/office/drawing/2014/main" id="{D06E6D77-4CA3-764C-99E1-7D2CFE6B929E}"/>
              </a:ext>
            </a:extLst>
          </p:cNvPr>
          <p:cNvGrpSpPr/>
          <p:nvPr userDrawn="1"/>
        </p:nvGrpSpPr>
        <p:grpSpPr>
          <a:xfrm rot="5400000">
            <a:off x="-21619" y="1088453"/>
            <a:ext cx="910099" cy="99010"/>
            <a:chOff x="622418" y="280927"/>
            <a:chExt cx="2335705" cy="254101"/>
          </a:xfrm>
        </p:grpSpPr>
        <p:sp>
          <p:nvSpPr>
            <p:cNvPr id="12" name="Oval 11">
              <a:extLst>
                <a:ext uri="{FF2B5EF4-FFF2-40B4-BE49-F238E27FC236}">
                  <a16:creationId xmlns:a16="http://schemas.microsoft.com/office/drawing/2014/main" id="{1D155117-8A2A-414B-9598-C2919DF747DC}"/>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3838F88-99DE-9246-A83B-9C7DB6AE99EF}"/>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D031FBA2-FD0D-7346-8941-4861923E15CF}"/>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022D5D5E-3339-5D47-9E1C-8897082672DB}"/>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3BE7267-458F-A141-8480-10E9FB55367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71A438B-57BE-F445-AFBB-BBB2270E9BB4}"/>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itle 1">
            <a:extLst>
              <a:ext uri="{FF2B5EF4-FFF2-40B4-BE49-F238E27FC236}">
                <a16:creationId xmlns:a16="http://schemas.microsoft.com/office/drawing/2014/main" id="{040C74AA-3663-2A49-AA62-C9207F22BF3D}"/>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19" name="Oval 18">
            <a:extLst>
              <a:ext uri="{FF2B5EF4-FFF2-40B4-BE49-F238E27FC236}">
                <a16:creationId xmlns:a16="http://schemas.microsoft.com/office/drawing/2014/main" id="{8E70AAE0-F405-8C4D-B2F2-BC73ABD2560F}"/>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FC72AC8A-19AA-5641-88DA-414732A1A643}"/>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B0FF4153-FE4A-204C-B4B4-F331F8058F73}"/>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C0910027-B57E-5C4C-B196-C2CF16EB6B83}"/>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87972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10/21/2026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13" name="Group 12">
            <a:extLst>
              <a:ext uri="{FF2B5EF4-FFF2-40B4-BE49-F238E27FC236}">
                <a16:creationId xmlns:a16="http://schemas.microsoft.com/office/drawing/2014/main" id="{DD896C11-7092-DD43-9676-23A81081B759}"/>
              </a:ext>
            </a:extLst>
          </p:cNvPr>
          <p:cNvGrpSpPr/>
          <p:nvPr userDrawn="1"/>
        </p:nvGrpSpPr>
        <p:grpSpPr>
          <a:xfrm rot="5400000">
            <a:off x="-21619" y="1088453"/>
            <a:ext cx="910099" cy="99010"/>
            <a:chOff x="622418" y="280927"/>
            <a:chExt cx="2335705" cy="254101"/>
          </a:xfrm>
        </p:grpSpPr>
        <p:sp>
          <p:nvSpPr>
            <p:cNvPr id="14" name="Oval 13">
              <a:extLst>
                <a:ext uri="{FF2B5EF4-FFF2-40B4-BE49-F238E27FC236}">
                  <a16:creationId xmlns:a16="http://schemas.microsoft.com/office/drawing/2014/main" id="{D39FB8D4-533A-0C44-89B5-487470B0B82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42B0AB-C322-C14B-B2A1-E9F144473219}"/>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47ABE4C7-7926-3949-9205-07E33FB2D2CE}"/>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E1B43F26-6C7C-4D43-9D1C-A0F792F54874}"/>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C53D175F-F9D4-DD4E-81B9-495A2E867249}"/>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852D03A0-BBCF-2042-832A-8082F1377835}"/>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itle 1">
            <a:extLst>
              <a:ext uri="{FF2B5EF4-FFF2-40B4-BE49-F238E27FC236}">
                <a16:creationId xmlns:a16="http://schemas.microsoft.com/office/drawing/2014/main" id="{E2831508-70C2-2F43-998D-55CE4837BA4C}"/>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21" name="Oval 20">
            <a:extLst>
              <a:ext uri="{FF2B5EF4-FFF2-40B4-BE49-F238E27FC236}">
                <a16:creationId xmlns:a16="http://schemas.microsoft.com/office/drawing/2014/main" id="{5232ACE3-4E65-6243-9416-19BFA39FD92C}"/>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A372105-F1CB-9149-A4B9-C151B3CCB9B4}"/>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CAE2DDF3-5C18-5644-8994-8CD902656DE8}"/>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0383F4E3-E6C1-BB40-90E6-290C140F9A07}"/>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95941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10/21/2026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9" name="Group 8">
            <a:extLst>
              <a:ext uri="{FF2B5EF4-FFF2-40B4-BE49-F238E27FC236}">
                <a16:creationId xmlns:a16="http://schemas.microsoft.com/office/drawing/2014/main" id="{A2C09A16-A6B6-E04E-A40A-F482C0A95C0A}"/>
              </a:ext>
            </a:extLst>
          </p:cNvPr>
          <p:cNvGrpSpPr/>
          <p:nvPr userDrawn="1"/>
        </p:nvGrpSpPr>
        <p:grpSpPr>
          <a:xfrm rot="5400000">
            <a:off x="-21619" y="1088453"/>
            <a:ext cx="910099" cy="99010"/>
            <a:chOff x="622418" y="280927"/>
            <a:chExt cx="2335705" cy="254101"/>
          </a:xfrm>
        </p:grpSpPr>
        <p:sp>
          <p:nvSpPr>
            <p:cNvPr id="10" name="Oval 9">
              <a:extLst>
                <a:ext uri="{FF2B5EF4-FFF2-40B4-BE49-F238E27FC236}">
                  <a16:creationId xmlns:a16="http://schemas.microsoft.com/office/drawing/2014/main" id="{A6B2DF34-338D-4F43-B8F7-D7A00348B68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3778C21-4171-774D-A73F-77BEBF2E4C18}"/>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CC25D2EF-AE01-A247-8BC3-8F35F863C0A6}"/>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F860801-109B-EB4F-96A8-35D76B759583}"/>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7337F70-9199-7242-BD8B-8F96606A18A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DF9320B7-AD58-7649-BC95-614ED90F4E69}"/>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itle 1">
            <a:extLst>
              <a:ext uri="{FF2B5EF4-FFF2-40B4-BE49-F238E27FC236}">
                <a16:creationId xmlns:a16="http://schemas.microsoft.com/office/drawing/2014/main" id="{0C0DE796-998A-F84E-9B56-1958C6777C8D}"/>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17" name="Oval 16">
            <a:extLst>
              <a:ext uri="{FF2B5EF4-FFF2-40B4-BE49-F238E27FC236}">
                <a16:creationId xmlns:a16="http://schemas.microsoft.com/office/drawing/2014/main" id="{7B23D2B0-E152-D14D-8154-8DD47BD10DF3}"/>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8A3BEDF6-5ABA-3B42-99BB-4438813B1A4B}"/>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A9CF8BE7-F2AC-AB4C-900F-F64D55111EFC}"/>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5EF4254B-D281-684E-BD0B-63AEC0AC197C}"/>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0013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10/21/2026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9" name="Group 8">
            <a:extLst>
              <a:ext uri="{FF2B5EF4-FFF2-40B4-BE49-F238E27FC236}">
                <a16:creationId xmlns:a16="http://schemas.microsoft.com/office/drawing/2014/main" id="{A2C09A16-A6B6-E04E-A40A-F482C0A95C0A}"/>
              </a:ext>
            </a:extLst>
          </p:cNvPr>
          <p:cNvGrpSpPr/>
          <p:nvPr userDrawn="1"/>
        </p:nvGrpSpPr>
        <p:grpSpPr>
          <a:xfrm rot="5400000">
            <a:off x="-21619" y="1088453"/>
            <a:ext cx="910099" cy="99010"/>
            <a:chOff x="622418" y="280927"/>
            <a:chExt cx="2335705" cy="254101"/>
          </a:xfrm>
        </p:grpSpPr>
        <p:sp>
          <p:nvSpPr>
            <p:cNvPr id="10" name="Oval 9">
              <a:extLst>
                <a:ext uri="{FF2B5EF4-FFF2-40B4-BE49-F238E27FC236}">
                  <a16:creationId xmlns:a16="http://schemas.microsoft.com/office/drawing/2014/main" id="{A6B2DF34-338D-4F43-B8F7-D7A00348B68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3778C21-4171-774D-A73F-77BEBF2E4C18}"/>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CC25D2EF-AE01-A247-8BC3-8F35F863C0A6}"/>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F860801-109B-EB4F-96A8-35D76B759583}"/>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7337F70-9199-7242-BD8B-8F96606A18A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DF9320B7-AD58-7649-BC95-614ED90F4E69}"/>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itle 1">
            <a:extLst>
              <a:ext uri="{FF2B5EF4-FFF2-40B4-BE49-F238E27FC236}">
                <a16:creationId xmlns:a16="http://schemas.microsoft.com/office/drawing/2014/main" id="{0C0DE796-998A-F84E-9B56-1958C6777C8D}"/>
              </a:ext>
            </a:extLst>
          </p:cNvPr>
          <p:cNvSpPr>
            <a:spLocks noGrp="1"/>
          </p:cNvSpPr>
          <p:nvPr>
            <p:ph type="title" hasCustomPrompt="1"/>
          </p:nvPr>
        </p:nvSpPr>
        <p:spPr>
          <a:xfrm>
            <a:off x="1097280" y="421817"/>
            <a:ext cx="5751389" cy="1369074"/>
          </a:xfrm>
          <a:prstGeom prst="rect">
            <a:avLst/>
          </a:prstGeom>
        </p:spPr>
        <p:txBody>
          <a:bodyPr lIns="0" rIns="0" anchor="ctr">
            <a:normAutofit/>
          </a:bodyPr>
          <a:lstStyle>
            <a:lvl1pPr>
              <a:defRPr sz="4000" cap="all" baseline="0"/>
            </a:lvl1pPr>
          </a:lstStyle>
          <a:p>
            <a:r>
              <a:rPr lang="en-US" dirty="0"/>
              <a:t>Title Goes Here</a:t>
            </a:r>
          </a:p>
        </p:txBody>
      </p:sp>
      <p:sp>
        <p:nvSpPr>
          <p:cNvPr id="21" name="Picture Placeholder 20">
            <a:extLst>
              <a:ext uri="{FF2B5EF4-FFF2-40B4-BE49-F238E27FC236}">
                <a16:creationId xmlns:a16="http://schemas.microsoft.com/office/drawing/2014/main" id="{384D173E-9054-4C40-98EA-A6EAC4D8511B}"/>
              </a:ext>
            </a:extLst>
          </p:cNvPr>
          <p:cNvSpPr>
            <a:spLocks noGrp="1"/>
          </p:cNvSpPr>
          <p:nvPr>
            <p:ph type="pic" sz="quarter" idx="13"/>
          </p:nvPr>
        </p:nvSpPr>
        <p:spPr>
          <a:xfrm>
            <a:off x="7921641" y="0"/>
            <a:ext cx="4270360" cy="6858001"/>
          </a:xfrm>
          <a:custGeom>
            <a:avLst/>
            <a:gdLst>
              <a:gd name="connsiteX0" fmla="*/ 1904091 w 4305219"/>
              <a:gd name="connsiteY0" fmla="*/ 0 h 6913983"/>
              <a:gd name="connsiteX1" fmla="*/ 4305219 w 4305219"/>
              <a:gd name="connsiteY1" fmla="*/ 0 h 6913983"/>
              <a:gd name="connsiteX2" fmla="*/ 4305219 w 4305219"/>
              <a:gd name="connsiteY2" fmla="*/ 6913983 h 6913983"/>
              <a:gd name="connsiteX3" fmla="*/ 1818156 w 4305219"/>
              <a:gd name="connsiteY3" fmla="*/ 6913983 h 6913983"/>
              <a:gd name="connsiteX4" fmla="*/ 1507580 w 4305219"/>
              <a:gd name="connsiteY4" fmla="*/ 6681739 h 6913983"/>
              <a:gd name="connsiteX5" fmla="*/ 0 w 4305219"/>
              <a:gd name="connsiteY5" fmla="*/ 3484983 h 6913983"/>
              <a:gd name="connsiteX6" fmla="*/ 1826504 w 4305219"/>
              <a:gd name="connsiteY6" fmla="*/ 49741 h 691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5219" h="6913983">
                <a:moveTo>
                  <a:pt x="1904091" y="0"/>
                </a:moveTo>
                <a:lnTo>
                  <a:pt x="4305219" y="0"/>
                </a:lnTo>
                <a:lnTo>
                  <a:pt x="4305219" y="6913983"/>
                </a:lnTo>
                <a:lnTo>
                  <a:pt x="1818156" y="6913983"/>
                </a:lnTo>
                <a:lnTo>
                  <a:pt x="1507580" y="6681739"/>
                </a:lnTo>
                <a:cubicBezTo>
                  <a:pt x="586863" y="5921896"/>
                  <a:pt x="0" y="4771974"/>
                  <a:pt x="0" y="3484983"/>
                </a:cubicBezTo>
                <a:cubicBezTo>
                  <a:pt x="0" y="2054993"/>
                  <a:pt x="724522" y="794225"/>
                  <a:pt x="1826504" y="49741"/>
                </a:cubicBezTo>
                <a:close/>
              </a:path>
            </a:pathLst>
          </a:cu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txBody>
          <a:bodyPr wrap="square">
            <a:noAutofit/>
          </a:bodyPr>
          <a:lstStyle/>
          <a:p>
            <a:r>
              <a:rPr lang="en-US"/>
              <a:t>Click icon to add picture</a:t>
            </a:r>
            <a:endParaRPr lang="en-US" dirty="0"/>
          </a:p>
        </p:txBody>
      </p:sp>
      <p:sp>
        <p:nvSpPr>
          <p:cNvPr id="18" name="Content Placeholder 2">
            <a:extLst>
              <a:ext uri="{FF2B5EF4-FFF2-40B4-BE49-F238E27FC236}">
                <a16:creationId xmlns:a16="http://schemas.microsoft.com/office/drawing/2014/main" id="{881322FE-E286-E344-B332-CF37E6CAD2DC}"/>
              </a:ext>
            </a:extLst>
          </p:cNvPr>
          <p:cNvSpPr>
            <a:spLocks noGrp="1"/>
          </p:cNvSpPr>
          <p:nvPr>
            <p:ph sz="half" idx="1"/>
          </p:nvPr>
        </p:nvSpPr>
        <p:spPr>
          <a:xfrm>
            <a:off x="1097278" y="2322728"/>
            <a:ext cx="5751389" cy="4032225"/>
          </a:xfrm>
        </p:spPr>
        <p:txBody>
          <a:bodyPr anchor="t">
            <a:normAutofit/>
          </a:bodyPr>
          <a:lstStyle>
            <a:lvl1pPr>
              <a:defRPr sz="1600"/>
            </a:lvl1pPr>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29985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D6E202-B606-4609-B914-27C9371A1F6D}" type="datetime1">
              <a:rPr lang="en-US" smtClean="0"/>
              <a:t>10/21/2026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A98EE3D-8CD1-4C3F-BD1C-C98C9596463C}"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91874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22" r:id="rId15"/>
    <p:sldLayoutId id="2147483709" r:id="rId16"/>
    <p:sldLayoutId id="2147483716" r:id="rId17"/>
    <p:sldLayoutId id="2147483710" r:id="rId18"/>
    <p:sldLayoutId id="2147483724" r:id="rId19"/>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hyperlink" Target="https://developers.google.com/machine-learning/glossary?hl=ru#bucketing" TargetMode="External"/><Relationship Id="rId2" Type="http://schemas.openxmlformats.org/officeDocument/2006/relationships/hyperlink" Target="https://developers.google.com/machine-learning/glossary?hl=ru#feature_engineering" TargetMode="External"/><Relationship Id="rId1" Type="http://schemas.openxmlformats.org/officeDocument/2006/relationships/slideLayout" Target="../slideLayouts/slideLayout2.xml"/><Relationship Id="rId4" Type="http://schemas.openxmlformats.org/officeDocument/2006/relationships/hyperlink" Target="https://developers.google.com/machine-learning/glossary?hl=ru#normalization"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kaggle.com/khsamaha/solar-flares-rhessi?select=hessi.solar.flare.2002to2016.csv" TargetMode="External"/><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4.xml"/><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computerweekly-com.translate.goog/de/definition/Deep-Learning?_x_tr_sl=auto&amp;_x_tr_tl=ru&amp;_x_tr_hl=ru" TargetMode="Externa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4.xml"/><Relationship Id="rId6" Type="http://schemas.openxmlformats.org/officeDocument/2006/relationships/image" Target="../media/image28.png"/><Relationship Id="rId5" Type="http://schemas.openxmlformats.org/officeDocument/2006/relationships/image" Target="../media/image26.svg"/><Relationship Id="rId4" Type="http://schemas.openxmlformats.org/officeDocument/2006/relationships/image" Target="../media/image25.png"/></Relationships>
</file>

<file path=ppt/slides/_rels/slide5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10.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50278-9A9A-0F4E-BDCF-6351BE173254}"/>
              </a:ext>
            </a:extLst>
          </p:cNvPr>
          <p:cNvSpPr>
            <a:spLocks noGrp="1"/>
          </p:cNvSpPr>
          <p:nvPr>
            <p:ph type="ctrTitle"/>
          </p:nvPr>
        </p:nvSpPr>
        <p:spPr>
          <a:xfrm>
            <a:off x="5289754" y="639097"/>
            <a:ext cx="6253317" cy="1424481"/>
          </a:xfrm>
        </p:spPr>
        <p:txBody>
          <a:bodyPr>
            <a:normAutofit/>
          </a:bodyPr>
          <a:lstStyle/>
          <a:p>
            <a:r>
              <a:rPr lang="ru-RU" sz="3600" dirty="0">
                <a:solidFill>
                  <a:schemeClr val="tx1">
                    <a:lumMod val="75000"/>
                    <a:lumOff val="25000"/>
                  </a:schemeClr>
                </a:solidFill>
              </a:rPr>
              <a:t>НЕЙРОННЫЕ СЕТИ И МАШИННОЕ ОБУЧЕНИЕ</a:t>
            </a:r>
            <a:endParaRPr lang="ru-RU" sz="3600" dirty="0"/>
          </a:p>
        </p:txBody>
      </p:sp>
      <p:sp>
        <p:nvSpPr>
          <p:cNvPr id="3" name="Subtitle 2">
            <a:extLst>
              <a:ext uri="{FF2B5EF4-FFF2-40B4-BE49-F238E27FC236}">
                <a16:creationId xmlns:a16="http://schemas.microsoft.com/office/drawing/2014/main" id="{117F481B-9C2C-084A-8DF1-0582D2DA4B02}"/>
              </a:ext>
            </a:extLst>
          </p:cNvPr>
          <p:cNvSpPr>
            <a:spLocks noGrp="1"/>
          </p:cNvSpPr>
          <p:nvPr>
            <p:ph type="subTitle" idx="1"/>
          </p:nvPr>
        </p:nvSpPr>
        <p:spPr>
          <a:xfrm>
            <a:off x="5289753" y="4455621"/>
            <a:ext cx="6269347" cy="1238616"/>
          </a:xfrm>
        </p:spPr>
        <p:txBody>
          <a:bodyPr>
            <a:normAutofit fontScale="92500" lnSpcReduction="10000"/>
          </a:bodyPr>
          <a:lstStyle/>
          <a:p>
            <a:r>
              <a:rPr lang="ru-RU" sz="1300" dirty="0">
                <a:solidFill>
                  <a:schemeClr val="tx1">
                    <a:lumMod val="85000"/>
                    <a:lumOff val="15000"/>
                  </a:schemeClr>
                </a:solidFill>
              </a:rPr>
              <a:t>Лекция 2. </a:t>
            </a:r>
          </a:p>
          <a:p>
            <a:r>
              <a:rPr lang="ru-RU" sz="1300" dirty="0">
                <a:solidFill>
                  <a:schemeClr val="tx1">
                    <a:lumMod val="85000"/>
                    <a:lumOff val="15000"/>
                  </a:schemeClr>
                </a:solidFill>
              </a:rPr>
              <a:t>Текстовая информация: представление, предварительная обработка, векторизация</a:t>
            </a:r>
          </a:p>
          <a:p>
            <a:r>
              <a:rPr lang="ru-RU" sz="1300" dirty="0">
                <a:solidFill>
                  <a:schemeClr val="tx1">
                    <a:lumMod val="85000"/>
                    <a:lumOff val="15000"/>
                  </a:schemeClr>
                </a:solidFill>
              </a:rPr>
              <a:t>Аудиоинформация: хранение, спектральные признаки, распознавание речи</a:t>
            </a:r>
          </a:p>
        </p:txBody>
      </p:sp>
      <p:pic>
        <p:nvPicPr>
          <p:cNvPr id="5" name="Picture 4">
            <a:extLst>
              <a:ext uri="{FF2B5EF4-FFF2-40B4-BE49-F238E27FC236}">
                <a16:creationId xmlns:a16="http://schemas.microsoft.com/office/drawing/2014/main" id="{E16350D8-5733-BEE2-7E33-A574DF71BA13}"/>
              </a:ext>
            </a:extLst>
          </p:cNvPr>
          <p:cNvPicPr>
            <a:picLocks noChangeAspect="1"/>
          </p:cNvPicPr>
          <p:nvPr/>
        </p:nvPicPr>
        <p:blipFill>
          <a:blip r:embed="rId3"/>
          <a:srcRect l="5411" r="56570"/>
          <a:stretch/>
        </p:blipFill>
        <p:spPr>
          <a:xfrm>
            <a:off x="-1" y="10"/>
            <a:ext cx="4635315" cy="6857989"/>
          </a:xfrm>
          <a:prstGeom prst="rect">
            <a:avLst/>
          </a:prstGeom>
        </p:spPr>
      </p:pic>
      <p:cxnSp>
        <p:nvCxnSpPr>
          <p:cNvPr id="11" name="Straight Connector 10">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769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1500"/>
                                  </p:stCondLst>
                                  <p:iterate>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7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00C7-0803-8A43-A9F3-6FF24BDCB923}"/>
              </a:ext>
            </a:extLst>
          </p:cNvPr>
          <p:cNvSpPr>
            <a:spLocks noGrp="1"/>
          </p:cNvSpPr>
          <p:nvPr>
            <p:ph type="title"/>
          </p:nvPr>
        </p:nvSpPr>
        <p:spPr/>
        <p:txBody>
          <a:bodyPr>
            <a:normAutofit/>
          </a:bodyPr>
          <a:lstStyle/>
          <a:p>
            <a:r>
              <a:rPr lang="ru-RU" sz="5400" dirty="0"/>
              <a:t>ТЕКСТОВАЯ ИНФОРМАЦИЯ</a:t>
            </a:r>
            <a:endParaRPr lang="en-US" sz="5400" dirty="0"/>
          </a:p>
        </p:txBody>
      </p:sp>
      <p:sp>
        <p:nvSpPr>
          <p:cNvPr id="5" name="Text Placeholder 4">
            <a:extLst>
              <a:ext uri="{FF2B5EF4-FFF2-40B4-BE49-F238E27FC236}">
                <a16:creationId xmlns:a16="http://schemas.microsoft.com/office/drawing/2014/main" id="{B389A574-F452-49EE-9B41-B6208C501ED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39088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F7C633-6FA1-4FBC-8E61-54FEB4587827}"/>
              </a:ext>
            </a:extLst>
          </p:cNvPr>
          <p:cNvSpPr>
            <a:spLocks noGrp="1"/>
          </p:cNvSpPr>
          <p:nvPr>
            <p:ph type="title"/>
          </p:nvPr>
        </p:nvSpPr>
        <p:spPr>
          <a:xfrm>
            <a:off x="7859485" y="634946"/>
            <a:ext cx="3690257" cy="1450757"/>
          </a:xfrm>
        </p:spPr>
        <p:txBody>
          <a:bodyPr>
            <a:normAutofit/>
          </a:bodyPr>
          <a:lstStyle/>
          <a:p>
            <a:r>
              <a:rPr lang="ru-RU" dirty="0"/>
              <a:t>Таблицы кодирования</a:t>
            </a:r>
            <a:endParaRPr lang="en-US" dirty="0"/>
          </a:p>
        </p:txBody>
      </p:sp>
      <p:pic>
        <p:nvPicPr>
          <p:cNvPr id="6" name="Рисунок 5">
            <a:extLst>
              <a:ext uri="{FF2B5EF4-FFF2-40B4-BE49-F238E27FC236}">
                <a16:creationId xmlns:a16="http://schemas.microsoft.com/office/drawing/2014/main" id="{B8F14D1B-D8DD-B890-FD7D-83DED0054A60}"/>
              </a:ext>
            </a:extLst>
          </p:cNvPr>
          <p:cNvPicPr>
            <a:picLocks noChangeAspect="1"/>
          </p:cNvPicPr>
          <p:nvPr/>
        </p:nvPicPr>
        <p:blipFill>
          <a:blip r:embed="rId3"/>
          <a:stretch>
            <a:fillRect/>
          </a:stretch>
        </p:blipFill>
        <p:spPr>
          <a:xfrm>
            <a:off x="633999" y="1086148"/>
            <a:ext cx="6909801" cy="4422271"/>
          </a:xfrm>
          <a:prstGeom prst="rect">
            <a:avLst/>
          </a:prstGeom>
        </p:spPr>
      </p:pic>
      <p:cxnSp>
        <p:nvCxnSpPr>
          <p:cNvPr id="13" name="Straight Connector 1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F69AA2-97D6-4693-9E8A-BEBB49A5C6F9}"/>
              </a:ext>
            </a:extLst>
          </p:cNvPr>
          <p:cNvSpPr>
            <a:spLocks noGrp="1"/>
          </p:cNvSpPr>
          <p:nvPr>
            <p:ph idx="1"/>
          </p:nvPr>
        </p:nvSpPr>
        <p:spPr>
          <a:xfrm>
            <a:off x="7859485" y="2198914"/>
            <a:ext cx="3690257" cy="3670180"/>
          </a:xfrm>
        </p:spPr>
        <p:txBody>
          <a:bodyPr>
            <a:normAutofit/>
          </a:bodyPr>
          <a:lstStyle/>
          <a:p>
            <a:pPr>
              <a:buFont typeface="Courier New" panose="02070309020205020404" pitchFamily="49" charset="0"/>
              <a:buChar char="o"/>
            </a:pPr>
            <a:r>
              <a:rPr lang="ru-RU" sz="1700" dirty="0"/>
              <a:t>Одним из первых стандартов для ПК стала таблица </a:t>
            </a:r>
            <a:r>
              <a:rPr lang="ru-RU" sz="1700" i="1" dirty="0"/>
              <a:t>ASCII </a:t>
            </a:r>
            <a:r>
              <a:rPr lang="ru-RU" sz="1700" dirty="0"/>
              <a:t>(Американский стандартный код для информационного обмена).</a:t>
            </a:r>
          </a:p>
          <a:p>
            <a:pPr>
              <a:buFont typeface="Courier New" panose="02070309020205020404" pitchFamily="49" charset="0"/>
              <a:buChar char="o"/>
            </a:pPr>
            <a:r>
              <a:rPr lang="ru-RU" sz="1700" dirty="0"/>
              <a:t>Проблема локализации решалась расширенными кодовыми таблицами, которые были плохо совместимы между собой.</a:t>
            </a:r>
          </a:p>
          <a:p>
            <a:pPr>
              <a:buFont typeface="Courier New" panose="02070309020205020404" pitchFamily="49" charset="0"/>
              <a:buChar char="o"/>
            </a:pPr>
            <a:r>
              <a:rPr lang="ru-RU" sz="1700" dirty="0"/>
              <a:t>С конца 90-х годов проблема стандартизации символьного кодирования решается введением нового международного стандарта, который называется </a:t>
            </a:r>
            <a:r>
              <a:rPr lang="ru-RU" sz="1700" i="1" dirty="0" err="1"/>
              <a:t>Unicode</a:t>
            </a:r>
            <a:r>
              <a:rPr lang="ru-RU" sz="1700" i="1" dirty="0"/>
              <a:t>.</a:t>
            </a:r>
            <a:endParaRPr lang="en-US" sz="1700" dirty="0"/>
          </a:p>
        </p:txBody>
      </p:sp>
      <p:sp>
        <p:nvSpPr>
          <p:cNvPr id="15" name="Rectangle 14">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17" name="Rectangle 16">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Tree>
    <p:extLst>
      <p:ext uri="{BB962C8B-B14F-4D97-AF65-F5344CB8AC3E}">
        <p14:creationId xmlns:p14="http://schemas.microsoft.com/office/powerpoint/2010/main" val="833982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2EB63017-08F6-4B5C-BEED-A8DBE5DED44F}"/>
              </a:ext>
            </a:extLst>
          </p:cNvPr>
          <p:cNvSpPr>
            <a:spLocks noGrp="1"/>
          </p:cNvSpPr>
          <p:nvPr>
            <p:ph idx="1"/>
          </p:nvPr>
        </p:nvSpPr>
        <p:spPr>
          <a:xfrm>
            <a:off x="1143000" y="1752600"/>
            <a:ext cx="8899358" cy="4378325"/>
          </a:xfrm>
        </p:spPr>
        <p:txBody>
          <a:bodyPr>
            <a:normAutofit fontScale="70000" lnSpcReduction="2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TXT (текстовый) – отсутствие формата</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CSV (значения, разделенные запятыми).</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RTF (форматированный текст)</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HTML (язык гипертекстовой разметки)</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XML (расширяемый язык разметки).</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Markdown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JSON (нотация объектов JavaScript).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YAML (YAML не является языком разметки).</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SGML (стандартный обобщенный язык разметки)</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TEX (</a:t>
            </a:r>
            <a:r>
              <a:rPr kumimoji="0" lang="ru-RU" altLang="ru-RU" sz="2400" b="0" i="0" u="none" strike="noStrike" cap="none" normalizeH="0" baseline="0" dirty="0" err="1">
                <a:ln>
                  <a:noFill/>
                </a:ln>
                <a:solidFill>
                  <a:schemeClr val="tx1"/>
                </a:solidFill>
                <a:effectLst/>
                <a:latin typeface="Arial" panose="020B0604020202020204" pitchFamily="34" charset="0"/>
              </a:rPr>
              <a:t>LaTeX</a:t>
            </a:r>
            <a:r>
              <a:rPr kumimoji="0" lang="ru-RU" altLang="ru-RU"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CSS (каскадные таблицы стилей)</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SQL (язык структурированных запросов)</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JavaScript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a:t>
            </a:r>
            <a:r>
              <a:rPr kumimoji="0" lang="ru-RU" altLang="ru-RU" sz="2400" b="0" i="0" u="none" strike="noStrike" cap="none" normalizeH="0" baseline="0" dirty="0" err="1">
                <a:ln>
                  <a:noFill/>
                </a:ln>
                <a:solidFill>
                  <a:schemeClr val="tx1"/>
                </a:solidFill>
                <a:effectLst/>
                <a:latin typeface="Arial" panose="020B0604020202020204" pitchFamily="34" charset="0"/>
              </a:rPr>
              <a:t>VBScript</a:t>
            </a:r>
            <a:r>
              <a:rPr kumimoji="0" lang="ru-RU" altLang="ru-RU" sz="2400" b="0" i="0" u="none" strike="noStrike" cap="none" normalizeH="0" baseline="0" dirty="0">
                <a:ln>
                  <a:noFill/>
                </a:ln>
                <a:solidFill>
                  <a:schemeClr val="tx1"/>
                </a:solidFill>
                <a:effectLst/>
                <a:latin typeface="Arial" panose="020B0604020202020204" pitchFamily="34" charset="0"/>
              </a:rPr>
              <a:t> (Visual Basic </a:t>
            </a:r>
            <a:r>
              <a:rPr kumimoji="0" lang="ru-RU" altLang="ru-RU" sz="2400" b="0" i="0" u="none" strike="noStrike" cap="none" normalizeH="0" baseline="0" dirty="0" err="1">
                <a:ln>
                  <a:noFill/>
                </a:ln>
                <a:solidFill>
                  <a:schemeClr val="tx1"/>
                </a:solidFill>
                <a:effectLst/>
                <a:latin typeface="Arial" panose="020B0604020202020204" pitchFamily="34" charset="0"/>
              </a:rPr>
              <a:t>Script</a:t>
            </a:r>
            <a:r>
              <a:rPr kumimoji="0" lang="ru-RU" altLang="ru-RU"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PHP (препроцессор гипертекста)</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Perl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Ruby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сценария оболочки (например, </a:t>
            </a:r>
            <a:r>
              <a:rPr kumimoji="0" lang="ru-RU" altLang="ru-RU" sz="2400" b="0" i="0" u="none" strike="noStrike" cap="none" normalizeH="0" baseline="0" dirty="0" err="1">
                <a:ln>
                  <a:noFill/>
                </a:ln>
                <a:solidFill>
                  <a:schemeClr val="tx1"/>
                </a:solidFill>
                <a:effectLst/>
                <a:latin typeface="Arial" panose="020B0604020202020204" pitchFamily="34" charset="0"/>
              </a:rPr>
              <a:t>Bash</a:t>
            </a:r>
            <a:r>
              <a:rPr kumimoji="0" lang="ru-RU" altLang="ru-RU"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a:ln>
                  <a:noFill/>
                </a:ln>
                <a:solidFill>
                  <a:schemeClr val="tx1"/>
                </a:solidFill>
                <a:effectLst/>
                <a:latin typeface="Arial" panose="020B0604020202020204" pitchFamily="34" charset="0"/>
              </a:rPr>
              <a:t>Формат </a:t>
            </a:r>
            <a:r>
              <a:rPr kumimoji="0" lang="ru-RU" altLang="ru-RU" sz="2400" b="0" i="0" u="none" strike="noStrike" cap="none" normalizeH="0" baseline="0" dirty="0" err="1">
                <a:ln>
                  <a:noFill/>
                </a:ln>
                <a:solidFill>
                  <a:schemeClr val="tx1"/>
                </a:solidFill>
                <a:effectLst/>
                <a:latin typeface="Arial" panose="020B0604020202020204" pitchFamily="34" charset="0"/>
              </a:rPr>
              <a:t>PowerShell</a:t>
            </a:r>
            <a:endParaRPr lang="en-US" sz="2400" dirty="0"/>
          </a:p>
        </p:txBody>
      </p:sp>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lstStyle/>
          <a:p>
            <a:r>
              <a:rPr lang="ru-RU" dirty="0"/>
              <a:t>Форматы данных</a:t>
            </a:r>
            <a:endParaRPr lang="en-US" dirty="0"/>
          </a:p>
        </p:txBody>
      </p:sp>
      <p:pic>
        <p:nvPicPr>
          <p:cNvPr id="4" name="Picture 3">
            <a:extLst>
              <a:ext uri="{FF2B5EF4-FFF2-40B4-BE49-F238E27FC236}">
                <a16:creationId xmlns:a16="http://schemas.microsoft.com/office/drawing/2014/main" id="{9C77D4B0-FE43-4F75-8F40-BA836D6BDB1D}"/>
              </a:ext>
            </a:extLst>
          </p:cNvPr>
          <p:cNvPicPr>
            <a:picLocks noChangeAspect="1"/>
          </p:cNvPicPr>
          <p:nvPr/>
        </p:nvPicPr>
        <p:blipFill>
          <a:blip r:embed="rId3">
            <a:duotone>
              <a:schemeClr val="accent5">
                <a:shade val="45000"/>
                <a:satMod val="135000"/>
              </a:schemeClr>
              <a:prstClr val="white"/>
            </a:duotone>
          </a:blip>
          <a:stretch>
            <a:fillRect/>
          </a:stretch>
        </p:blipFill>
        <p:spPr>
          <a:xfrm>
            <a:off x="8792938" y="2302974"/>
            <a:ext cx="2252051" cy="2252051"/>
          </a:xfrm>
          <a:prstGeom prst="rect">
            <a:avLst/>
          </a:prstGeom>
        </p:spPr>
      </p:pic>
    </p:spTree>
    <p:extLst>
      <p:ext uri="{BB962C8B-B14F-4D97-AF65-F5344CB8AC3E}">
        <p14:creationId xmlns:p14="http://schemas.microsoft.com/office/powerpoint/2010/main" val="3858732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2EB63017-08F6-4B5C-BEED-A8DBE5DED44F}"/>
              </a:ext>
            </a:extLst>
          </p:cNvPr>
          <p:cNvSpPr>
            <a:spLocks noGrp="1"/>
          </p:cNvSpPr>
          <p:nvPr>
            <p:ph idx="1"/>
          </p:nvPr>
        </p:nvSpPr>
        <p:spPr>
          <a:xfrm>
            <a:off x="1143000" y="1752600"/>
            <a:ext cx="9951720" cy="4378325"/>
          </a:xfrm>
        </p:spPr>
        <p:txBody>
          <a:bodyPr>
            <a:normAutofit fontScale="85000" lnSpcReduction="10000"/>
          </a:bodyPr>
          <a:lstStyle/>
          <a:p>
            <a:pPr>
              <a:lnSpc>
                <a:spcPct val="120000"/>
              </a:lnSpc>
              <a:buFont typeface="Courier New" panose="02070309020205020404" pitchFamily="49" charset="0"/>
              <a:buChar char="o"/>
            </a:pPr>
            <a:r>
              <a:rPr lang="ru-RU" sz="2800" dirty="0"/>
              <a:t>Текстовая информация избыточна – смысл многих слов или предложений не потеряется, если часть информации будет повреждена или утеряна.</a:t>
            </a:r>
          </a:p>
          <a:p>
            <a:pPr>
              <a:lnSpc>
                <a:spcPct val="120000"/>
              </a:lnSpc>
              <a:buFont typeface="Courier New" panose="02070309020205020404" pitchFamily="49" charset="0"/>
              <a:buChar char="o"/>
            </a:pPr>
            <a:r>
              <a:rPr lang="ru-RU" sz="2800" dirty="0"/>
              <a:t>Например, смысл сообщения «привет, как дела?» останется более-мене понятным в виде «</a:t>
            </a:r>
            <a:r>
              <a:rPr lang="ru-RU" sz="2800" dirty="0" err="1"/>
              <a:t>првт</a:t>
            </a:r>
            <a:r>
              <a:rPr lang="ru-RU" sz="2800" dirty="0"/>
              <a:t>, как </a:t>
            </a:r>
            <a:r>
              <a:rPr lang="ru-RU" sz="2800" dirty="0" err="1"/>
              <a:t>дла</a:t>
            </a:r>
            <a:r>
              <a:rPr lang="ru-RU" sz="2800" dirty="0"/>
              <a:t>?</a:t>
            </a:r>
          </a:p>
          <a:p>
            <a:pPr>
              <a:lnSpc>
                <a:spcPct val="120000"/>
              </a:lnSpc>
              <a:buFont typeface="Courier New" panose="02070309020205020404" pitchFamily="49" charset="0"/>
              <a:buChar char="o"/>
            </a:pPr>
            <a:r>
              <a:rPr lang="ru-RU" sz="2800" dirty="0"/>
              <a:t>Кроме того, </a:t>
            </a:r>
            <a:r>
              <a:rPr lang="ru-RU" sz="2800" dirty="0" err="1"/>
              <a:t>осбесоннть</a:t>
            </a:r>
            <a:r>
              <a:rPr lang="ru-RU" sz="2800" dirty="0"/>
              <a:t> </a:t>
            </a:r>
            <a:r>
              <a:rPr lang="ru-RU" sz="2800" dirty="0" err="1"/>
              <a:t>чевлоечсекго</a:t>
            </a:r>
            <a:r>
              <a:rPr lang="ru-RU" sz="2800" dirty="0"/>
              <a:t> </a:t>
            </a:r>
            <a:r>
              <a:rPr lang="ru-RU" sz="2800" dirty="0" err="1"/>
              <a:t>вспоритяия</a:t>
            </a:r>
            <a:r>
              <a:rPr lang="ru-RU" sz="2800" dirty="0"/>
              <a:t> в том, что </a:t>
            </a:r>
            <a:r>
              <a:rPr lang="ru-RU" sz="2800" dirty="0" err="1"/>
              <a:t>продяок</a:t>
            </a:r>
            <a:r>
              <a:rPr lang="ru-RU" sz="2800" dirty="0"/>
              <a:t> </a:t>
            </a:r>
            <a:r>
              <a:rPr lang="ru-RU" sz="2800" dirty="0" err="1"/>
              <a:t>селодваиня</a:t>
            </a:r>
            <a:r>
              <a:rPr lang="ru-RU" sz="2800" dirty="0"/>
              <a:t> </a:t>
            </a:r>
            <a:r>
              <a:rPr lang="ru-RU" sz="2800" dirty="0" err="1"/>
              <a:t>бкув</a:t>
            </a:r>
            <a:r>
              <a:rPr lang="ru-RU" sz="2800" dirty="0"/>
              <a:t> в </a:t>
            </a:r>
            <a:r>
              <a:rPr lang="ru-RU" sz="2800" dirty="0" err="1"/>
              <a:t>слвое</a:t>
            </a:r>
            <a:r>
              <a:rPr lang="ru-RU" sz="2800" dirty="0"/>
              <a:t> (корме </a:t>
            </a:r>
            <a:r>
              <a:rPr lang="ru-RU" sz="2800" dirty="0" err="1"/>
              <a:t>преовй</a:t>
            </a:r>
            <a:r>
              <a:rPr lang="ru-RU" sz="2800" dirty="0"/>
              <a:t> и </a:t>
            </a:r>
            <a:r>
              <a:rPr lang="ru-RU" sz="2800" dirty="0" err="1"/>
              <a:t>полсендей</a:t>
            </a:r>
            <a:r>
              <a:rPr lang="ru-RU" sz="2800" dirty="0"/>
              <a:t>), как </a:t>
            </a:r>
            <a:r>
              <a:rPr lang="ru-RU" sz="2800" dirty="0" err="1"/>
              <a:t>првалио</a:t>
            </a:r>
            <a:r>
              <a:rPr lang="ru-RU" sz="2800" dirty="0"/>
              <a:t>, не </a:t>
            </a:r>
            <a:r>
              <a:rPr lang="ru-RU" sz="2800" dirty="0" err="1"/>
              <a:t>виялет</a:t>
            </a:r>
            <a:r>
              <a:rPr lang="ru-RU" sz="2800" dirty="0"/>
              <a:t> на </a:t>
            </a:r>
            <a:r>
              <a:rPr lang="ru-RU" sz="2800" dirty="0" err="1"/>
              <a:t>собпонбсоть</a:t>
            </a:r>
            <a:r>
              <a:rPr lang="ru-RU" sz="2800" dirty="0"/>
              <a:t> </a:t>
            </a:r>
            <a:r>
              <a:rPr lang="ru-RU" sz="2800" dirty="0" err="1"/>
              <a:t>пниомать</a:t>
            </a:r>
            <a:r>
              <a:rPr lang="ru-RU" sz="2800" dirty="0"/>
              <a:t> </a:t>
            </a:r>
            <a:r>
              <a:rPr lang="ru-RU" sz="2800" dirty="0" err="1"/>
              <a:t>инфроацмию</a:t>
            </a:r>
            <a:r>
              <a:rPr lang="ru-RU" sz="2800" dirty="0"/>
              <a:t>.</a:t>
            </a:r>
          </a:p>
          <a:p>
            <a:pPr>
              <a:lnSpc>
                <a:spcPct val="120000"/>
              </a:lnSpc>
              <a:buFont typeface="Courier New" panose="02070309020205020404" pitchFamily="49" charset="0"/>
              <a:buChar char="o"/>
            </a:pPr>
            <a:r>
              <a:rPr lang="ru-RU" sz="2800" dirty="0"/>
              <a:t>Избыточность означает, что, устранив её, можно сжать информацию.</a:t>
            </a:r>
            <a:endParaRPr lang="en-US" sz="2800" dirty="0"/>
          </a:p>
        </p:txBody>
      </p:sp>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lstStyle/>
          <a:p>
            <a:r>
              <a:rPr lang="ru-RU" dirty="0"/>
              <a:t>избыточность</a:t>
            </a:r>
            <a:endParaRPr lang="en-US" dirty="0"/>
          </a:p>
        </p:txBody>
      </p:sp>
    </p:spTree>
    <p:extLst>
      <p:ext uri="{BB962C8B-B14F-4D97-AF65-F5344CB8AC3E}">
        <p14:creationId xmlns:p14="http://schemas.microsoft.com/office/powerpoint/2010/main" val="558505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37607E-ABBD-4DF0-ACED-8C5F7A98D894}"/>
              </a:ext>
            </a:extLst>
          </p:cNvPr>
          <p:cNvSpPr>
            <a:spLocks noGrp="1"/>
          </p:cNvSpPr>
          <p:nvPr>
            <p:ph idx="1"/>
          </p:nvPr>
        </p:nvSpPr>
        <p:spPr>
          <a:xfrm>
            <a:off x="1036320" y="1790891"/>
            <a:ext cx="10583443" cy="5501148"/>
          </a:xfrm>
        </p:spPr>
        <p:txBody>
          <a:bodyPr>
            <a:normAutofit/>
          </a:bodyPr>
          <a:lstStyle/>
          <a:p>
            <a:pPr lvl="1"/>
            <a:r>
              <a:rPr lang="ru-RU" sz="2000" dirty="0"/>
              <a:t>Многозначность слов</a:t>
            </a:r>
            <a:endParaRPr lang="ru-RU" sz="1600" dirty="0"/>
          </a:p>
          <a:p>
            <a:pPr lvl="1"/>
            <a:r>
              <a:rPr lang="ru-RU" sz="2000" dirty="0" err="1"/>
              <a:t>Кореферентность</a:t>
            </a:r>
            <a:endParaRPr lang="ru-RU" sz="2000" dirty="0"/>
          </a:p>
          <a:p>
            <a:pPr lvl="2"/>
            <a:r>
              <a:rPr lang="ru-RU" sz="1600" dirty="0"/>
              <a:t>Анафора: «Мама мыла раму. </a:t>
            </a:r>
            <a:r>
              <a:rPr lang="ru-RU" sz="1600" b="1" dirty="0"/>
              <a:t>Она</a:t>
            </a:r>
            <a:r>
              <a:rPr lang="ru-RU" sz="1600" dirty="0"/>
              <a:t> блестит.»</a:t>
            </a:r>
          </a:p>
          <a:p>
            <a:pPr lvl="2"/>
            <a:r>
              <a:rPr lang="ru-RU" sz="1600" dirty="0" err="1"/>
              <a:t>Катафора</a:t>
            </a:r>
            <a:r>
              <a:rPr lang="ru-RU" sz="1600" dirty="0"/>
              <a:t>: «Я тут </a:t>
            </a:r>
            <a:r>
              <a:rPr lang="ru-RU" sz="1600" b="1" dirty="0"/>
              <a:t>кое-что</a:t>
            </a:r>
            <a:r>
              <a:rPr lang="ru-RU" sz="1600" dirty="0"/>
              <a:t> вспомнил – сегодня же пересдача экзамена!»</a:t>
            </a:r>
          </a:p>
          <a:p>
            <a:pPr lvl="2"/>
            <a:r>
              <a:rPr lang="ru-RU" sz="1600" dirty="0" err="1"/>
              <a:t>Кореферентные</a:t>
            </a:r>
            <a:r>
              <a:rPr lang="ru-RU" sz="1600" dirty="0"/>
              <a:t> существительные: «Начальник опять ей нагрубил. </a:t>
            </a:r>
            <a:r>
              <a:rPr lang="ru-RU" sz="1600" b="1" dirty="0"/>
              <a:t>Этот хам</a:t>
            </a:r>
            <a:r>
              <a:rPr lang="ru-RU" sz="1600" dirty="0"/>
              <a:t> нарывается.»</a:t>
            </a:r>
          </a:p>
          <a:p>
            <a:pPr lvl="1"/>
            <a:r>
              <a:rPr lang="ru-RU" sz="2000" dirty="0"/>
              <a:t>Грамматическая корректность не означает осмысленность:</a:t>
            </a:r>
          </a:p>
          <a:p>
            <a:pPr lvl="2"/>
            <a:r>
              <a:rPr lang="ru-RU" sz="1600" dirty="0"/>
              <a:t>«Бесцветные зелёные идеи спят яростно» – Н. Хомский, «Синтаксические структуры», 1959</a:t>
            </a:r>
          </a:p>
          <a:p>
            <a:pPr lvl="1"/>
            <a:r>
              <a:rPr lang="ru-RU" sz="2000" dirty="0"/>
              <a:t>Семантика может частично определяться морфологией:</a:t>
            </a:r>
          </a:p>
          <a:p>
            <a:pPr lvl="2"/>
            <a:r>
              <a:rPr lang="ru-RU" sz="1600" dirty="0"/>
              <a:t>«</a:t>
            </a:r>
            <a:r>
              <a:rPr lang="ru-RU" sz="1600" dirty="0" err="1"/>
              <a:t>Глокая</a:t>
            </a:r>
            <a:r>
              <a:rPr lang="ru-RU" sz="1600" dirty="0"/>
              <a:t> </a:t>
            </a:r>
            <a:r>
              <a:rPr lang="ru-RU" sz="1600" dirty="0" err="1"/>
              <a:t>куздра</a:t>
            </a:r>
            <a:r>
              <a:rPr lang="ru-RU" sz="1600" dirty="0"/>
              <a:t> </a:t>
            </a:r>
            <a:r>
              <a:rPr lang="ru-RU" sz="1600" dirty="0" err="1"/>
              <a:t>штеко</a:t>
            </a:r>
            <a:r>
              <a:rPr lang="ru-RU" sz="1600" dirty="0"/>
              <a:t> </a:t>
            </a:r>
            <a:r>
              <a:rPr lang="ru-RU" sz="1600" dirty="0" err="1"/>
              <a:t>будланула</a:t>
            </a:r>
            <a:r>
              <a:rPr lang="ru-RU" sz="1600" dirty="0"/>
              <a:t> </a:t>
            </a:r>
            <a:r>
              <a:rPr lang="ru-RU" sz="1600" dirty="0" err="1"/>
              <a:t>бокра</a:t>
            </a:r>
            <a:r>
              <a:rPr lang="ru-RU" sz="1600" dirty="0"/>
              <a:t> и </a:t>
            </a:r>
            <a:r>
              <a:rPr lang="ru-RU" sz="1600" dirty="0" err="1"/>
              <a:t>курдячит</a:t>
            </a:r>
            <a:r>
              <a:rPr lang="ru-RU" sz="1600" dirty="0"/>
              <a:t> </a:t>
            </a:r>
            <a:r>
              <a:rPr lang="ru-RU" sz="1600" dirty="0" err="1"/>
              <a:t>бокрёнка</a:t>
            </a:r>
            <a:r>
              <a:rPr lang="ru-RU" sz="1600" dirty="0"/>
              <a:t>» - Л. В. Щерба, «Основы языкознания», 1930</a:t>
            </a:r>
            <a:endParaRPr lang="en-US" sz="1600" dirty="0"/>
          </a:p>
          <a:p>
            <a:pPr lvl="1"/>
            <a:r>
              <a:rPr lang="ru-RU" sz="2000" dirty="0"/>
              <a:t>Особенности разделения текста на отдельные слова в некоторых языках (Немецкий, Китайский, Японский, Тайский и т.п.)</a:t>
            </a:r>
          </a:p>
          <a:p>
            <a:pPr lvl="1"/>
            <a:r>
              <a:rPr lang="ru-RU" sz="2000" dirty="0"/>
              <a:t>Составные термины и сложные слова:</a:t>
            </a:r>
          </a:p>
          <a:p>
            <a:pPr lvl="2"/>
            <a:r>
              <a:rPr lang="en-US" sz="1600" dirty="0"/>
              <a:t>“triple” – </a:t>
            </a:r>
            <a:r>
              <a:rPr lang="ru-RU" sz="1600" dirty="0"/>
              <a:t>односложный термин, </a:t>
            </a:r>
            <a:r>
              <a:rPr lang="en-US" sz="1600" dirty="0"/>
              <a:t>“triple heart bypass” – </a:t>
            </a:r>
            <a:r>
              <a:rPr lang="ru-RU" sz="1600" dirty="0"/>
              <a:t>составной термин</a:t>
            </a:r>
            <a:endParaRPr lang="LID4096" sz="1600" dirty="0"/>
          </a:p>
        </p:txBody>
      </p:sp>
      <p:sp>
        <p:nvSpPr>
          <p:cNvPr id="3" name="Title 2">
            <a:extLst>
              <a:ext uri="{FF2B5EF4-FFF2-40B4-BE49-F238E27FC236}">
                <a16:creationId xmlns:a16="http://schemas.microsoft.com/office/drawing/2014/main" id="{2762198F-3F94-4216-8AE4-A54156478603}"/>
              </a:ext>
            </a:extLst>
          </p:cNvPr>
          <p:cNvSpPr>
            <a:spLocks noGrp="1"/>
          </p:cNvSpPr>
          <p:nvPr>
            <p:ph type="title"/>
          </p:nvPr>
        </p:nvSpPr>
        <p:spPr/>
        <p:txBody>
          <a:bodyPr/>
          <a:lstStyle/>
          <a:p>
            <a:r>
              <a:rPr lang="ru-RU" dirty="0"/>
              <a:t>сложности обработки текста</a:t>
            </a:r>
            <a:endParaRPr lang="LID4096" dirty="0"/>
          </a:p>
        </p:txBody>
      </p:sp>
    </p:spTree>
    <p:extLst>
      <p:ext uri="{BB962C8B-B14F-4D97-AF65-F5344CB8AC3E}">
        <p14:creationId xmlns:p14="http://schemas.microsoft.com/office/powerpoint/2010/main" val="2830191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2EB63017-08F6-4B5C-BEED-A8DBE5DED44F}"/>
              </a:ext>
            </a:extLst>
          </p:cNvPr>
          <p:cNvSpPr>
            <a:spLocks noGrp="1"/>
          </p:cNvSpPr>
          <p:nvPr>
            <p:ph idx="1"/>
          </p:nvPr>
        </p:nvSpPr>
        <p:spPr>
          <a:xfrm>
            <a:off x="1143000" y="1752600"/>
            <a:ext cx="9951720" cy="4378325"/>
          </a:xfrm>
        </p:spPr>
        <p:txBody>
          <a:bodyPr>
            <a:normAutofit/>
          </a:bodyPr>
          <a:lstStyle/>
          <a:p>
            <a:pPr>
              <a:buFont typeface="Courier New" panose="02070309020205020404" pitchFamily="49" charset="0"/>
              <a:buChar char="o"/>
            </a:pPr>
            <a:r>
              <a:rPr lang="ru-RU" sz="2800" dirty="0"/>
              <a:t>Синтаксические задачи с четко определенными условиями и критериями корректности результата</a:t>
            </a:r>
          </a:p>
          <a:p>
            <a:pPr>
              <a:buFont typeface="Courier New" panose="02070309020205020404" pitchFamily="49" charset="0"/>
              <a:buChar char="o"/>
            </a:pPr>
            <a:r>
              <a:rPr lang="ru-RU" sz="2800" dirty="0"/>
              <a:t>Семантические задачи с четко определенной задачей и критериями корректности результата</a:t>
            </a:r>
          </a:p>
          <a:p>
            <a:pPr>
              <a:buFont typeface="Courier New" panose="02070309020205020404" pitchFamily="49" charset="0"/>
              <a:buChar char="o"/>
            </a:pPr>
            <a:r>
              <a:rPr lang="ru-RU" sz="2800" dirty="0"/>
              <a:t>Семантические задачи, требующие не только понимания, но и порождения текста</a:t>
            </a:r>
          </a:p>
        </p:txBody>
      </p:sp>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lstStyle/>
          <a:p>
            <a:r>
              <a:rPr lang="en-US" dirty="0"/>
              <a:t>NLP (Natural Language Processing)</a:t>
            </a:r>
          </a:p>
        </p:txBody>
      </p:sp>
    </p:spTree>
    <p:extLst>
      <p:ext uri="{BB962C8B-B14F-4D97-AF65-F5344CB8AC3E}">
        <p14:creationId xmlns:p14="http://schemas.microsoft.com/office/powerpoint/2010/main" val="3692396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BF779B-5BF6-4321-9726-3C26F27B786D}"/>
              </a:ext>
            </a:extLst>
          </p:cNvPr>
          <p:cNvSpPr>
            <a:spLocks noGrp="1"/>
          </p:cNvSpPr>
          <p:nvPr>
            <p:ph idx="1"/>
          </p:nvPr>
        </p:nvSpPr>
        <p:spPr>
          <a:xfrm>
            <a:off x="1097279" y="2108201"/>
            <a:ext cx="10623665" cy="4327524"/>
          </a:xfrm>
        </p:spPr>
        <p:txBody>
          <a:bodyPr>
            <a:normAutofit/>
          </a:bodyPr>
          <a:lstStyle/>
          <a:p>
            <a:pPr lvl="1"/>
            <a:r>
              <a:rPr lang="ru-RU" sz="2400" dirty="0"/>
              <a:t>Предобработка</a:t>
            </a:r>
          </a:p>
          <a:p>
            <a:pPr lvl="2"/>
            <a:r>
              <a:rPr lang="ru-RU" sz="1800" dirty="0"/>
              <a:t>Токенизация, стемминг, лемматизация, приведение к общему регистру, регулярные выражения</a:t>
            </a:r>
          </a:p>
          <a:p>
            <a:pPr lvl="1"/>
            <a:r>
              <a:rPr lang="ru-RU" sz="2400" dirty="0"/>
              <a:t>Формирование простых признаков по тексту</a:t>
            </a:r>
          </a:p>
          <a:p>
            <a:pPr lvl="2"/>
            <a:r>
              <a:rPr lang="ru-RU" sz="1800" dirty="0"/>
              <a:t>Количество символов/слов/предложений, средняя длина слова/предложения, доля уникальных слов и стоп-слов</a:t>
            </a:r>
          </a:p>
          <a:p>
            <a:pPr lvl="1"/>
            <a:r>
              <a:rPr lang="ru-RU" sz="2400" dirty="0"/>
              <a:t>Обработка слов относительно корпуса</a:t>
            </a:r>
          </a:p>
          <a:p>
            <a:pPr lvl="2"/>
            <a:r>
              <a:rPr lang="ru-RU" sz="1800" dirty="0"/>
              <a:t>Словарь и one-hot, мешок слов, TF-IDF, латентный семантический анализ, тематическое моделирование</a:t>
            </a:r>
          </a:p>
          <a:p>
            <a:pPr lvl="1"/>
            <a:r>
              <a:rPr lang="ru-RU" sz="2400" dirty="0"/>
              <a:t>Обработка последовательностей слов</a:t>
            </a:r>
          </a:p>
          <a:p>
            <a:pPr lvl="2"/>
            <a:r>
              <a:rPr lang="ru-RU" sz="1800" dirty="0"/>
              <a:t>N-граммы, векторные представления слов (word2vec, GloVe), рекуррентные сети (RNN, LSTM), трансформеры (BERT) и большие языковые модели</a:t>
            </a:r>
          </a:p>
        </p:txBody>
      </p:sp>
      <p:sp>
        <p:nvSpPr>
          <p:cNvPr id="4" name="Title 1">
            <a:extLst>
              <a:ext uri="{FF2B5EF4-FFF2-40B4-BE49-F238E27FC236}">
                <a16:creationId xmlns:a16="http://schemas.microsoft.com/office/drawing/2014/main" id="{EE8E98DB-5344-480F-8662-6FCC22E46E7A}"/>
              </a:ext>
            </a:extLst>
          </p:cNvPr>
          <p:cNvSpPr>
            <a:spLocks noGrp="1"/>
          </p:cNvSpPr>
          <p:nvPr>
            <p:ph type="title"/>
          </p:nvPr>
        </p:nvSpPr>
        <p:spPr/>
        <p:txBody>
          <a:bodyPr/>
          <a:lstStyle/>
          <a:p>
            <a:r>
              <a:rPr lang="ru-RU" dirty="0"/>
              <a:t>Рассматриваемые методы</a:t>
            </a:r>
            <a:endParaRPr lang="en-US" dirty="0"/>
          </a:p>
        </p:txBody>
      </p:sp>
    </p:spTree>
    <p:extLst>
      <p:ext uri="{BB962C8B-B14F-4D97-AF65-F5344CB8AC3E}">
        <p14:creationId xmlns:p14="http://schemas.microsoft.com/office/powerpoint/2010/main" val="1978515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00C7-0803-8A43-A9F3-6FF24BDCB923}"/>
              </a:ext>
            </a:extLst>
          </p:cNvPr>
          <p:cNvSpPr>
            <a:spLocks noGrp="1"/>
          </p:cNvSpPr>
          <p:nvPr>
            <p:ph type="title"/>
          </p:nvPr>
        </p:nvSpPr>
        <p:spPr/>
        <p:txBody>
          <a:bodyPr>
            <a:normAutofit/>
          </a:bodyPr>
          <a:lstStyle/>
          <a:p>
            <a:r>
              <a:rPr lang="ru-RU" sz="5400" dirty="0"/>
              <a:t>ПРЕДОБРАБОТКА ТЕКСТА</a:t>
            </a:r>
            <a:endParaRPr lang="en-US" sz="5400" dirty="0"/>
          </a:p>
        </p:txBody>
      </p:sp>
      <p:sp>
        <p:nvSpPr>
          <p:cNvPr id="5" name="Text Placeholder 4">
            <a:extLst>
              <a:ext uri="{FF2B5EF4-FFF2-40B4-BE49-F238E27FC236}">
                <a16:creationId xmlns:a16="http://schemas.microsoft.com/office/drawing/2014/main" id="{B389A574-F452-49EE-9B41-B6208C501ED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91744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0">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4" name="Rectangle 12">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cxnSp>
        <p:nvCxnSpPr>
          <p:cNvPr id="25" name="Straight Connector 14">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a:xfrm>
            <a:off x="1147812" y="704159"/>
            <a:ext cx="10058400" cy="1214021"/>
          </a:xfrm>
        </p:spPr>
        <p:txBody>
          <a:bodyPr vert="horz" lIns="91440" tIns="45720" rIns="91440" bIns="45720" rtlCol="0" anchor="b">
            <a:normAutofit fontScale="90000"/>
          </a:bodyPr>
          <a:lstStyle/>
          <a:p>
            <a:r>
              <a:rPr lang="en-US" sz="4800"/>
              <a:t>Этапы предварительной обработки текста</a:t>
            </a:r>
          </a:p>
        </p:txBody>
      </p:sp>
      <p:graphicFrame>
        <p:nvGraphicFramePr>
          <p:cNvPr id="6" name="Content Placeholder 2">
            <a:extLst>
              <a:ext uri="{FF2B5EF4-FFF2-40B4-BE49-F238E27FC236}">
                <a16:creationId xmlns:a16="http://schemas.microsoft.com/office/drawing/2014/main" id="{6F943986-AA0E-A0C4-7EE1-1203362EE725}"/>
              </a:ext>
            </a:extLst>
          </p:cNvPr>
          <p:cNvGraphicFramePr>
            <a:graphicFrameLocks noGrp="1"/>
          </p:cNvGraphicFramePr>
          <p:nvPr>
            <p:ph idx="1"/>
            <p:extLst>
              <p:ext uri="{D42A27DB-BD31-4B8C-83A1-F6EECF244321}">
                <p14:modId xmlns:p14="http://schemas.microsoft.com/office/powerpoint/2010/main" val="4132332163"/>
              </p:ext>
            </p:extLst>
          </p:nvPr>
        </p:nvGraphicFramePr>
        <p:xfrm>
          <a:off x="1102092" y="1922328"/>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Рисунок 4">
            <a:extLst>
              <a:ext uri="{FF2B5EF4-FFF2-40B4-BE49-F238E27FC236}">
                <a16:creationId xmlns:a16="http://schemas.microsoft.com/office/drawing/2014/main" id="{713CB7E6-C664-DA0A-64D9-689194422103}"/>
              </a:ext>
            </a:extLst>
          </p:cNvPr>
          <p:cNvPicPr>
            <a:picLocks noChangeAspect="1"/>
          </p:cNvPicPr>
          <p:nvPr/>
        </p:nvPicPr>
        <p:blipFill>
          <a:blip r:embed="rId8"/>
          <a:stretch>
            <a:fillRect/>
          </a:stretch>
        </p:blipFill>
        <p:spPr>
          <a:xfrm>
            <a:off x="1365946" y="5796540"/>
            <a:ext cx="3572374" cy="457264"/>
          </a:xfrm>
          <a:prstGeom prst="rect">
            <a:avLst/>
          </a:prstGeom>
        </p:spPr>
      </p:pic>
      <p:pic>
        <p:nvPicPr>
          <p:cNvPr id="7" name="Рисунок 6">
            <a:extLst>
              <a:ext uri="{FF2B5EF4-FFF2-40B4-BE49-F238E27FC236}">
                <a16:creationId xmlns:a16="http://schemas.microsoft.com/office/drawing/2014/main" id="{1ABD3021-45AC-C2C8-1419-3D855E188567}"/>
              </a:ext>
            </a:extLst>
          </p:cNvPr>
          <p:cNvPicPr>
            <a:picLocks noChangeAspect="1"/>
          </p:cNvPicPr>
          <p:nvPr/>
        </p:nvPicPr>
        <p:blipFill>
          <a:blip r:embed="rId9"/>
          <a:stretch>
            <a:fillRect/>
          </a:stretch>
        </p:blipFill>
        <p:spPr>
          <a:xfrm>
            <a:off x="6954753" y="5826661"/>
            <a:ext cx="2686425" cy="485843"/>
          </a:xfrm>
          <a:prstGeom prst="rect">
            <a:avLst/>
          </a:prstGeom>
        </p:spPr>
      </p:pic>
    </p:spTree>
    <p:extLst>
      <p:ext uri="{BB962C8B-B14F-4D97-AF65-F5344CB8AC3E}">
        <p14:creationId xmlns:p14="http://schemas.microsoft.com/office/powerpoint/2010/main" val="3406311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F286BA-1A40-404D-A7D5-DEE975E7509D}"/>
              </a:ext>
            </a:extLst>
          </p:cNvPr>
          <p:cNvSpPr>
            <a:spLocks noGrp="1"/>
          </p:cNvSpPr>
          <p:nvPr>
            <p:ph type="title"/>
          </p:nvPr>
        </p:nvSpPr>
        <p:spPr/>
        <p:txBody>
          <a:bodyPr/>
          <a:lstStyle/>
          <a:p>
            <a:r>
              <a:rPr lang="ru-RU"/>
              <a:t>Токенизация и лемматизация</a:t>
            </a:r>
          </a:p>
        </p:txBody>
      </p:sp>
      <p:pic>
        <p:nvPicPr>
          <p:cNvPr id="5" name="Рисунок 4">
            <a:extLst>
              <a:ext uri="{FF2B5EF4-FFF2-40B4-BE49-F238E27FC236}">
                <a16:creationId xmlns:a16="http://schemas.microsoft.com/office/drawing/2014/main" id="{A566F516-6024-4199-BB22-38AD4523811C}"/>
              </a:ext>
            </a:extLst>
          </p:cNvPr>
          <p:cNvPicPr>
            <a:picLocks noChangeAspect="1"/>
          </p:cNvPicPr>
          <p:nvPr/>
        </p:nvPicPr>
        <p:blipFill>
          <a:blip r:embed="rId3"/>
          <a:stretch>
            <a:fillRect/>
          </a:stretch>
        </p:blipFill>
        <p:spPr>
          <a:xfrm>
            <a:off x="239917" y="2031498"/>
            <a:ext cx="11545911" cy="704948"/>
          </a:xfrm>
          <a:prstGeom prst="rect">
            <a:avLst/>
          </a:prstGeom>
        </p:spPr>
      </p:pic>
    </p:spTree>
    <p:extLst>
      <p:ext uri="{BB962C8B-B14F-4D97-AF65-F5344CB8AC3E}">
        <p14:creationId xmlns:p14="http://schemas.microsoft.com/office/powerpoint/2010/main" val="572489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9F550A-7FE4-49BC-AF22-6F0EBC51A804}"/>
              </a:ext>
            </a:extLst>
          </p:cNvPr>
          <p:cNvSpPr>
            <a:spLocks noGrp="1"/>
          </p:cNvSpPr>
          <p:nvPr>
            <p:ph idx="1"/>
          </p:nvPr>
        </p:nvSpPr>
        <p:spPr>
          <a:xfrm>
            <a:off x="1097280" y="1353787"/>
            <a:ext cx="10058400" cy="4515305"/>
          </a:xfrm>
        </p:spPr>
        <p:txBody>
          <a:bodyPr/>
          <a:lstStyle/>
          <a:p>
            <a:r>
              <a:rPr lang="ru-RU" dirty="0"/>
              <a:t>Синтаксис:</a:t>
            </a:r>
          </a:p>
          <a:p>
            <a:pPr lvl="1"/>
            <a:r>
              <a:rPr lang="ru-RU" dirty="0"/>
              <a:t>Строковый литерал: </a:t>
            </a:r>
            <a:r>
              <a:rPr lang="en-US" sz="1600" dirty="0">
                <a:solidFill>
                  <a:srgbClr val="9A0000"/>
                </a:solidFill>
                <a:latin typeface="+mj-lt"/>
              </a:rPr>
              <a:t>"hello world</a:t>
            </a:r>
            <a:r>
              <a:rPr lang="en-US" sz="1600" dirty="0">
                <a:solidFill>
                  <a:srgbClr val="9A0000"/>
                </a:solidFill>
                <a:latin typeface="+mj-lt"/>
                <a:cs typeface="Times New Roman" panose="02020603050405020304" pitchFamily="18" charset="0"/>
              </a:rPr>
              <a:t>"</a:t>
            </a:r>
            <a:r>
              <a:rPr lang="en-US" sz="1600" dirty="0">
                <a:solidFill>
                  <a:schemeClr val="tx1"/>
                </a:solidFill>
                <a:latin typeface="+mj-lt"/>
                <a:cs typeface="Times New Roman" panose="02020603050405020304" pitchFamily="18" charset="0"/>
              </a:rPr>
              <a:t>,</a:t>
            </a:r>
            <a:r>
              <a:rPr lang="en-US" sz="1600" dirty="0">
                <a:solidFill>
                  <a:srgbClr val="FFC000"/>
                </a:solidFill>
                <a:latin typeface="+mj-lt"/>
              </a:rPr>
              <a:t> </a:t>
            </a:r>
            <a:r>
              <a:rPr lang="en-US" sz="1600" dirty="0">
                <a:solidFill>
                  <a:srgbClr val="9A0000"/>
                </a:solidFill>
                <a:latin typeface="+mj-lt"/>
                <a:cs typeface="Times New Roman" panose="02020603050405020304" pitchFamily="18" charset="0"/>
              </a:rPr>
              <a:t>'hello world</a:t>
            </a:r>
            <a:r>
              <a:rPr lang="en-US" sz="1600" dirty="0">
                <a:solidFill>
                  <a:srgbClr val="9A0000"/>
                </a:solidFill>
                <a:cs typeface="Times New Roman" panose="02020603050405020304" pitchFamily="18" charset="0"/>
              </a:rPr>
              <a:t>'</a:t>
            </a:r>
          </a:p>
          <a:p>
            <a:pPr lvl="1"/>
            <a:r>
              <a:rPr lang="ru-RU" sz="1600" dirty="0"/>
              <a:t>Многострочный строковый литерал:</a:t>
            </a:r>
          </a:p>
          <a:p>
            <a:pPr lvl="2"/>
            <a:r>
              <a:rPr lang="en-US" sz="1600" dirty="0">
                <a:solidFill>
                  <a:srgbClr val="9A0000"/>
                </a:solidFill>
                <a:latin typeface="+mj-lt"/>
              </a:rPr>
              <a:t>"""Lorem ipsum dolor sit </a:t>
            </a:r>
            <a:r>
              <a:rPr lang="en-US" sz="1600" dirty="0" err="1">
                <a:solidFill>
                  <a:srgbClr val="9A0000"/>
                </a:solidFill>
                <a:latin typeface="+mj-lt"/>
              </a:rPr>
              <a:t>amet</a:t>
            </a:r>
            <a:r>
              <a:rPr lang="en-US" sz="1600" dirty="0">
                <a:solidFill>
                  <a:srgbClr val="9A0000"/>
                </a:solidFill>
                <a:latin typeface="+mj-lt"/>
              </a:rPr>
              <a:t>,</a:t>
            </a:r>
            <a:br>
              <a:rPr lang="en-US" sz="1600" dirty="0">
                <a:solidFill>
                  <a:srgbClr val="9A0000"/>
                </a:solidFill>
                <a:latin typeface="+mj-lt"/>
              </a:rPr>
            </a:br>
            <a:r>
              <a:rPr lang="en-US" sz="1600" dirty="0" err="1">
                <a:solidFill>
                  <a:srgbClr val="9A0000"/>
                </a:solidFill>
                <a:latin typeface="+mj-lt"/>
              </a:rPr>
              <a:t>consectetur</a:t>
            </a:r>
            <a:r>
              <a:rPr lang="en-US" sz="1600" dirty="0">
                <a:solidFill>
                  <a:srgbClr val="9A0000"/>
                </a:solidFill>
                <a:latin typeface="+mj-lt"/>
              </a:rPr>
              <a:t> </a:t>
            </a:r>
            <a:r>
              <a:rPr lang="en-US" sz="1600" dirty="0" err="1">
                <a:solidFill>
                  <a:srgbClr val="9A0000"/>
                </a:solidFill>
                <a:latin typeface="+mj-lt"/>
              </a:rPr>
              <a:t>adipiscing</a:t>
            </a:r>
            <a:r>
              <a:rPr lang="en-US" sz="1600" dirty="0">
                <a:solidFill>
                  <a:srgbClr val="9A0000"/>
                </a:solidFill>
                <a:latin typeface="+mj-lt"/>
              </a:rPr>
              <a:t> </a:t>
            </a:r>
            <a:r>
              <a:rPr lang="en-US" sz="1600" dirty="0" err="1">
                <a:solidFill>
                  <a:srgbClr val="9A0000"/>
                </a:solidFill>
                <a:latin typeface="+mj-lt"/>
              </a:rPr>
              <a:t>elit</a:t>
            </a:r>
            <a:r>
              <a:rPr lang="en-US" sz="1600" dirty="0">
                <a:solidFill>
                  <a:srgbClr val="9A0000"/>
                </a:solidFill>
                <a:latin typeface="+mj-lt"/>
              </a:rPr>
              <a:t>,</a:t>
            </a:r>
            <a:br>
              <a:rPr lang="en-US" sz="1600" dirty="0">
                <a:solidFill>
                  <a:srgbClr val="9A0000"/>
                </a:solidFill>
                <a:latin typeface="+mj-lt"/>
              </a:rPr>
            </a:br>
            <a:r>
              <a:rPr lang="en-US" sz="1600" dirty="0">
                <a:solidFill>
                  <a:srgbClr val="9A0000"/>
                </a:solidFill>
                <a:latin typeface="+mj-lt"/>
              </a:rPr>
              <a:t>sed do </a:t>
            </a:r>
            <a:r>
              <a:rPr lang="en-US" sz="1600" dirty="0" err="1">
                <a:solidFill>
                  <a:srgbClr val="9A0000"/>
                </a:solidFill>
                <a:latin typeface="+mj-lt"/>
              </a:rPr>
              <a:t>eiusmod</a:t>
            </a:r>
            <a:r>
              <a:rPr lang="en-US" sz="1600" dirty="0">
                <a:solidFill>
                  <a:srgbClr val="9A0000"/>
                </a:solidFill>
                <a:latin typeface="+mj-lt"/>
              </a:rPr>
              <a:t> </a:t>
            </a:r>
            <a:r>
              <a:rPr lang="en-US" sz="1600" dirty="0" err="1">
                <a:solidFill>
                  <a:srgbClr val="9A0000"/>
                </a:solidFill>
                <a:latin typeface="+mj-lt"/>
              </a:rPr>
              <a:t>tempor</a:t>
            </a:r>
            <a:r>
              <a:rPr lang="en-US" sz="1600" dirty="0">
                <a:solidFill>
                  <a:srgbClr val="9A0000"/>
                </a:solidFill>
                <a:latin typeface="+mj-lt"/>
              </a:rPr>
              <a:t> </a:t>
            </a:r>
            <a:r>
              <a:rPr lang="en-US" sz="1600" dirty="0" err="1">
                <a:solidFill>
                  <a:srgbClr val="9A0000"/>
                </a:solidFill>
                <a:latin typeface="+mj-lt"/>
              </a:rPr>
              <a:t>incididunt</a:t>
            </a:r>
            <a:br>
              <a:rPr lang="en-US" sz="1600" dirty="0">
                <a:solidFill>
                  <a:srgbClr val="9A0000"/>
                </a:solidFill>
                <a:latin typeface="+mj-lt"/>
              </a:rPr>
            </a:br>
            <a:r>
              <a:rPr lang="en-US" sz="1600" dirty="0" err="1">
                <a:solidFill>
                  <a:srgbClr val="9A0000"/>
                </a:solidFill>
                <a:latin typeface="+mj-lt"/>
              </a:rPr>
              <a:t>ut</a:t>
            </a:r>
            <a:r>
              <a:rPr lang="en-US" sz="1600" dirty="0">
                <a:solidFill>
                  <a:srgbClr val="9A0000"/>
                </a:solidFill>
                <a:latin typeface="+mj-lt"/>
              </a:rPr>
              <a:t> </a:t>
            </a:r>
            <a:r>
              <a:rPr lang="en-US" sz="1600" dirty="0" err="1">
                <a:solidFill>
                  <a:srgbClr val="9A0000"/>
                </a:solidFill>
                <a:latin typeface="+mj-lt"/>
              </a:rPr>
              <a:t>labore</a:t>
            </a:r>
            <a:r>
              <a:rPr lang="en-US" sz="1600" dirty="0">
                <a:solidFill>
                  <a:srgbClr val="9A0000"/>
                </a:solidFill>
                <a:latin typeface="+mj-lt"/>
              </a:rPr>
              <a:t> et dolore magna </a:t>
            </a:r>
            <a:r>
              <a:rPr lang="en-US" sz="1600" dirty="0" err="1">
                <a:solidFill>
                  <a:srgbClr val="9A0000"/>
                </a:solidFill>
                <a:latin typeface="+mj-lt"/>
              </a:rPr>
              <a:t>aliqua</a:t>
            </a:r>
            <a:r>
              <a:rPr lang="en-US" sz="1600" dirty="0">
                <a:solidFill>
                  <a:srgbClr val="9A0000"/>
                </a:solidFill>
                <a:latin typeface="+mj-lt"/>
              </a:rPr>
              <a:t>.""" </a:t>
            </a:r>
          </a:p>
          <a:p>
            <a:pPr lvl="2"/>
            <a:r>
              <a:rPr lang="en-US" sz="1600" dirty="0">
                <a:solidFill>
                  <a:srgbClr val="9A0000"/>
                </a:solidFill>
                <a:latin typeface="+mj-lt"/>
                <a:cs typeface="Times New Roman" panose="02020603050405020304" pitchFamily="18" charset="0"/>
              </a:rPr>
              <a:t>'''</a:t>
            </a:r>
            <a:r>
              <a:rPr lang="en-US" sz="1600" dirty="0">
                <a:solidFill>
                  <a:srgbClr val="9A0000"/>
                </a:solidFill>
                <a:latin typeface="+mj-lt"/>
              </a:rPr>
              <a:t>Lorem ipsum dolor sit </a:t>
            </a:r>
            <a:r>
              <a:rPr lang="en-US" sz="1600" dirty="0" err="1">
                <a:solidFill>
                  <a:srgbClr val="9A0000"/>
                </a:solidFill>
                <a:latin typeface="+mj-lt"/>
              </a:rPr>
              <a:t>amet</a:t>
            </a:r>
            <a:r>
              <a:rPr lang="en-US" sz="1600" dirty="0">
                <a:solidFill>
                  <a:srgbClr val="9A0000"/>
                </a:solidFill>
                <a:latin typeface="+mj-lt"/>
              </a:rPr>
              <a:t>,</a:t>
            </a:r>
            <a:br>
              <a:rPr lang="en-US" sz="1600" dirty="0">
                <a:solidFill>
                  <a:srgbClr val="9A0000"/>
                </a:solidFill>
                <a:latin typeface="+mj-lt"/>
              </a:rPr>
            </a:br>
            <a:r>
              <a:rPr lang="en-US" sz="1600" dirty="0" err="1">
                <a:solidFill>
                  <a:srgbClr val="9A0000"/>
                </a:solidFill>
                <a:latin typeface="+mj-lt"/>
              </a:rPr>
              <a:t>consectetur</a:t>
            </a:r>
            <a:r>
              <a:rPr lang="en-US" sz="1600" dirty="0">
                <a:solidFill>
                  <a:srgbClr val="9A0000"/>
                </a:solidFill>
                <a:latin typeface="+mj-lt"/>
              </a:rPr>
              <a:t> </a:t>
            </a:r>
            <a:r>
              <a:rPr lang="en-US" sz="1600" dirty="0" err="1">
                <a:solidFill>
                  <a:srgbClr val="9A0000"/>
                </a:solidFill>
                <a:latin typeface="+mj-lt"/>
              </a:rPr>
              <a:t>adipiscing</a:t>
            </a:r>
            <a:r>
              <a:rPr lang="en-US" sz="1600" dirty="0">
                <a:solidFill>
                  <a:srgbClr val="9A0000"/>
                </a:solidFill>
                <a:latin typeface="+mj-lt"/>
              </a:rPr>
              <a:t> </a:t>
            </a:r>
            <a:r>
              <a:rPr lang="en-US" sz="1600" dirty="0" err="1">
                <a:solidFill>
                  <a:srgbClr val="9A0000"/>
                </a:solidFill>
                <a:latin typeface="+mj-lt"/>
              </a:rPr>
              <a:t>elit</a:t>
            </a:r>
            <a:r>
              <a:rPr lang="en-US" sz="1600" dirty="0">
                <a:solidFill>
                  <a:srgbClr val="9A0000"/>
                </a:solidFill>
                <a:latin typeface="+mj-lt"/>
              </a:rPr>
              <a:t>,</a:t>
            </a:r>
            <a:br>
              <a:rPr lang="en-US" sz="1600" dirty="0">
                <a:solidFill>
                  <a:srgbClr val="9A0000"/>
                </a:solidFill>
                <a:latin typeface="+mj-lt"/>
              </a:rPr>
            </a:br>
            <a:r>
              <a:rPr lang="en-US" sz="1600" dirty="0">
                <a:solidFill>
                  <a:srgbClr val="9A0000"/>
                </a:solidFill>
                <a:latin typeface="+mj-lt"/>
              </a:rPr>
              <a:t>sed do </a:t>
            </a:r>
            <a:r>
              <a:rPr lang="en-US" sz="1600" dirty="0" err="1">
                <a:solidFill>
                  <a:srgbClr val="9A0000"/>
                </a:solidFill>
                <a:latin typeface="+mj-lt"/>
              </a:rPr>
              <a:t>eiusmod</a:t>
            </a:r>
            <a:r>
              <a:rPr lang="en-US" sz="1600" dirty="0">
                <a:solidFill>
                  <a:srgbClr val="9A0000"/>
                </a:solidFill>
                <a:latin typeface="+mj-lt"/>
              </a:rPr>
              <a:t> </a:t>
            </a:r>
            <a:r>
              <a:rPr lang="en-US" sz="1600" dirty="0" err="1">
                <a:solidFill>
                  <a:srgbClr val="9A0000"/>
                </a:solidFill>
                <a:latin typeface="+mj-lt"/>
              </a:rPr>
              <a:t>tempor</a:t>
            </a:r>
            <a:r>
              <a:rPr lang="en-US" sz="1600" dirty="0">
                <a:solidFill>
                  <a:srgbClr val="9A0000"/>
                </a:solidFill>
                <a:latin typeface="+mj-lt"/>
              </a:rPr>
              <a:t> </a:t>
            </a:r>
            <a:r>
              <a:rPr lang="en-US" sz="1600" dirty="0" err="1">
                <a:solidFill>
                  <a:srgbClr val="9A0000"/>
                </a:solidFill>
                <a:latin typeface="+mj-lt"/>
              </a:rPr>
              <a:t>incididunt</a:t>
            </a:r>
            <a:br>
              <a:rPr lang="en-US" sz="1600" dirty="0">
                <a:solidFill>
                  <a:srgbClr val="9A0000"/>
                </a:solidFill>
                <a:latin typeface="+mj-lt"/>
              </a:rPr>
            </a:br>
            <a:r>
              <a:rPr lang="en-US" sz="1600" dirty="0" err="1">
                <a:solidFill>
                  <a:srgbClr val="9A0000"/>
                </a:solidFill>
                <a:latin typeface="+mj-lt"/>
              </a:rPr>
              <a:t>ut</a:t>
            </a:r>
            <a:r>
              <a:rPr lang="en-US" sz="1600" dirty="0">
                <a:solidFill>
                  <a:srgbClr val="9A0000"/>
                </a:solidFill>
                <a:latin typeface="+mj-lt"/>
              </a:rPr>
              <a:t> </a:t>
            </a:r>
            <a:r>
              <a:rPr lang="en-US" sz="1600" dirty="0" err="1">
                <a:solidFill>
                  <a:srgbClr val="9A0000"/>
                </a:solidFill>
                <a:latin typeface="+mj-lt"/>
              </a:rPr>
              <a:t>labore</a:t>
            </a:r>
            <a:r>
              <a:rPr lang="en-US" sz="1600" dirty="0">
                <a:solidFill>
                  <a:srgbClr val="9A0000"/>
                </a:solidFill>
                <a:latin typeface="+mj-lt"/>
              </a:rPr>
              <a:t> et dolore magna </a:t>
            </a:r>
            <a:r>
              <a:rPr lang="en-US" sz="1600" dirty="0" err="1">
                <a:solidFill>
                  <a:srgbClr val="9A0000"/>
                </a:solidFill>
                <a:latin typeface="+mj-lt"/>
              </a:rPr>
              <a:t>aliqua</a:t>
            </a:r>
            <a:r>
              <a:rPr lang="en-US" sz="1600" dirty="0">
                <a:solidFill>
                  <a:srgbClr val="9A0000"/>
                </a:solidFill>
                <a:latin typeface="+mj-lt"/>
              </a:rPr>
              <a:t>.</a:t>
            </a:r>
            <a:r>
              <a:rPr lang="en-US" sz="1600" dirty="0">
                <a:solidFill>
                  <a:srgbClr val="9A0000"/>
                </a:solidFill>
                <a:latin typeface="Consolas" panose="020B0609020204030204"/>
                <a:cs typeface="Times New Roman" panose="02020603050405020304" pitchFamily="18" charset="0"/>
              </a:rPr>
              <a:t>'''</a:t>
            </a:r>
            <a:endParaRPr lang="en-US" dirty="0">
              <a:solidFill>
                <a:srgbClr val="9A0000"/>
              </a:solidFill>
              <a:latin typeface="+mj-lt"/>
            </a:endParaRPr>
          </a:p>
          <a:p>
            <a:pPr lvl="1"/>
            <a:r>
              <a:rPr lang="ru-RU" dirty="0"/>
              <a:t>В памяти представлены массивами байт с динамической кодировкой – </a:t>
            </a:r>
            <a:r>
              <a:rPr lang="en-US" dirty="0"/>
              <a:t>Latin-1 (</a:t>
            </a:r>
            <a:r>
              <a:rPr lang="ru-RU" dirty="0"/>
              <a:t>1 байт на символ), </a:t>
            </a:r>
            <a:r>
              <a:rPr lang="en-US" dirty="0"/>
              <a:t>UTF-16 (</a:t>
            </a:r>
            <a:r>
              <a:rPr lang="ru-RU" dirty="0"/>
              <a:t>2 байта на символ) или </a:t>
            </a:r>
            <a:r>
              <a:rPr lang="en-US" dirty="0"/>
              <a:t>UTF-32 (4 </a:t>
            </a:r>
            <a:r>
              <a:rPr lang="ru-RU" dirty="0"/>
              <a:t>байта на символ)</a:t>
            </a:r>
          </a:p>
          <a:p>
            <a:pPr lvl="1"/>
            <a:r>
              <a:rPr lang="ru-RU" dirty="0"/>
              <a:t>Строки длиной менее 20 символов интернируются</a:t>
            </a:r>
            <a:endParaRPr lang="en-US" dirty="0"/>
          </a:p>
        </p:txBody>
      </p:sp>
      <p:sp>
        <p:nvSpPr>
          <p:cNvPr id="3" name="Title 2">
            <a:extLst>
              <a:ext uri="{FF2B5EF4-FFF2-40B4-BE49-F238E27FC236}">
                <a16:creationId xmlns:a16="http://schemas.microsoft.com/office/drawing/2014/main" id="{4A7FB37B-7532-4875-BE79-1BC821B76440}"/>
              </a:ext>
            </a:extLst>
          </p:cNvPr>
          <p:cNvSpPr>
            <a:spLocks noGrp="1"/>
          </p:cNvSpPr>
          <p:nvPr>
            <p:ph type="title"/>
          </p:nvPr>
        </p:nvSpPr>
        <p:spPr/>
        <p:txBody>
          <a:bodyPr/>
          <a:lstStyle/>
          <a:p>
            <a:r>
              <a:rPr lang="en-US"/>
              <a:t>Строки в Python</a:t>
            </a:r>
          </a:p>
        </p:txBody>
      </p:sp>
    </p:spTree>
    <p:extLst>
      <p:ext uri="{BB962C8B-B14F-4D97-AF65-F5344CB8AC3E}">
        <p14:creationId xmlns:p14="http://schemas.microsoft.com/office/powerpoint/2010/main" val="1443762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9F550A-7FE4-49BC-AF22-6F0EBC51A804}"/>
              </a:ext>
            </a:extLst>
          </p:cNvPr>
          <p:cNvSpPr>
            <a:spLocks noGrp="1"/>
          </p:cNvSpPr>
          <p:nvPr>
            <p:ph idx="1"/>
          </p:nvPr>
        </p:nvSpPr>
        <p:spPr>
          <a:xfrm>
            <a:off x="1097280" y="1790891"/>
            <a:ext cx="10058400" cy="4078201"/>
          </a:xfrm>
        </p:spPr>
        <p:txBody>
          <a:bodyPr/>
          <a:lstStyle/>
          <a:p>
            <a:pPr lvl="1"/>
            <a:r>
              <a:rPr lang="en-US" dirty="0"/>
              <a:t>Escape-</a:t>
            </a:r>
            <a:r>
              <a:rPr lang="ru-RU" dirty="0"/>
              <a:t>символы: </a:t>
            </a:r>
            <a:r>
              <a:rPr lang="en-US" dirty="0">
                <a:solidFill>
                  <a:srgbClr val="9A0000"/>
                </a:solidFill>
                <a:latin typeface="+mj-lt"/>
              </a:rPr>
              <a:t>\" \</a:t>
            </a:r>
            <a:r>
              <a:rPr lang="en-US" dirty="0">
                <a:solidFill>
                  <a:srgbClr val="9A0000"/>
                </a:solidFill>
                <a:latin typeface="+mj-lt"/>
                <a:cs typeface="Times New Roman" panose="02020603050405020304" pitchFamily="18" charset="0"/>
              </a:rPr>
              <a:t>'</a:t>
            </a:r>
            <a:r>
              <a:rPr lang="en-US" dirty="0">
                <a:solidFill>
                  <a:srgbClr val="9A0000"/>
                </a:solidFill>
                <a:latin typeface="+mj-lt"/>
              </a:rPr>
              <a:t> \\ \n \r \t \b \f</a:t>
            </a:r>
          </a:p>
          <a:p>
            <a:pPr lvl="1"/>
            <a:r>
              <a:rPr lang="en-US" dirty="0"/>
              <a:t>F-</a:t>
            </a:r>
            <a:r>
              <a:rPr lang="ru-RU" dirty="0"/>
              <a:t>строки</a:t>
            </a:r>
            <a:r>
              <a:rPr lang="en-US" dirty="0"/>
              <a:t>:</a:t>
            </a:r>
          </a:p>
          <a:p>
            <a:pPr marL="201168" lvl="1" indent="0">
              <a:buNone/>
            </a:pPr>
            <a:r>
              <a:rPr lang="en-US" sz="1600" dirty="0">
                <a:solidFill>
                  <a:srgbClr val="9A0000"/>
                </a:solidFill>
                <a:latin typeface="+mj-lt"/>
              </a:rPr>
              <a:t>    &gt;&gt;&gt; name = "Eric"</a:t>
            </a:r>
            <a:br>
              <a:rPr lang="en-US" sz="1600" dirty="0">
                <a:solidFill>
                  <a:srgbClr val="9A0000"/>
                </a:solidFill>
                <a:latin typeface="+mj-lt"/>
              </a:rPr>
            </a:br>
            <a:r>
              <a:rPr lang="en-US" sz="1600" dirty="0">
                <a:solidFill>
                  <a:srgbClr val="9A0000"/>
                </a:solidFill>
                <a:latin typeface="+mj-lt"/>
              </a:rPr>
              <a:t>    &gt;&gt;&gt; age = 74</a:t>
            </a:r>
            <a:br>
              <a:rPr lang="en-US" sz="1600" dirty="0">
                <a:solidFill>
                  <a:srgbClr val="9A0000"/>
                </a:solidFill>
                <a:latin typeface="+mj-lt"/>
              </a:rPr>
            </a:br>
            <a:r>
              <a:rPr lang="en-US" sz="1600" dirty="0">
                <a:solidFill>
                  <a:srgbClr val="9A0000"/>
                </a:solidFill>
                <a:latin typeface="+mj-lt"/>
              </a:rPr>
              <a:t>    &gt;&gt;&gt; </a:t>
            </a:r>
            <a:r>
              <a:rPr lang="en-US" sz="1600" dirty="0" err="1">
                <a:solidFill>
                  <a:srgbClr val="9A0000"/>
                </a:solidFill>
                <a:latin typeface="+mj-lt"/>
              </a:rPr>
              <a:t>f"Hello</a:t>
            </a:r>
            <a:r>
              <a:rPr lang="en-US" sz="1600" dirty="0">
                <a:solidFill>
                  <a:srgbClr val="9A0000"/>
                </a:solidFill>
                <a:latin typeface="+mj-lt"/>
              </a:rPr>
              <a:t>, {name}. You are {age}"</a:t>
            </a:r>
          </a:p>
          <a:p>
            <a:pPr marL="201168" lvl="1" indent="0">
              <a:buNone/>
            </a:pPr>
            <a:r>
              <a:rPr lang="en-US" sz="1600" dirty="0">
                <a:solidFill>
                  <a:srgbClr val="9A0000"/>
                </a:solidFill>
                <a:latin typeface="+mj-lt"/>
              </a:rPr>
              <a:t>    </a:t>
            </a:r>
            <a:r>
              <a:rPr lang="en-US" sz="1600" dirty="0">
                <a:solidFill>
                  <a:srgbClr val="9A0000"/>
                </a:solidFill>
                <a:latin typeface="+mj-lt"/>
                <a:cs typeface="Times New Roman" panose="02020603050405020304" pitchFamily="18" charset="0"/>
              </a:rPr>
              <a:t>'</a:t>
            </a:r>
            <a:r>
              <a:rPr lang="en-US" sz="1600" dirty="0">
                <a:solidFill>
                  <a:srgbClr val="9A0000"/>
                </a:solidFill>
                <a:latin typeface="+mj-lt"/>
              </a:rPr>
              <a:t>Hello, Eric. You are 74</a:t>
            </a:r>
            <a:r>
              <a:rPr lang="en-US" sz="1600" dirty="0">
                <a:solidFill>
                  <a:srgbClr val="9A0000"/>
                </a:solidFill>
                <a:latin typeface="+mj-lt"/>
                <a:cs typeface="Times New Roman" panose="02020603050405020304" pitchFamily="18" charset="0"/>
              </a:rPr>
              <a:t>’</a:t>
            </a:r>
          </a:p>
          <a:p>
            <a:pPr lvl="1"/>
            <a:r>
              <a:rPr lang="ru-RU" dirty="0"/>
              <a:t>Индексирование и </a:t>
            </a:r>
            <a:r>
              <a:rPr lang="ru-RU" dirty="0" err="1"/>
              <a:t>слайсинг</a:t>
            </a:r>
            <a:r>
              <a:rPr lang="ru-RU" dirty="0"/>
              <a:t>: </a:t>
            </a:r>
            <a:r>
              <a:rPr lang="en-US" sz="1600" dirty="0">
                <a:solidFill>
                  <a:srgbClr val="9A0000"/>
                </a:solidFill>
                <a:latin typeface="Consolas" panose="020B0609020204030204"/>
              </a:rPr>
              <a:t>name[0]</a:t>
            </a:r>
            <a:r>
              <a:rPr lang="en-US" sz="1600" dirty="0">
                <a:solidFill>
                  <a:schemeClr val="tx1"/>
                </a:solidFill>
                <a:latin typeface="Consolas" panose="020B0609020204030204"/>
              </a:rPr>
              <a:t>,</a:t>
            </a:r>
            <a:r>
              <a:rPr lang="en-US" sz="1600" dirty="0">
                <a:solidFill>
                  <a:srgbClr val="9A0000"/>
                </a:solidFill>
                <a:latin typeface="Consolas" panose="020B0609020204030204"/>
              </a:rPr>
              <a:t> name[1:3]</a:t>
            </a:r>
            <a:r>
              <a:rPr lang="en-US" sz="1600" dirty="0">
                <a:solidFill>
                  <a:schemeClr val="tx1"/>
                </a:solidFill>
                <a:latin typeface="Consolas" panose="020B0609020204030204"/>
              </a:rPr>
              <a:t>,</a:t>
            </a:r>
            <a:r>
              <a:rPr lang="en-US" sz="1600" dirty="0">
                <a:solidFill>
                  <a:srgbClr val="9A0000"/>
                </a:solidFill>
                <a:latin typeface="Consolas" panose="020B0609020204030204"/>
              </a:rPr>
              <a:t> name[2:]</a:t>
            </a:r>
            <a:r>
              <a:rPr lang="en-US" sz="1600" dirty="0">
                <a:solidFill>
                  <a:schemeClr val="tx1"/>
                </a:solidFill>
                <a:latin typeface="Consolas" panose="020B0609020204030204"/>
              </a:rPr>
              <a:t>,</a:t>
            </a:r>
            <a:r>
              <a:rPr lang="en-US" sz="1600" dirty="0">
                <a:solidFill>
                  <a:srgbClr val="9A0000"/>
                </a:solidFill>
                <a:latin typeface="Consolas" panose="020B0609020204030204"/>
              </a:rPr>
              <a:t> name[:3]</a:t>
            </a:r>
            <a:r>
              <a:rPr lang="en-US" sz="1600" dirty="0">
                <a:solidFill>
                  <a:schemeClr val="tx1"/>
                </a:solidFill>
                <a:latin typeface="Consolas" panose="020B0609020204030204"/>
              </a:rPr>
              <a:t>,</a:t>
            </a:r>
            <a:r>
              <a:rPr lang="en-US" sz="1600" dirty="0">
                <a:solidFill>
                  <a:srgbClr val="9A0000"/>
                </a:solidFill>
                <a:latin typeface="Consolas" panose="020B0609020204030204"/>
              </a:rPr>
              <a:t> name[-1]</a:t>
            </a:r>
            <a:endParaRPr lang="en-US" dirty="0"/>
          </a:p>
          <a:p>
            <a:pPr lvl="1"/>
            <a:r>
              <a:rPr lang="ru-RU" dirty="0"/>
              <a:t>Поддерживают большое количество встроенных методов	</a:t>
            </a:r>
          </a:p>
          <a:p>
            <a:pPr lvl="2"/>
            <a:r>
              <a:rPr lang="en-US" dirty="0">
                <a:solidFill>
                  <a:srgbClr val="9A0000"/>
                </a:solidFill>
                <a:latin typeface="+mj-lt"/>
              </a:rPr>
              <a:t>upper lower strip replace split </a:t>
            </a:r>
            <a:r>
              <a:rPr lang="en-US" dirty="0" err="1">
                <a:solidFill>
                  <a:srgbClr val="9A0000"/>
                </a:solidFill>
                <a:latin typeface="+mj-lt"/>
              </a:rPr>
              <a:t>startswith</a:t>
            </a:r>
            <a:r>
              <a:rPr lang="en-US" dirty="0">
                <a:solidFill>
                  <a:srgbClr val="9A0000"/>
                </a:solidFill>
                <a:latin typeface="+mj-lt"/>
              </a:rPr>
              <a:t> </a:t>
            </a:r>
            <a:r>
              <a:rPr lang="en-US" dirty="0" err="1">
                <a:solidFill>
                  <a:srgbClr val="9A0000"/>
                </a:solidFill>
                <a:latin typeface="+mj-lt"/>
              </a:rPr>
              <a:t>endswith</a:t>
            </a:r>
            <a:r>
              <a:rPr lang="en-US" dirty="0">
                <a:solidFill>
                  <a:srgbClr val="9A0000"/>
                </a:solidFill>
                <a:latin typeface="+mj-lt"/>
              </a:rPr>
              <a:t> find join </a:t>
            </a:r>
            <a:r>
              <a:rPr lang="en-US" dirty="0" err="1">
                <a:solidFill>
                  <a:srgbClr val="9A0000"/>
                </a:solidFill>
                <a:latin typeface="+mj-lt"/>
              </a:rPr>
              <a:t>swapcase</a:t>
            </a:r>
            <a:r>
              <a:rPr lang="en-US" dirty="0">
                <a:solidFill>
                  <a:srgbClr val="9A0000"/>
                </a:solidFill>
                <a:latin typeface="+mj-lt"/>
              </a:rPr>
              <a:t> </a:t>
            </a:r>
            <a:r>
              <a:rPr lang="ru-RU" sz="1800" dirty="0"/>
              <a:t>и др</a:t>
            </a:r>
            <a:r>
              <a:rPr lang="ru-RU" dirty="0">
                <a:solidFill>
                  <a:schemeClr val="tx1"/>
                </a:solidFill>
              </a:rPr>
              <a:t>.</a:t>
            </a:r>
            <a:endParaRPr lang="en-US" dirty="0">
              <a:solidFill>
                <a:schemeClr val="tx1"/>
              </a:solidFill>
            </a:endParaRPr>
          </a:p>
        </p:txBody>
      </p:sp>
      <p:sp>
        <p:nvSpPr>
          <p:cNvPr id="3" name="Title 2">
            <a:extLst>
              <a:ext uri="{FF2B5EF4-FFF2-40B4-BE49-F238E27FC236}">
                <a16:creationId xmlns:a16="http://schemas.microsoft.com/office/drawing/2014/main" id="{4A7FB37B-7532-4875-BE79-1BC821B76440}"/>
              </a:ext>
            </a:extLst>
          </p:cNvPr>
          <p:cNvSpPr>
            <a:spLocks noGrp="1"/>
          </p:cNvSpPr>
          <p:nvPr>
            <p:ph type="title"/>
          </p:nvPr>
        </p:nvSpPr>
        <p:spPr/>
        <p:txBody>
          <a:bodyPr/>
          <a:lstStyle/>
          <a:p>
            <a:r>
              <a:rPr lang="en-US"/>
              <a:t>Строки в Python: операции</a:t>
            </a:r>
          </a:p>
        </p:txBody>
      </p:sp>
    </p:spTree>
    <p:extLst>
      <p:ext uri="{BB962C8B-B14F-4D97-AF65-F5344CB8AC3E}">
        <p14:creationId xmlns:p14="http://schemas.microsoft.com/office/powerpoint/2010/main" val="1207182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4EFC7B-8A8D-4E51-B1A7-9B654988E641}"/>
              </a:ext>
            </a:extLst>
          </p:cNvPr>
          <p:cNvSpPr>
            <a:spLocks noGrp="1"/>
          </p:cNvSpPr>
          <p:nvPr>
            <p:ph idx="1"/>
          </p:nvPr>
        </p:nvSpPr>
        <p:spPr/>
        <p:txBody>
          <a:bodyPr/>
          <a:lstStyle/>
          <a:p>
            <a:r>
              <a:rPr lang="ru-RU" dirty="0"/>
              <a:t>Для поиска (и, возможно,</a:t>
            </a:r>
            <a:r>
              <a:rPr lang="en-US" dirty="0"/>
              <a:t> </a:t>
            </a:r>
            <a:r>
              <a:rPr lang="ru-RU" dirty="0"/>
              <a:t>удаления) текстовой информации специального вида можно использовать </a:t>
            </a:r>
            <a:r>
              <a:rPr lang="ru-RU" b="1" dirty="0"/>
              <a:t>регулярные выражения</a:t>
            </a:r>
          </a:p>
          <a:p>
            <a:r>
              <a:rPr lang="ru-RU" dirty="0"/>
              <a:t>Регулярные выражения – символьные последовательности, которые определяют правила поиска вхождения подстроки в некоторой строке</a:t>
            </a:r>
          </a:p>
          <a:p>
            <a:r>
              <a:rPr lang="ru-RU" dirty="0"/>
              <a:t>Для произвольного регулярного выражения и произвольной строки можно определить, соответствует ли эта строка этому регулярному выражению (</a:t>
            </a:r>
            <a:r>
              <a:rPr lang="en-US" dirty="0"/>
              <a:t>match)</a:t>
            </a:r>
            <a:endParaRPr lang="ru-RU" dirty="0"/>
          </a:p>
          <a:p>
            <a:r>
              <a:rPr lang="ru-RU" dirty="0"/>
              <a:t>Для произвольного регулярного выражения и произвольной строки можно осуществить поиск соответствий – подстрок, каждая из которых соответствует этому регулярному выражению</a:t>
            </a:r>
            <a:endParaRPr lang="LID4096" dirty="0"/>
          </a:p>
        </p:txBody>
      </p:sp>
      <p:sp>
        <p:nvSpPr>
          <p:cNvPr id="3" name="Title 2">
            <a:extLst>
              <a:ext uri="{FF2B5EF4-FFF2-40B4-BE49-F238E27FC236}">
                <a16:creationId xmlns:a16="http://schemas.microsoft.com/office/drawing/2014/main" id="{E655CFE2-67B1-4E0E-9B0B-37D04D0F1E4C}"/>
              </a:ext>
            </a:extLst>
          </p:cNvPr>
          <p:cNvSpPr>
            <a:spLocks noGrp="1"/>
          </p:cNvSpPr>
          <p:nvPr>
            <p:ph type="title"/>
          </p:nvPr>
        </p:nvSpPr>
        <p:spPr/>
        <p:txBody>
          <a:bodyPr/>
          <a:lstStyle/>
          <a:p>
            <a:r>
              <a:rPr lang="ru-RU" dirty="0"/>
              <a:t>Регулярные выражения</a:t>
            </a:r>
            <a:endParaRPr lang="LID4096" dirty="0"/>
          </a:p>
        </p:txBody>
      </p:sp>
    </p:spTree>
    <p:extLst>
      <p:ext uri="{BB962C8B-B14F-4D97-AF65-F5344CB8AC3E}">
        <p14:creationId xmlns:p14="http://schemas.microsoft.com/office/powerpoint/2010/main" val="1124409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10" name="Rectangle 9">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cxnSp>
        <p:nvCxnSpPr>
          <p:cNvPr id="12" name="Straight Connector 11">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3" name="Title 2">
            <a:extLst>
              <a:ext uri="{FF2B5EF4-FFF2-40B4-BE49-F238E27FC236}">
                <a16:creationId xmlns:a16="http://schemas.microsoft.com/office/drawing/2014/main" id="{DAE76F9D-5B8B-4948-BEA0-071E853BEE49}"/>
              </a:ext>
            </a:extLst>
          </p:cNvPr>
          <p:cNvSpPr>
            <a:spLocks noGrp="1"/>
          </p:cNvSpPr>
          <p:nvPr>
            <p:ph type="title"/>
          </p:nvPr>
        </p:nvSpPr>
        <p:spPr>
          <a:xfrm>
            <a:off x="492370" y="605896"/>
            <a:ext cx="3084844" cy="5646208"/>
          </a:xfrm>
        </p:spPr>
        <p:txBody>
          <a:bodyPr vert="horz" lIns="91440" tIns="45720" rIns="91440" bIns="45720" rtlCol="0" anchor="ctr">
            <a:normAutofit/>
          </a:bodyPr>
          <a:lstStyle/>
          <a:p>
            <a:r>
              <a:rPr lang="en-US" sz="3600">
                <a:solidFill>
                  <a:srgbClr val="FFFFFF"/>
                </a:solidFill>
              </a:rPr>
              <a:t>Регулярные выражения</a:t>
            </a: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Content Placeholder 1">
            <a:extLst>
              <a:ext uri="{FF2B5EF4-FFF2-40B4-BE49-F238E27FC236}">
                <a16:creationId xmlns:a16="http://schemas.microsoft.com/office/drawing/2014/main" id="{D43648EE-22E1-4E09-BAF0-7A44430C7658}"/>
              </a:ext>
            </a:extLst>
          </p:cNvPr>
          <p:cNvSpPr>
            <a:spLocks noGrp="1"/>
          </p:cNvSpPr>
          <p:nvPr>
            <p:ph idx="1"/>
          </p:nvPr>
        </p:nvSpPr>
        <p:spPr>
          <a:xfrm>
            <a:off x="4742016" y="605896"/>
            <a:ext cx="6413663" cy="5646208"/>
          </a:xfrm>
        </p:spPr>
        <p:txBody>
          <a:bodyPr vert="horz" lIns="0" tIns="45720" rIns="0" bIns="45720" rtlCol="0" anchor="ctr">
            <a:noAutofit/>
          </a:bodyPr>
          <a:lstStyle/>
          <a:p>
            <a:r>
              <a:rPr lang="en-US" sz="1400" dirty="0" err="1">
                <a:latin typeface="Times New Roman" panose="02020603050405020304" pitchFamily="18" charset="0"/>
                <a:cs typeface="Times New Roman" panose="02020603050405020304" pitchFamily="18" charset="0"/>
              </a:rPr>
              <a:t>Оператор</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или</a:t>
            </a:r>
            <a:r>
              <a:rPr lang="en-US" sz="1400" dirty="0">
                <a:latin typeface="Times New Roman" panose="02020603050405020304" pitchFamily="18" charset="0"/>
                <a:cs typeface="Times New Roman" panose="02020603050405020304" pitchFamily="18" charset="0"/>
              </a:rPr>
              <a:t>» - «|», </a:t>
            </a:r>
            <a:r>
              <a:rPr lang="en-US" sz="1400" dirty="0" err="1">
                <a:latin typeface="Times New Roman" panose="02020603050405020304" pitchFamily="18" charset="0"/>
                <a:cs typeface="Times New Roman" panose="02020603050405020304" pitchFamily="18" charset="0"/>
              </a:rPr>
              <a:t>объединяет</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отдельные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регулярные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выражения</a:t>
            </a:r>
            <a:endParaRPr lang="en-US" sz="1400" dirty="0">
              <a:latin typeface="Times New Roman" panose="02020603050405020304" pitchFamily="18" charset="0"/>
              <a:cs typeface="Times New Roman" panose="02020603050405020304" pitchFamily="18" charset="0"/>
            </a:endParaRPr>
          </a:p>
          <a:p>
            <a:pPr lvl="1"/>
            <a:r>
              <a:rPr lang="en-US" sz="1400" dirty="0" err="1">
                <a:latin typeface="Times New Roman" panose="02020603050405020304" pitchFamily="18" charset="0"/>
                <a:cs typeface="Times New Roman" panose="02020603050405020304" pitchFamily="18" charset="0"/>
              </a:rPr>
              <a:t>gray|grey</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соответствует</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строке</a:t>
            </a:r>
            <a:r>
              <a:rPr lang="en-US" sz="1400" dirty="0">
                <a:latin typeface="Times New Roman" panose="02020603050405020304" pitchFamily="18" charset="0"/>
                <a:cs typeface="Times New Roman" panose="02020603050405020304" pitchFamily="18" charset="0"/>
              </a:rPr>
              <a:t> «gray» </a:t>
            </a:r>
            <a:r>
              <a:rPr lang="en-US" sz="1400" dirty="0" err="1">
                <a:latin typeface="Times New Roman" panose="02020603050405020304" pitchFamily="18" charset="0"/>
                <a:cs typeface="Times New Roman" panose="02020603050405020304" pitchFamily="18" charset="0"/>
              </a:rPr>
              <a:t>или</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строке</a:t>
            </a:r>
            <a:r>
              <a:rPr lang="en-US" sz="1400" dirty="0">
                <a:latin typeface="Times New Roman" panose="02020603050405020304" pitchFamily="18" charset="0"/>
                <a:cs typeface="Times New Roman" panose="02020603050405020304" pitchFamily="18" charset="0"/>
              </a:rPr>
              <a:t> «grey»</a:t>
            </a:r>
          </a:p>
          <a:p>
            <a:r>
              <a:rPr lang="en-US" sz="1400" dirty="0" err="1">
                <a:latin typeface="Times New Roman" panose="02020603050405020304" pitchFamily="18" charset="0"/>
                <a:cs typeface="Times New Roman" panose="02020603050405020304" pitchFamily="18" charset="0"/>
              </a:rPr>
              <a:t>Оператор</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скобки</a:t>
            </a:r>
            <a:r>
              <a:rPr lang="en-US" sz="1400" dirty="0">
                <a:latin typeface="Times New Roman" panose="02020603050405020304" pitchFamily="18" charset="0"/>
                <a:cs typeface="Times New Roman" panose="02020603050405020304" pitchFamily="18" charset="0"/>
              </a:rPr>
              <a:t>» – «()», </a:t>
            </a:r>
            <a:r>
              <a:rPr lang="en-US" sz="1400" dirty="0" err="1">
                <a:latin typeface="Times New Roman" panose="02020603050405020304" pitchFamily="18" charset="0"/>
                <a:cs typeface="Times New Roman" panose="02020603050405020304" pitchFamily="18" charset="0"/>
              </a:rPr>
              <a:t>задают</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более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высокий</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приоритет</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gr(</a:t>
            </a:r>
            <a:r>
              <a:rPr lang="en-US" sz="1400" dirty="0" err="1">
                <a:latin typeface="Times New Roman" panose="02020603050405020304" pitchFamily="18" charset="0"/>
                <a:cs typeface="Times New Roman" panose="02020603050405020304" pitchFamily="18" charset="0"/>
              </a:rPr>
              <a:t>a|e</a:t>
            </a:r>
            <a:r>
              <a:rPr lang="en-US" sz="1400" dirty="0">
                <a:latin typeface="Times New Roman" panose="02020603050405020304" pitchFamily="18" charset="0"/>
                <a:cs typeface="Times New Roman" panose="02020603050405020304" pitchFamily="18" charset="0"/>
              </a:rPr>
              <a:t>)y – </a:t>
            </a:r>
            <a:r>
              <a:rPr lang="en-US" sz="1400" dirty="0" err="1">
                <a:latin typeface="Times New Roman" panose="02020603050405020304" pitchFamily="18" charset="0"/>
                <a:cs typeface="Times New Roman" panose="02020603050405020304" pitchFamily="18" charset="0"/>
              </a:rPr>
              <a:t>то</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же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самое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что</a:t>
            </a:r>
            <a:r>
              <a:rPr lang="en-US" sz="1400" dirty="0">
                <a:latin typeface="Times New Roman" panose="02020603050405020304" pitchFamily="18" charset="0"/>
                <a:cs typeface="Times New Roman" panose="02020603050405020304" pitchFamily="18" charset="0"/>
              </a:rPr>
              <a:t> и </a:t>
            </a:r>
            <a:r>
              <a:rPr lang="en-US" sz="1400" dirty="0" err="1">
                <a:latin typeface="Times New Roman" panose="02020603050405020304" pitchFamily="18" charset="0"/>
                <a:cs typeface="Times New Roman" panose="02020603050405020304" pitchFamily="18" charset="0"/>
              </a:rPr>
              <a:t>gray|grey</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Оператор</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выбора</a:t>
            </a:r>
            <a:r>
              <a:rPr lang="en-US" sz="1400" dirty="0">
                <a:latin typeface="Times New Roman" panose="02020603050405020304" pitchFamily="18" charset="0"/>
                <a:cs typeface="Times New Roman" panose="02020603050405020304" pitchFamily="18" charset="0"/>
              </a:rPr>
              <a:t> – «[]», </a:t>
            </a:r>
            <a:r>
              <a:rPr lang="en-US" sz="1400" dirty="0" err="1">
                <a:latin typeface="Times New Roman" panose="02020603050405020304" pitchFamily="18" charset="0"/>
                <a:cs typeface="Times New Roman" panose="02020603050405020304" pitchFamily="18" charset="0"/>
              </a:rPr>
              <a:t>соответствует</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одному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из</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символов</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или</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диапазону</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abc</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соответствует</a:t>
            </a:r>
            <a:r>
              <a:rPr lang="en-US" sz="1400" dirty="0">
                <a:latin typeface="Times New Roman" panose="02020603050405020304" pitchFamily="18" charset="0"/>
                <a:cs typeface="Times New Roman" panose="02020603050405020304" pitchFamily="18" charset="0"/>
              </a:rPr>
              <a:t> «а», «b» </a:t>
            </a:r>
            <a:r>
              <a:rPr lang="en-US" sz="1400" dirty="0" err="1">
                <a:latin typeface="Times New Roman" panose="02020603050405020304" pitchFamily="18" charset="0"/>
                <a:cs typeface="Times New Roman" panose="02020603050405020304" pitchFamily="18" charset="0"/>
              </a:rPr>
              <a:t>или</a:t>
            </a:r>
            <a:r>
              <a:rPr lang="en-US" sz="1400" dirty="0">
                <a:latin typeface="Times New Roman" panose="02020603050405020304" pitchFamily="18" charset="0"/>
                <a:cs typeface="Times New Roman" panose="02020603050405020304" pitchFamily="18" charset="0"/>
              </a:rPr>
              <a:t> «с», [a-x] – </a:t>
            </a:r>
            <a:r>
              <a:rPr lang="en-US" sz="1400" dirty="0" err="1">
                <a:latin typeface="Times New Roman" panose="02020603050405020304" pitchFamily="18" charset="0"/>
                <a:cs typeface="Times New Roman" panose="02020603050405020304" pitchFamily="18" charset="0"/>
              </a:rPr>
              <a:t>соответствует</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символам</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нижнего</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регистра</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кроме</a:t>
            </a:r>
            <a:r>
              <a:rPr lang="en-US" sz="1400" dirty="0">
                <a:latin typeface="Times New Roman" panose="02020603050405020304" pitchFamily="18" charset="0"/>
                <a:cs typeface="Times New Roman" panose="02020603050405020304" pitchFamily="18" charset="0"/>
              </a:rPr>
              <a:t> y и z</a:t>
            </a:r>
          </a:p>
          <a:p>
            <a:r>
              <a:rPr lang="en-US" sz="1400" dirty="0" err="1">
                <a:latin typeface="Times New Roman" panose="02020603050405020304" pitchFamily="18" charset="0"/>
                <a:cs typeface="Times New Roman" panose="02020603050405020304" pitchFamily="18" charset="0"/>
              </a:rPr>
              <a:t>Квантификаторы</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спецсимволы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определяющие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частоту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повторения</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предыдущего</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символа</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 – 0 </a:t>
            </a:r>
            <a:r>
              <a:rPr lang="en-US" sz="1400" dirty="0" err="1">
                <a:latin typeface="Times New Roman" panose="02020603050405020304" pitchFamily="18" charset="0"/>
                <a:cs typeface="Times New Roman" panose="02020603050405020304" pitchFamily="18" charset="0"/>
              </a:rPr>
              <a:t>или</a:t>
            </a:r>
            <a:r>
              <a:rPr lang="en-US" sz="1400" dirty="0">
                <a:latin typeface="Times New Roman" panose="02020603050405020304" pitchFamily="18" charset="0"/>
                <a:cs typeface="Times New Roman" panose="02020603050405020304" pitchFamily="18" charset="0"/>
              </a:rPr>
              <a:t> 1 </a:t>
            </a:r>
            <a:r>
              <a:rPr lang="en-US" sz="1400" dirty="0" err="1">
                <a:latin typeface="Times New Roman" panose="02020603050405020304" pitchFamily="18" charset="0"/>
                <a:cs typeface="Times New Roman" panose="02020603050405020304" pitchFamily="18" charset="0"/>
              </a:rPr>
              <a:t>раз</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colou?r</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соответсвтует</a:t>
            </a:r>
            <a:r>
              <a:rPr lang="en-US" sz="1400" dirty="0">
                <a:latin typeface="Times New Roman" panose="02020603050405020304" pitchFamily="18" charset="0"/>
                <a:cs typeface="Times New Roman" panose="02020603050405020304" pitchFamily="18" charset="0"/>
              </a:rPr>
              <a:t> «color» </a:t>
            </a:r>
            <a:r>
              <a:rPr lang="en-US" sz="1400" dirty="0" err="1">
                <a:latin typeface="Times New Roman" panose="02020603050405020304" pitchFamily="18" charset="0"/>
                <a:cs typeface="Times New Roman" panose="02020603050405020304" pitchFamily="18" charset="0"/>
              </a:rPr>
              <a:t>или</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colour</a:t>
            </a:r>
            <a:r>
              <a:rPr lang="en-US" sz="1400" dirty="0">
                <a:latin typeface="Times New Roman" panose="02020603050405020304" pitchFamily="18" charset="0"/>
                <a:cs typeface="Times New Roman" panose="02020603050405020304" pitchFamily="18" charset="0"/>
              </a:rPr>
              <a:t>»</a:t>
            </a:r>
          </a:p>
          <a:p>
            <a:pPr lvl="1"/>
            <a:r>
              <a:rPr lang="en-US" sz="1400" dirty="0">
                <a:latin typeface="Times New Roman" panose="02020603050405020304" pitchFamily="18" charset="0"/>
                <a:cs typeface="Times New Roman" panose="02020603050405020304" pitchFamily="18" charset="0"/>
              </a:rPr>
              <a:t>* - 0 </a:t>
            </a:r>
            <a:r>
              <a:rPr lang="en-US" sz="1400" dirty="0" err="1">
                <a:latin typeface="Times New Roman" panose="02020603050405020304" pitchFamily="18" charset="0"/>
                <a:cs typeface="Times New Roman" panose="02020603050405020304" pitchFamily="18" charset="0"/>
              </a:rPr>
              <a:t>или</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более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раз</a:t>
            </a:r>
            <a:r>
              <a:rPr lang="en-US" sz="1400" dirty="0">
                <a:latin typeface="Times New Roman" panose="02020603050405020304" pitchFamily="18" charset="0"/>
                <a:cs typeface="Times New Roman" panose="02020603050405020304" pitchFamily="18" charset="0"/>
              </a:rPr>
              <a:t> – ab*c </a:t>
            </a:r>
            <a:r>
              <a:rPr lang="en-US" sz="1400" dirty="0" err="1">
                <a:latin typeface="Times New Roman" panose="02020603050405020304" pitchFamily="18" charset="0"/>
                <a:cs typeface="Times New Roman" panose="02020603050405020304" pitchFamily="18" charset="0"/>
              </a:rPr>
              <a:t>соответствует</a:t>
            </a:r>
            <a:r>
              <a:rPr lang="en-US" sz="1400" dirty="0">
                <a:latin typeface="Times New Roman" panose="02020603050405020304" pitchFamily="18" charset="0"/>
                <a:cs typeface="Times New Roman" panose="02020603050405020304" pitchFamily="18" charset="0"/>
              </a:rPr>
              <a:t> «ac», «</a:t>
            </a:r>
            <a:r>
              <a:rPr lang="en-US" sz="1400" dirty="0" err="1">
                <a:latin typeface="Times New Roman" panose="02020603050405020304" pitchFamily="18" charset="0"/>
                <a:cs typeface="Times New Roman" panose="02020603050405020304" pitchFamily="18" charset="0"/>
              </a:rPr>
              <a:t>abc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abbc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abbbc</a:t>
            </a:r>
            <a:r>
              <a:rPr lang="en-US" sz="1400" dirty="0">
                <a:latin typeface="Times New Roman" panose="02020603050405020304" pitchFamily="18" charset="0"/>
                <a:cs typeface="Times New Roman" panose="02020603050405020304" pitchFamily="18" charset="0"/>
              </a:rPr>
              <a:t>» и </a:t>
            </a:r>
            <a:r>
              <a:rPr lang="en-US" sz="1400" dirty="0" err="1">
                <a:latin typeface="Times New Roman" panose="02020603050405020304" pitchFamily="18" charset="0"/>
                <a:cs typeface="Times New Roman" panose="02020603050405020304" pitchFamily="18" charset="0"/>
              </a:rPr>
              <a:t>т.д</a:t>
            </a:r>
            <a:r>
              <a:rPr lang="en-US" sz="1400" dirty="0">
                <a:latin typeface="Times New Roman" panose="02020603050405020304" pitchFamily="18" charset="0"/>
                <a:cs typeface="Times New Roman" panose="02020603050405020304" pitchFamily="18" charset="0"/>
              </a:rPr>
              <a:t>.</a:t>
            </a:r>
          </a:p>
          <a:p>
            <a:pPr lvl="1"/>
            <a:r>
              <a:rPr lang="en-US" sz="1400" dirty="0">
                <a:latin typeface="Times New Roman" panose="02020603050405020304" pitchFamily="18" charset="0"/>
                <a:cs typeface="Times New Roman" panose="02020603050405020304" pitchFamily="18" charset="0"/>
              </a:rPr>
              <a:t>+ - 1 </a:t>
            </a:r>
            <a:r>
              <a:rPr lang="en-US" sz="1400" dirty="0" err="1">
                <a:latin typeface="Times New Roman" panose="02020603050405020304" pitchFamily="18" charset="0"/>
                <a:cs typeface="Times New Roman" panose="02020603050405020304" pitchFamily="18" charset="0"/>
              </a:rPr>
              <a:t>или</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более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раз</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ab+c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соответствует</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abc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abbc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abbbc</a:t>
            </a:r>
            <a:r>
              <a:rPr lang="en-US" sz="1400" dirty="0">
                <a:latin typeface="Times New Roman" panose="02020603050405020304" pitchFamily="18" charset="0"/>
                <a:cs typeface="Times New Roman" panose="02020603050405020304" pitchFamily="18" charset="0"/>
              </a:rPr>
              <a:t>» и </a:t>
            </a:r>
            <a:r>
              <a:rPr lang="en-US" sz="1400" dirty="0" err="1">
                <a:latin typeface="Times New Roman" panose="02020603050405020304" pitchFamily="18" charset="0"/>
                <a:cs typeface="Times New Roman" panose="02020603050405020304" pitchFamily="18" charset="0"/>
              </a:rPr>
              <a:t>т.д</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но</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не</a:t>
            </a:r>
            <a:r>
              <a:rPr lang="en-US" sz="1400" dirty="0">
                <a:latin typeface="Times New Roman" panose="02020603050405020304" pitchFamily="18" charset="0"/>
                <a:cs typeface="Times New Roman" panose="02020603050405020304" pitchFamily="18" charset="0"/>
              </a:rPr>
              <a:t> «ac»</a:t>
            </a:r>
          </a:p>
          <a:p>
            <a:pPr lvl="1"/>
            <a:r>
              <a:rPr lang="en-US" sz="1400" dirty="0">
                <a:latin typeface="Times New Roman" panose="02020603050405020304" pitchFamily="18" charset="0"/>
                <a:cs typeface="Times New Roman" panose="02020603050405020304" pitchFamily="18" charset="0"/>
              </a:rPr>
              <a:t>{n} – </a:t>
            </a:r>
            <a:r>
              <a:rPr lang="en-US" sz="1400" dirty="0" err="1">
                <a:latin typeface="Times New Roman" panose="02020603050405020304" pitchFamily="18" charset="0"/>
                <a:cs typeface="Times New Roman" panose="02020603050405020304" pitchFamily="18" charset="0"/>
              </a:rPr>
              <a:t>точно</a:t>
            </a:r>
            <a:r>
              <a:rPr lang="en-US" sz="1400" dirty="0">
                <a:latin typeface="Times New Roman" panose="02020603050405020304" pitchFamily="18" charset="0"/>
                <a:cs typeface="Times New Roman" panose="02020603050405020304" pitchFamily="18" charset="0"/>
              </a:rPr>
              <a:t> n </a:t>
            </a:r>
            <a:r>
              <a:rPr lang="en-US" sz="1400" dirty="0" err="1">
                <a:latin typeface="Times New Roman" panose="02020603050405020304" pitchFamily="18" charset="0"/>
                <a:cs typeface="Times New Roman" panose="02020603050405020304" pitchFamily="18" charset="0"/>
              </a:rPr>
              <a:t>раз</a:t>
            </a:r>
            <a:r>
              <a:rPr lang="en-US" sz="1400" dirty="0">
                <a:latin typeface="Times New Roman" panose="02020603050405020304" pitchFamily="18" charset="0"/>
                <a:cs typeface="Times New Roman" panose="02020603050405020304" pitchFamily="18" charset="0"/>
              </a:rPr>
              <a:t>, {n,} – n </a:t>
            </a:r>
            <a:r>
              <a:rPr lang="en-US" sz="1400" dirty="0" err="1">
                <a:latin typeface="Times New Roman" panose="02020603050405020304" pitchFamily="18" charset="0"/>
                <a:cs typeface="Times New Roman" panose="02020603050405020304" pitchFamily="18" charset="0"/>
              </a:rPr>
              <a:t>или</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более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раз</a:t>
            </a:r>
            <a:r>
              <a:rPr lang="en-US" sz="1400" dirty="0">
                <a:latin typeface="Times New Roman" panose="02020603050405020304" pitchFamily="18" charset="0"/>
                <a:cs typeface="Times New Roman" panose="02020603050405020304" pitchFamily="18" charset="0"/>
              </a:rPr>
              <a:t>, {,m} – </a:t>
            </a:r>
            <a:r>
              <a:rPr lang="en-US" sz="1400" dirty="0" err="1">
                <a:latin typeface="Times New Roman" panose="02020603050405020304" pitchFamily="18" charset="0"/>
                <a:cs typeface="Times New Roman" panose="02020603050405020304" pitchFamily="18" charset="0"/>
              </a:rPr>
              <a:t>не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более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чем</a:t>
            </a:r>
            <a:r>
              <a:rPr lang="en-US" sz="1400" dirty="0">
                <a:latin typeface="Times New Roman" panose="02020603050405020304" pitchFamily="18" charset="0"/>
                <a:cs typeface="Times New Roman" panose="02020603050405020304" pitchFamily="18" charset="0"/>
              </a:rPr>
              <a:t> m </a:t>
            </a:r>
            <a:r>
              <a:rPr lang="en-US" sz="1400" dirty="0" err="1">
                <a:latin typeface="Times New Roman" panose="02020603050405020304" pitchFamily="18" charset="0"/>
                <a:cs typeface="Times New Roman" panose="02020603050405020304" pitchFamily="18" charset="0"/>
              </a:rPr>
              <a:t>раз</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n,m</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от</a:t>
            </a:r>
            <a:r>
              <a:rPr lang="en-US" sz="1400" dirty="0">
                <a:latin typeface="Times New Roman" panose="02020603050405020304" pitchFamily="18" charset="0"/>
                <a:cs typeface="Times New Roman" panose="02020603050405020304" pitchFamily="18" charset="0"/>
              </a:rPr>
              <a:t> n </a:t>
            </a:r>
            <a:r>
              <a:rPr lang="en-US" sz="1400" dirty="0" err="1">
                <a:latin typeface="Times New Roman" panose="02020603050405020304" pitchFamily="18" charset="0"/>
                <a:cs typeface="Times New Roman" panose="02020603050405020304" pitchFamily="18" charset="0"/>
              </a:rPr>
              <a:t>до</a:t>
            </a:r>
            <a:r>
              <a:rPr lang="en-US" sz="1400" dirty="0">
                <a:latin typeface="Times New Roman" panose="02020603050405020304" pitchFamily="18" charset="0"/>
                <a:cs typeface="Times New Roman" panose="02020603050405020304" pitchFamily="18" charset="0"/>
              </a:rPr>
              <a:t> m </a:t>
            </a:r>
            <a:r>
              <a:rPr lang="en-US" sz="1400" dirty="0" err="1">
                <a:latin typeface="Times New Roman" panose="02020603050405020304" pitchFamily="18" charset="0"/>
                <a:cs typeface="Times New Roman" panose="02020603050405020304" pitchFamily="18" charset="0"/>
              </a:rPr>
              <a:t>раз</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Wildcard – «.», </a:t>
            </a:r>
            <a:r>
              <a:rPr lang="en-US" sz="1400" dirty="0" err="1">
                <a:latin typeface="Times New Roman" panose="02020603050405020304" pitchFamily="18" charset="0"/>
                <a:cs typeface="Times New Roman" panose="02020603050405020304" pitchFamily="18" charset="0"/>
              </a:rPr>
              <a:t>подстановочный</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знак</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соответствует</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любому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символу</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Начало</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строки</a:t>
            </a:r>
            <a:r>
              <a:rPr lang="en-US" sz="1400" dirty="0">
                <a:latin typeface="Times New Roman" panose="02020603050405020304" pitchFamily="18" charset="0"/>
                <a:cs typeface="Times New Roman" panose="02020603050405020304" pitchFamily="18" charset="0"/>
              </a:rPr>
              <a:t> – «^»</a:t>
            </a:r>
          </a:p>
          <a:p>
            <a:r>
              <a:rPr lang="en-US" sz="1400" dirty="0" err="1">
                <a:latin typeface="Times New Roman" panose="02020603050405020304" pitchFamily="18" charset="0"/>
                <a:cs typeface="Times New Roman" panose="02020603050405020304" pitchFamily="18" charset="0"/>
              </a:rPr>
              <a:t>Конец</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строки</a:t>
            </a:r>
            <a:r>
              <a:rPr lang="en-US" sz="1400" dirty="0">
                <a:latin typeface="Times New Roman" panose="02020603050405020304" pitchFamily="18" charset="0"/>
                <a:cs typeface="Times New Roman" panose="02020603050405020304" pitchFamily="18" charset="0"/>
              </a:rPr>
              <a:t> – «$»</a:t>
            </a:r>
          </a:p>
          <a:p>
            <a:r>
              <a:rPr lang="en-US" sz="1400" dirty="0" err="1">
                <a:latin typeface="Times New Roman" panose="02020603050405020304" pitchFamily="18" charset="0"/>
                <a:cs typeface="Times New Roman" panose="02020603050405020304" pitchFamily="18" charset="0"/>
              </a:rPr>
              <a:t>Классы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символов</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зависит</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от</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реализации</a:t>
            </a:r>
            <a:r>
              <a:rPr lang="en-US" sz="1400" dirty="0">
                <a:latin typeface="Times New Roman" panose="02020603050405020304" pitchFamily="18" charset="0"/>
                <a:cs typeface="Times New Roman" panose="02020603050405020304" pitchFamily="18" charset="0"/>
              </a:rPr>
              <a:t>)</a:t>
            </a:r>
          </a:p>
          <a:p>
            <a:pPr lvl="1"/>
            <a:r>
              <a:rPr lang="en-US" sz="1400" dirty="0">
                <a:latin typeface="Times New Roman" panose="02020603050405020304" pitchFamily="18" charset="0"/>
                <a:cs typeface="Times New Roman" panose="02020603050405020304" pitchFamily="18" charset="0"/>
              </a:rPr>
              <a:t>\w – </a:t>
            </a:r>
            <a:r>
              <a:rPr lang="en-US" sz="1400" dirty="0" err="1">
                <a:latin typeface="Times New Roman" panose="02020603050405020304" pitchFamily="18" charset="0"/>
                <a:cs typeface="Times New Roman" panose="02020603050405020304" pitchFamily="18" charset="0"/>
              </a:rPr>
              <a:t>цифры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буквы</a:t>
            </a:r>
            <a:r>
              <a:rPr lang="en-US" sz="1400" dirty="0">
                <a:latin typeface="Times New Roman" panose="02020603050405020304" pitchFamily="18" charset="0"/>
                <a:cs typeface="Times New Roman" panose="02020603050405020304" pitchFamily="18" charset="0"/>
              </a:rPr>
              <a:t> и </a:t>
            </a:r>
            <a:r>
              <a:rPr lang="en-US" sz="1400" dirty="0" err="1">
                <a:latin typeface="Times New Roman" panose="02020603050405020304" pitchFamily="18" charset="0"/>
                <a:cs typeface="Times New Roman" panose="02020603050405020304" pitchFamily="18" charset="0"/>
              </a:rPr>
              <a:t>символ</a:t>
            </a:r>
            <a:r>
              <a:rPr lang="en-US" sz="1400" dirty="0">
                <a:latin typeface="Times New Roman" panose="02020603050405020304" pitchFamily="18" charset="0"/>
                <a:cs typeface="Times New Roman" panose="02020603050405020304" pitchFamily="18" charset="0"/>
              </a:rPr>
              <a:t> _</a:t>
            </a:r>
          </a:p>
          <a:p>
            <a:pPr lvl="1"/>
            <a:r>
              <a:rPr lang="en-US" sz="1400" dirty="0">
                <a:latin typeface="Times New Roman" panose="02020603050405020304" pitchFamily="18" charset="0"/>
                <a:cs typeface="Times New Roman" panose="02020603050405020304" pitchFamily="18" charset="0"/>
              </a:rPr>
              <a:t>\d – </a:t>
            </a:r>
            <a:r>
              <a:rPr lang="en-US" sz="1400" dirty="0" err="1">
                <a:latin typeface="Times New Roman" panose="02020603050405020304" pitchFamily="18" charset="0"/>
                <a:cs typeface="Times New Roman" panose="02020603050405020304" pitchFamily="18" charset="0"/>
              </a:rPr>
              <a:t>цифры</a:t>
            </a:r>
            <a:r>
              <a:rPr lang="en-US" sz="1400" dirty="0">
                <a:latin typeface="Times New Roman" panose="02020603050405020304" pitchFamily="18" charset="0"/>
                <a:cs typeface="Times New Roman" panose="02020603050405020304" pitchFamily="18" charset="0"/>
              </a:rPr>
              <a:t> </a:t>
            </a:r>
          </a:p>
          <a:p>
            <a:pPr lvl="1"/>
            <a:r>
              <a:rPr lang="en-US" sz="1400" dirty="0">
                <a:latin typeface="Times New Roman" panose="02020603050405020304" pitchFamily="18" charset="0"/>
                <a:cs typeface="Times New Roman" panose="02020603050405020304" pitchFamily="18" charset="0"/>
              </a:rPr>
              <a:t>\s – </a:t>
            </a:r>
            <a:r>
              <a:rPr lang="en-US" sz="1400" dirty="0" err="1">
                <a:latin typeface="Times New Roman" panose="02020603050405020304" pitchFamily="18" charset="0"/>
                <a:cs typeface="Times New Roman" panose="02020603050405020304" pitchFamily="18" charset="0"/>
              </a:rPr>
              <a:t>пробельные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символы</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\S – </a:t>
            </a:r>
            <a:r>
              <a:rPr lang="en-US" sz="1400" dirty="0" err="1">
                <a:latin typeface="Times New Roman" panose="02020603050405020304" pitchFamily="18" charset="0"/>
                <a:cs typeface="Times New Roman" panose="02020603050405020304" pitchFamily="18" charset="0"/>
              </a:rPr>
              <a:t>непробельные</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символы</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9880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00C7-0803-8A43-A9F3-6FF24BDCB923}"/>
              </a:ext>
            </a:extLst>
          </p:cNvPr>
          <p:cNvSpPr>
            <a:spLocks noGrp="1"/>
          </p:cNvSpPr>
          <p:nvPr>
            <p:ph type="title"/>
          </p:nvPr>
        </p:nvSpPr>
        <p:spPr/>
        <p:txBody>
          <a:bodyPr>
            <a:normAutofit/>
          </a:bodyPr>
          <a:lstStyle/>
          <a:p>
            <a:r>
              <a:rPr lang="ru-RU" sz="5400" dirty="0"/>
              <a:t>ФОРМИРОВАНИЕ ПРИЗНАКОВ</a:t>
            </a:r>
            <a:endParaRPr lang="en-US" sz="5400" dirty="0"/>
          </a:p>
        </p:txBody>
      </p:sp>
      <p:sp>
        <p:nvSpPr>
          <p:cNvPr id="5" name="Text Placeholder 4">
            <a:extLst>
              <a:ext uri="{FF2B5EF4-FFF2-40B4-BE49-F238E27FC236}">
                <a16:creationId xmlns:a16="http://schemas.microsoft.com/office/drawing/2014/main" id="{B389A574-F452-49EE-9B41-B6208C501ED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16561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83781F-FA29-48E6-B073-18A5D3A62866}"/>
              </a:ext>
            </a:extLst>
          </p:cNvPr>
          <p:cNvSpPr>
            <a:spLocks noGrp="1"/>
          </p:cNvSpPr>
          <p:nvPr>
            <p:ph idx="1"/>
          </p:nvPr>
        </p:nvSpPr>
        <p:spPr>
          <a:xfrm>
            <a:off x="588745" y="1790891"/>
            <a:ext cx="11014509" cy="2403156"/>
          </a:xfrm>
        </p:spPr>
        <p:txBody>
          <a:bodyPr>
            <a:normAutofit/>
          </a:bodyPr>
          <a:lstStyle/>
          <a:p>
            <a:pPr marL="742950" indent="-457200" algn="just">
              <a:buFont typeface="Courier New" panose="02070309020205020404" pitchFamily="49" charset="0"/>
              <a:buChar char="o"/>
            </a:pPr>
            <a:r>
              <a:rPr lang="ru-RU" dirty="0"/>
              <a:t>Извлечение признаков - это название методов, которые выбирают и/или объединяют переменные в признаки, эффективно уменьшая объем данных, которые необходимо обработать, при этом точно и полностью описывая исходный набор данных.</a:t>
            </a:r>
          </a:p>
          <a:p>
            <a:pPr marL="742950" indent="-457200" algn="just">
              <a:buFont typeface="Courier New" panose="02070309020205020404" pitchFamily="49" charset="0"/>
              <a:buChar char="o"/>
            </a:pPr>
            <a:r>
              <a:rPr lang="ru-RU" dirty="0"/>
              <a:t>Извлечение признаков (</a:t>
            </a:r>
            <a:r>
              <a:rPr lang="en-US" dirty="0"/>
              <a:t>feature extraction</a:t>
            </a:r>
            <a:r>
              <a:rPr lang="ru-RU" dirty="0"/>
              <a:t>) - это процесс уменьшения размерности</a:t>
            </a:r>
            <a:r>
              <a:rPr lang="en-US" dirty="0"/>
              <a:t> </a:t>
            </a:r>
            <a:r>
              <a:rPr lang="ru-RU" dirty="0"/>
              <a:t>данных, при котором исходный набор необработанных данных сокращается до более значимых групп для обработки. </a:t>
            </a:r>
          </a:p>
          <a:p>
            <a:pPr marL="742950" indent="-457200" algn="just">
              <a:buFont typeface="Courier New" panose="02070309020205020404" pitchFamily="49" charset="0"/>
              <a:buChar char="o"/>
            </a:pPr>
            <a:endParaRPr lang="ru-BY" sz="2400" dirty="0"/>
          </a:p>
        </p:txBody>
      </p:sp>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normAutofit/>
          </a:bodyPr>
          <a:lstStyle/>
          <a:p>
            <a:r>
              <a:rPr lang="ru-RU" dirty="0"/>
              <a:t>Извлечение признаков</a:t>
            </a:r>
            <a:endParaRPr lang="en-US" dirty="0"/>
          </a:p>
        </p:txBody>
      </p:sp>
      <p:pic>
        <p:nvPicPr>
          <p:cNvPr id="8" name="Picture 7">
            <a:extLst>
              <a:ext uri="{FF2B5EF4-FFF2-40B4-BE49-F238E27FC236}">
                <a16:creationId xmlns:a16="http://schemas.microsoft.com/office/drawing/2014/main" id="{E722C67A-1376-406E-BC47-D670E8158100}"/>
              </a:ext>
            </a:extLst>
          </p:cNvPr>
          <p:cNvPicPr>
            <a:picLocks noChangeAspect="1"/>
          </p:cNvPicPr>
          <p:nvPr/>
        </p:nvPicPr>
        <p:blipFill>
          <a:blip r:embed="rId3"/>
          <a:stretch>
            <a:fillRect/>
          </a:stretch>
        </p:blipFill>
        <p:spPr>
          <a:xfrm>
            <a:off x="3810225" y="3838120"/>
            <a:ext cx="5039584" cy="2457979"/>
          </a:xfrm>
          <a:prstGeom prst="rect">
            <a:avLst/>
          </a:prstGeom>
        </p:spPr>
      </p:pic>
    </p:spTree>
    <p:extLst>
      <p:ext uri="{BB962C8B-B14F-4D97-AF65-F5344CB8AC3E}">
        <p14:creationId xmlns:p14="http://schemas.microsoft.com/office/powerpoint/2010/main" val="3119533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B27A47-0783-4ACC-A031-B9E494EE0E40}"/>
              </a:ext>
            </a:extLst>
          </p:cNvPr>
          <p:cNvSpPr>
            <a:spLocks noGrp="1"/>
          </p:cNvSpPr>
          <p:nvPr>
            <p:ph idx="1"/>
          </p:nvPr>
        </p:nvSpPr>
        <p:spPr>
          <a:xfrm>
            <a:off x="1097280" y="1790891"/>
            <a:ext cx="10058400" cy="4652817"/>
          </a:xfrm>
        </p:spPr>
        <p:txBody>
          <a:bodyPr/>
          <a:lstStyle/>
          <a:p>
            <a:pPr lvl="1"/>
            <a:r>
              <a:rPr lang="ru-RU" dirty="0"/>
              <a:t>Количество символов</a:t>
            </a:r>
          </a:p>
          <a:p>
            <a:pPr lvl="1"/>
            <a:r>
              <a:rPr lang="ru-RU" dirty="0"/>
              <a:t>Количество слов</a:t>
            </a:r>
          </a:p>
          <a:p>
            <a:pPr lvl="1"/>
            <a:r>
              <a:rPr lang="ru-RU" dirty="0"/>
              <a:t>Количество предложений</a:t>
            </a:r>
          </a:p>
          <a:p>
            <a:pPr lvl="1"/>
            <a:r>
              <a:rPr lang="ru-RU" dirty="0"/>
              <a:t>Средняя длина слова</a:t>
            </a:r>
          </a:p>
          <a:p>
            <a:pPr lvl="1"/>
            <a:r>
              <a:rPr lang="ru-RU" dirty="0"/>
              <a:t>Средняя длина предложения</a:t>
            </a:r>
          </a:p>
          <a:p>
            <a:pPr lvl="1"/>
            <a:r>
              <a:rPr lang="ru-RU" dirty="0"/>
              <a:t>Количество уникальных слов</a:t>
            </a:r>
          </a:p>
          <a:p>
            <a:pPr lvl="1"/>
            <a:r>
              <a:rPr lang="ru-RU" dirty="0"/>
              <a:t>Количество стоп-слов</a:t>
            </a:r>
          </a:p>
          <a:p>
            <a:pPr lvl="1"/>
            <a:r>
              <a:rPr lang="ru-RU" dirty="0"/>
              <a:t>Доля уникальных слов (количество уникальных слов </a:t>
            </a:r>
            <a:r>
              <a:rPr lang="en-US" dirty="0"/>
              <a:t>/ </a:t>
            </a:r>
            <a:r>
              <a:rPr lang="ru-RU" dirty="0"/>
              <a:t>количество слов)</a:t>
            </a:r>
          </a:p>
          <a:p>
            <a:pPr lvl="1"/>
            <a:r>
              <a:rPr lang="ru-RU" dirty="0"/>
              <a:t>Доля стоп-слов (количество стоп-слов </a:t>
            </a:r>
            <a:r>
              <a:rPr lang="en-US" dirty="0"/>
              <a:t>/ </a:t>
            </a:r>
            <a:r>
              <a:rPr lang="ru-RU" dirty="0"/>
              <a:t>количество слов)</a:t>
            </a:r>
          </a:p>
          <a:p>
            <a:pPr lvl="1"/>
            <a:r>
              <a:rPr lang="ru-RU" dirty="0"/>
              <a:t>Количество и доля слов с большой буквы или в верхнем регистре</a:t>
            </a:r>
          </a:p>
          <a:p>
            <a:pPr lvl="1"/>
            <a:r>
              <a:rPr lang="ru-RU" dirty="0"/>
              <a:t>Количество специальных символов</a:t>
            </a:r>
          </a:p>
          <a:p>
            <a:pPr lvl="1"/>
            <a:r>
              <a:rPr lang="ru-RU" dirty="0"/>
              <a:t>Количество слов в кавычках, хэш-тегов или другим образом выделенных слов</a:t>
            </a:r>
          </a:p>
          <a:p>
            <a:pPr lvl="1"/>
            <a:endParaRPr lang="LID4096" dirty="0"/>
          </a:p>
        </p:txBody>
      </p:sp>
      <p:sp>
        <p:nvSpPr>
          <p:cNvPr id="3" name="Title 2">
            <a:extLst>
              <a:ext uri="{FF2B5EF4-FFF2-40B4-BE49-F238E27FC236}">
                <a16:creationId xmlns:a16="http://schemas.microsoft.com/office/drawing/2014/main" id="{4F4C9FAC-244A-45F1-8604-9A9744E60091}"/>
              </a:ext>
            </a:extLst>
          </p:cNvPr>
          <p:cNvSpPr>
            <a:spLocks noGrp="1"/>
          </p:cNvSpPr>
          <p:nvPr>
            <p:ph type="title"/>
          </p:nvPr>
        </p:nvSpPr>
        <p:spPr/>
        <p:txBody>
          <a:bodyPr/>
          <a:lstStyle/>
          <a:p>
            <a:r>
              <a:rPr lang="ru-RU" dirty="0"/>
              <a:t>Простые признаки по тексту</a:t>
            </a:r>
            <a:endParaRPr lang="LID4096" dirty="0"/>
          </a:p>
        </p:txBody>
      </p:sp>
    </p:spTree>
    <p:extLst>
      <p:ext uri="{BB962C8B-B14F-4D97-AF65-F5344CB8AC3E}">
        <p14:creationId xmlns:p14="http://schemas.microsoft.com/office/powerpoint/2010/main" val="773050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52A740-4B56-A4CF-6234-3B6A9CD82D5A}"/>
              </a:ext>
            </a:extLst>
          </p:cNvPr>
          <p:cNvSpPr>
            <a:spLocks noGrp="1"/>
          </p:cNvSpPr>
          <p:nvPr>
            <p:ph type="title"/>
          </p:nvPr>
        </p:nvSpPr>
        <p:spPr>
          <a:xfrm>
            <a:off x="2722180" y="891746"/>
            <a:ext cx="6934200" cy="591344"/>
          </a:xfrm>
        </p:spPr>
        <p:txBody>
          <a:bodyPr>
            <a:normAutofit fontScale="90000"/>
          </a:bodyPr>
          <a:lstStyle/>
          <a:p>
            <a:r>
              <a:rPr lang="ru-RU" dirty="0"/>
              <a:t>Числовые признаки: </a:t>
            </a:r>
            <a:r>
              <a:rPr lang="ru-RU" dirty="0" err="1"/>
              <a:t>биннинг</a:t>
            </a:r>
            <a:r>
              <a:rPr lang="ru-RU" dirty="0"/>
              <a:t> и нормализация</a:t>
            </a:r>
          </a:p>
        </p:txBody>
      </p:sp>
      <p:sp>
        <p:nvSpPr>
          <p:cNvPr id="3" name="Объект 2">
            <a:extLst>
              <a:ext uri="{FF2B5EF4-FFF2-40B4-BE49-F238E27FC236}">
                <a16:creationId xmlns:a16="http://schemas.microsoft.com/office/drawing/2014/main" id="{22271D01-D588-915B-BBEF-8016A950E5E2}"/>
              </a:ext>
            </a:extLst>
          </p:cNvPr>
          <p:cNvSpPr>
            <a:spLocks noGrp="1"/>
          </p:cNvSpPr>
          <p:nvPr>
            <p:ph idx="1"/>
          </p:nvPr>
        </p:nvSpPr>
        <p:spPr>
          <a:xfrm>
            <a:off x="2207568" y="1752600"/>
            <a:ext cx="7393632" cy="4572000"/>
          </a:xfrm>
        </p:spPr>
        <p:txBody>
          <a:bodyPr/>
          <a:lstStyle/>
          <a:p>
            <a:pPr marL="0" indent="0">
              <a:buNone/>
            </a:pPr>
            <a:r>
              <a:rPr lang="ru-RU" b="1" dirty="0" err="1"/>
              <a:t>Биннинг</a:t>
            </a:r>
            <a:r>
              <a:rPr lang="ru-RU" dirty="0"/>
              <a:t> (также называемый </a:t>
            </a:r>
            <a:r>
              <a:rPr lang="ru-RU" b="1" dirty="0"/>
              <a:t>группировкой</a:t>
            </a:r>
            <a:r>
              <a:rPr lang="ru-RU" dirty="0"/>
              <a:t> ) — это метод </a:t>
            </a:r>
            <a:r>
              <a:rPr lang="ru-RU" b="1" dirty="0">
                <a:hlinkClick r:id="rId2">
                  <a:extLst>
                    <a:ext uri="{A12FA001-AC4F-418D-AE19-62706E023703}">
                      <ahyp:hlinkClr xmlns:ahyp="http://schemas.microsoft.com/office/drawing/2018/hyperlinkcolor" val="tx"/>
                    </a:ext>
                  </a:extLst>
                </a:hlinkClick>
              </a:rPr>
              <a:t>конструирования признаков</a:t>
            </a:r>
            <a:r>
              <a:rPr lang="ru-RU" dirty="0"/>
              <a:t> , который группирует различные числовые поддиапазоны в </a:t>
            </a:r>
            <a:r>
              <a:rPr lang="ru-RU" i="1" dirty="0"/>
              <a:t>интервалы</a:t>
            </a:r>
            <a:r>
              <a:rPr lang="ru-RU" dirty="0"/>
              <a:t> или </a:t>
            </a:r>
            <a:r>
              <a:rPr lang="ru-RU" b="1" i="1" dirty="0">
                <a:hlinkClick r:id="rId3">
                  <a:extLst>
                    <a:ext uri="{A12FA001-AC4F-418D-AE19-62706E023703}">
                      <ahyp:hlinkClr xmlns:ahyp="http://schemas.microsoft.com/office/drawing/2018/hyperlinkcolor" val="tx"/>
                    </a:ext>
                  </a:extLst>
                </a:hlinkClick>
              </a:rPr>
              <a:t>сегменты</a:t>
            </a:r>
            <a:r>
              <a:rPr lang="ru-RU" dirty="0"/>
              <a:t> .</a:t>
            </a:r>
            <a:endParaRPr lang="ru-RU" b="1" dirty="0">
              <a:hlinkClick r:id="rId4">
                <a:extLst>
                  <a:ext uri="{A12FA001-AC4F-418D-AE19-62706E023703}">
                    <ahyp:hlinkClr xmlns:ahyp="http://schemas.microsoft.com/office/drawing/2018/hyperlinkcolor" val="tx"/>
                  </a:ext>
                </a:extLst>
              </a:hlinkClick>
            </a:endParaRPr>
          </a:p>
          <a:p>
            <a:pPr marL="0" indent="0">
              <a:buNone/>
            </a:pPr>
            <a:endParaRPr lang="ru-RU" b="1" dirty="0">
              <a:hlinkClick r:id="rId4">
                <a:extLst>
                  <a:ext uri="{A12FA001-AC4F-418D-AE19-62706E023703}">
                    <ahyp:hlinkClr xmlns:ahyp="http://schemas.microsoft.com/office/drawing/2018/hyperlinkcolor" val="tx"/>
                  </a:ext>
                </a:extLst>
              </a:hlinkClick>
            </a:endParaRPr>
          </a:p>
          <a:p>
            <a:pPr marL="0" indent="0">
              <a:buNone/>
            </a:pPr>
            <a:r>
              <a:rPr lang="ru-RU" b="1" dirty="0">
                <a:hlinkClick r:id="rId4">
                  <a:extLst>
                    <a:ext uri="{A12FA001-AC4F-418D-AE19-62706E023703}">
                      <ahyp:hlinkClr xmlns:ahyp="http://schemas.microsoft.com/office/drawing/2018/hyperlinkcolor" val="tx"/>
                    </a:ext>
                  </a:extLst>
                </a:hlinkClick>
              </a:rPr>
              <a:t>Нормализация</a:t>
            </a:r>
            <a:r>
              <a:rPr lang="ru-RU" dirty="0"/>
              <a:t> </a:t>
            </a:r>
            <a:r>
              <a:rPr lang="en-GB" dirty="0"/>
              <a:t>(feature transformation)</a:t>
            </a:r>
            <a:r>
              <a:rPr lang="ru-RU" dirty="0"/>
              <a:t>— преобразование данных в одинаковый масштаб.</a:t>
            </a:r>
          </a:p>
          <a:p>
            <a:pPr marL="0" indent="0">
              <a:buNone/>
            </a:pPr>
            <a:endParaRPr lang="ru-RU" dirty="0"/>
          </a:p>
          <a:p>
            <a:pPr marL="0" indent="0">
              <a:buNone/>
            </a:pPr>
            <a:endParaRPr lang="en-GB" dirty="0"/>
          </a:p>
          <a:p>
            <a:pPr marL="0" indent="0">
              <a:buNone/>
            </a:pPr>
            <a:r>
              <a:rPr lang="ru-RU" dirty="0"/>
              <a:t>Отсечение ненужных признаков</a:t>
            </a:r>
          </a:p>
          <a:p>
            <a:pPr marL="0" indent="0">
              <a:buNone/>
            </a:pPr>
            <a:r>
              <a:rPr lang="ru-RU" dirty="0"/>
              <a:t> (</a:t>
            </a:r>
            <a:r>
              <a:rPr lang="en-GB" dirty="0"/>
              <a:t>feature selection</a:t>
            </a:r>
            <a:r>
              <a:rPr lang="ru-RU" dirty="0"/>
              <a:t>)</a:t>
            </a:r>
          </a:p>
        </p:txBody>
      </p:sp>
      <p:sp>
        <p:nvSpPr>
          <p:cNvPr id="5" name="Rectangle 2">
            <a:extLst>
              <a:ext uri="{FF2B5EF4-FFF2-40B4-BE49-F238E27FC236}">
                <a16:creationId xmlns:a16="http://schemas.microsoft.com/office/drawing/2014/main" id="{8CDB8E79-9C09-DF94-5B4F-B4DEE1651054}"/>
              </a:ext>
            </a:extLst>
          </p:cNvPr>
          <p:cNvSpPr>
            <a:spLocks noChangeArrowheads="1"/>
          </p:cNvSpPr>
          <p:nvPr/>
        </p:nvSpPr>
        <p:spPr bwMode="auto">
          <a:xfrm>
            <a:off x="2611820" y="3665972"/>
            <a:ext cx="704456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ru-RU" altLang="ru-RU" dirty="0">
              <a:latin typeface="Arial" panose="020B0604020202020204" pitchFamily="34" charset="0"/>
            </a:endParaRPr>
          </a:p>
          <a:p>
            <a:pPr lvl="1" eaLnBrk="0" fontAlgn="base" hangingPunct="0">
              <a:spcBef>
                <a:spcPct val="0"/>
              </a:spcBef>
              <a:spcAft>
                <a:spcPct val="0"/>
              </a:spcAft>
            </a:pPr>
            <a:r>
              <a:rPr lang="ru-RU" altLang="ru-RU" dirty="0">
                <a:latin typeface="Arial" panose="020B0604020202020204" pitchFamily="34" charset="0"/>
              </a:rPr>
              <a:t>Признак </a:t>
            </a:r>
            <a:r>
              <a:rPr lang="ru-RU" altLang="ru-RU" sz="2000" dirty="0">
                <a:latin typeface="Times New Roman" panose="02020603050405020304" pitchFamily="18" charset="0"/>
                <a:cs typeface="Times New Roman" panose="02020603050405020304" pitchFamily="18" charset="0"/>
              </a:rPr>
              <a:t>X охватывает диапазон от 154 до 24 917 482.0</a:t>
            </a:r>
          </a:p>
          <a:p>
            <a:pPr defTabSz="914400" eaLnBrk="0" fontAlgn="base" hangingPunct="0">
              <a:spcBef>
                <a:spcPct val="0"/>
              </a:spcBef>
              <a:spcAft>
                <a:spcPct val="0"/>
              </a:spcAft>
            </a:pPr>
            <a:r>
              <a:rPr lang="ru-RU" altLang="ru-RU" dirty="0">
                <a:latin typeface="Arial" panose="020B0604020202020204" pitchFamily="34" charset="0"/>
              </a:rPr>
              <a:t>       Признак </a:t>
            </a:r>
            <a:r>
              <a:rPr lang="ru-RU" altLang="ru-RU" sz="2000" dirty="0">
                <a:latin typeface="Times New Roman" panose="02020603050405020304" pitchFamily="18" charset="0"/>
                <a:cs typeface="Times New Roman" panose="02020603050405020304" pitchFamily="18" charset="0"/>
              </a:rPr>
              <a:t>Y охватывает диапазон от 5 до 22.</a:t>
            </a:r>
          </a:p>
          <a:p>
            <a:pPr defTabSz="914400" eaLnBrk="0" fontAlgn="base" hangingPunct="0">
              <a:spcBef>
                <a:spcPct val="0"/>
              </a:spcBef>
              <a:spcAft>
                <a:spcPct val="0"/>
              </a:spcAft>
            </a:pPr>
            <a:endParaRPr lang="en-GB" altLang="ru-RU" dirty="0">
              <a:latin typeface="Arial" panose="020B0604020202020204" pitchFamily="34" charset="0"/>
            </a:endParaRPr>
          </a:p>
        </p:txBody>
      </p:sp>
    </p:spTree>
    <p:extLst>
      <p:ext uri="{BB962C8B-B14F-4D97-AF65-F5344CB8AC3E}">
        <p14:creationId xmlns:p14="http://schemas.microsoft.com/office/powerpoint/2010/main" val="1577129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83781F-FA29-48E6-B073-18A5D3A62866}"/>
              </a:ext>
            </a:extLst>
          </p:cNvPr>
          <p:cNvSpPr>
            <a:spLocks noGrp="1"/>
          </p:cNvSpPr>
          <p:nvPr>
            <p:ph idx="1"/>
          </p:nvPr>
        </p:nvSpPr>
        <p:spPr>
          <a:xfrm>
            <a:off x="588746" y="1790891"/>
            <a:ext cx="10757034" cy="2403156"/>
          </a:xfrm>
        </p:spPr>
        <p:txBody>
          <a:bodyPr>
            <a:normAutofit/>
          </a:bodyPr>
          <a:lstStyle/>
          <a:p>
            <a:pPr marL="742950" indent="-457200" algn="just">
              <a:buFont typeface="Courier New" panose="02070309020205020404" pitchFamily="49" charset="0"/>
              <a:buChar char="o"/>
            </a:pPr>
            <a:r>
              <a:rPr lang="ru-RU" dirty="0">
                <a:solidFill>
                  <a:schemeClr val="tx1"/>
                </a:solidFill>
              </a:rPr>
              <a:t>Пример: </a:t>
            </a:r>
            <a:r>
              <a:rPr lang="ru-RU" dirty="0" err="1">
                <a:solidFill>
                  <a:schemeClr val="tx1"/>
                </a:solidFill>
              </a:rPr>
              <a:t>датасет</a:t>
            </a:r>
            <a:r>
              <a:rPr lang="ru-RU" dirty="0">
                <a:solidFill>
                  <a:schemeClr val="tx1"/>
                </a:solidFill>
              </a:rPr>
              <a:t>, описывающий вспышки на солнце, зафиксированные </a:t>
            </a:r>
            <a:r>
              <a:rPr lang="en-US" dirty="0">
                <a:solidFill>
                  <a:schemeClr val="tx1"/>
                </a:solidFill>
              </a:rPr>
              <a:t>RHESSI</a:t>
            </a:r>
            <a:endParaRPr lang="ru-RU" dirty="0">
              <a:solidFill>
                <a:schemeClr val="tx1"/>
              </a:solidFill>
            </a:endParaRPr>
          </a:p>
          <a:p>
            <a:pPr marL="742950" indent="-457200" algn="just">
              <a:buFont typeface="Courier New" panose="02070309020205020404" pitchFamily="49" charset="0"/>
              <a:buChar char="o"/>
            </a:pPr>
            <a:r>
              <a:rPr lang="en-US" dirty="0">
                <a:solidFill>
                  <a:schemeClr val="tx1"/>
                </a:solidFill>
                <a:hlinkClick r:id="rId3">
                  <a:extLst>
                    <a:ext uri="{A12FA001-AC4F-418D-AE19-62706E023703}">
                      <ahyp:hlinkClr xmlns:ahyp="http://schemas.microsoft.com/office/drawing/2018/hyperlinkcolor" val="tx"/>
                    </a:ext>
                  </a:extLst>
                </a:hlinkClick>
              </a:rPr>
              <a:t>https://www.kaggle.com/khsamaha/solar-flares-rhessi?select=hessi.solar.flare.2002to2016.csv</a:t>
            </a:r>
            <a:endParaRPr lang="ru-RU" dirty="0">
              <a:solidFill>
                <a:schemeClr val="tx1"/>
              </a:solidFill>
            </a:endParaRPr>
          </a:p>
          <a:p>
            <a:pPr marL="742950" indent="-457200" algn="just">
              <a:buFont typeface="Courier New" panose="02070309020205020404" pitchFamily="49" charset="0"/>
              <a:buChar char="o"/>
            </a:pPr>
            <a:r>
              <a:rPr lang="ru-RU" dirty="0">
                <a:solidFill>
                  <a:schemeClr val="tx1"/>
                </a:solidFill>
              </a:rPr>
              <a:t>Примеры строковых категориальных значений:</a:t>
            </a:r>
          </a:p>
          <a:p>
            <a:pPr marL="742950" indent="-457200" algn="just">
              <a:buFont typeface="Courier New" panose="02070309020205020404" pitchFamily="49" charset="0"/>
              <a:buChar char="o"/>
            </a:pPr>
            <a:endParaRPr lang="ru-BY" sz="2400" dirty="0">
              <a:solidFill>
                <a:schemeClr val="tx1"/>
              </a:solidFill>
            </a:endParaRPr>
          </a:p>
        </p:txBody>
      </p:sp>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normAutofit/>
          </a:bodyPr>
          <a:lstStyle/>
          <a:p>
            <a:r>
              <a:rPr lang="ru-RU" dirty="0">
                <a:solidFill>
                  <a:schemeClr val="tx1"/>
                </a:solidFill>
              </a:rPr>
              <a:t>Категориальные строковые значения</a:t>
            </a:r>
            <a:endParaRPr lang="en-US" dirty="0">
              <a:solidFill>
                <a:schemeClr val="tx1"/>
              </a:solidFill>
            </a:endParaRPr>
          </a:p>
        </p:txBody>
      </p:sp>
      <p:sp>
        <p:nvSpPr>
          <p:cNvPr id="4" name="Rectangle 3">
            <a:extLst>
              <a:ext uri="{FF2B5EF4-FFF2-40B4-BE49-F238E27FC236}">
                <a16:creationId xmlns:a16="http://schemas.microsoft.com/office/drawing/2014/main" id="{7CED6983-9D0B-41BB-ADB7-180D47DF6258}"/>
              </a:ext>
            </a:extLst>
          </p:cNvPr>
          <p:cNvSpPr/>
          <p:nvPr/>
        </p:nvSpPr>
        <p:spPr>
          <a:xfrm>
            <a:off x="1434164" y="5101456"/>
            <a:ext cx="6422457" cy="923330"/>
          </a:xfrm>
          <a:prstGeom prst="rect">
            <a:avLst/>
          </a:prstGeom>
        </p:spPr>
        <p:txBody>
          <a:bodyPr wrap="square">
            <a:spAutoFit/>
          </a:bodyPr>
          <a:lstStyle/>
          <a:p>
            <a:r>
              <a:rPr lang="en-US" dirty="0"/>
              <a:t>ED - Spacecraft eclipse (night) sometime during flare</a:t>
            </a:r>
            <a:br>
              <a:rPr lang="en-US" dirty="0"/>
            </a:br>
            <a:r>
              <a:rPr lang="en-US" dirty="0"/>
              <a:t>EE - Flare ended in spacecraft eclipse (night)</a:t>
            </a:r>
            <a:br>
              <a:rPr lang="en-US" dirty="0"/>
            </a:br>
            <a:r>
              <a:rPr lang="en-US" dirty="0"/>
              <a:t>ES - Flare started in spacecraft eclipse (night)</a:t>
            </a:r>
          </a:p>
        </p:txBody>
      </p:sp>
      <p:sp>
        <p:nvSpPr>
          <p:cNvPr id="5" name="Rectangle 4">
            <a:extLst>
              <a:ext uri="{FF2B5EF4-FFF2-40B4-BE49-F238E27FC236}">
                <a16:creationId xmlns:a16="http://schemas.microsoft.com/office/drawing/2014/main" id="{D16436AF-B75D-451D-8F1F-6E8F274EBC45}"/>
              </a:ext>
            </a:extLst>
          </p:cNvPr>
          <p:cNvSpPr/>
          <p:nvPr/>
        </p:nvSpPr>
        <p:spPr>
          <a:xfrm>
            <a:off x="1434164" y="3815911"/>
            <a:ext cx="7720263" cy="1200329"/>
          </a:xfrm>
          <a:prstGeom prst="rect">
            <a:avLst/>
          </a:prstGeom>
        </p:spPr>
        <p:txBody>
          <a:bodyPr wrap="square">
            <a:spAutoFit/>
          </a:bodyPr>
          <a:lstStyle/>
          <a:p>
            <a:r>
              <a:rPr lang="en-US" dirty="0"/>
              <a:t>a0 - In attenuator state 0 (None) sometime during flare</a:t>
            </a:r>
            <a:br>
              <a:rPr lang="en-US" dirty="0"/>
            </a:br>
            <a:r>
              <a:rPr lang="en-US" dirty="0"/>
              <a:t>a1 - In attenuator state 1 (Thin) sometime during flare</a:t>
            </a:r>
            <a:br>
              <a:rPr lang="en-US" dirty="0"/>
            </a:br>
            <a:r>
              <a:rPr lang="en-US" dirty="0"/>
              <a:t>a2 - In attenuator state 2 (Thick) sometime during flare</a:t>
            </a:r>
            <a:br>
              <a:rPr lang="en-US" dirty="0"/>
            </a:br>
            <a:r>
              <a:rPr lang="en-US" dirty="0"/>
              <a:t>a3 - In attenuator state 3 (Both) sometime during flare</a:t>
            </a:r>
          </a:p>
        </p:txBody>
      </p:sp>
    </p:spTree>
    <p:extLst>
      <p:ext uri="{BB962C8B-B14F-4D97-AF65-F5344CB8AC3E}">
        <p14:creationId xmlns:p14="http://schemas.microsoft.com/office/powerpoint/2010/main" val="1245982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00C7-0803-8A43-A9F3-6FF24BDCB923}"/>
              </a:ext>
            </a:extLst>
          </p:cNvPr>
          <p:cNvSpPr>
            <a:spLocks noGrp="1"/>
          </p:cNvSpPr>
          <p:nvPr>
            <p:ph type="title"/>
          </p:nvPr>
        </p:nvSpPr>
        <p:spPr/>
        <p:txBody>
          <a:bodyPr>
            <a:normAutofit/>
          </a:bodyPr>
          <a:lstStyle/>
          <a:p>
            <a:r>
              <a:rPr lang="ru-RU" sz="5400" dirty="0"/>
              <a:t>ОБРАБОТКА СЛОВ ОТНОСИТЕЛЬНО КОРПУСА</a:t>
            </a:r>
            <a:endParaRPr lang="en-US" sz="5400" dirty="0"/>
          </a:p>
        </p:txBody>
      </p:sp>
      <p:sp>
        <p:nvSpPr>
          <p:cNvPr id="5" name="Text Placeholder 4">
            <a:extLst>
              <a:ext uri="{FF2B5EF4-FFF2-40B4-BE49-F238E27FC236}">
                <a16:creationId xmlns:a16="http://schemas.microsoft.com/office/drawing/2014/main" id="{B389A574-F452-49EE-9B41-B6208C501ED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73889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914B99-043D-47AE-8505-E64AE31B244D}"/>
              </a:ext>
            </a:extLst>
          </p:cNvPr>
          <p:cNvSpPr>
            <a:spLocks noGrp="1"/>
          </p:cNvSpPr>
          <p:nvPr>
            <p:ph idx="1"/>
          </p:nvPr>
        </p:nvSpPr>
        <p:spPr/>
        <p:txBody>
          <a:bodyPr/>
          <a:lstStyle/>
          <a:p>
            <a:r>
              <a:rPr lang="ru-RU" b="1" dirty="0"/>
              <a:t>Терм</a:t>
            </a:r>
            <a:r>
              <a:rPr lang="ru-RU" dirty="0"/>
              <a:t> – отдельное слово (как правило, прошедшее предобработку – </a:t>
            </a:r>
            <a:r>
              <a:rPr lang="ru-RU" dirty="0" err="1"/>
              <a:t>стемминг</a:t>
            </a:r>
            <a:r>
              <a:rPr lang="ru-RU" dirty="0"/>
              <a:t> и/или </a:t>
            </a:r>
            <a:r>
              <a:rPr lang="ru-RU" dirty="0" err="1"/>
              <a:t>лемматизацию</a:t>
            </a:r>
            <a:r>
              <a:rPr lang="ru-RU" dirty="0"/>
              <a:t>), которое может встречаться в анализируемых текстах;</a:t>
            </a:r>
          </a:p>
          <a:p>
            <a:r>
              <a:rPr lang="ru-RU" b="1" dirty="0"/>
              <a:t>Документ</a:t>
            </a:r>
            <a:r>
              <a:rPr lang="ru-RU" dirty="0"/>
              <a:t> – текст, воспринимаемый как отдельная единица в данной задаче (например, пост в </a:t>
            </a:r>
            <a:r>
              <a:rPr lang="ru-RU" dirty="0" err="1"/>
              <a:t>твиттере</a:t>
            </a:r>
            <a:r>
              <a:rPr lang="ru-RU" dirty="0"/>
              <a:t>, комментарий, отзыв на продукт, </a:t>
            </a:r>
            <a:r>
              <a:rPr lang="en-US" dirty="0"/>
              <a:t>e-mail </a:t>
            </a:r>
            <a:r>
              <a:rPr lang="ru-RU" dirty="0"/>
              <a:t>сообщение и т.д.);</a:t>
            </a:r>
          </a:p>
          <a:p>
            <a:r>
              <a:rPr lang="ru-RU" b="1" dirty="0"/>
              <a:t>Корпус </a:t>
            </a:r>
            <a:r>
              <a:rPr lang="ru-RU" dirty="0"/>
              <a:t>– набор документов, потенциально объединенных некоторой тематикой</a:t>
            </a:r>
            <a:endParaRPr lang="en-US" dirty="0"/>
          </a:p>
          <a:p>
            <a:endParaRPr lang="LID4096" b="1" dirty="0"/>
          </a:p>
        </p:txBody>
      </p:sp>
      <p:sp>
        <p:nvSpPr>
          <p:cNvPr id="3" name="Title 2">
            <a:extLst>
              <a:ext uri="{FF2B5EF4-FFF2-40B4-BE49-F238E27FC236}">
                <a16:creationId xmlns:a16="http://schemas.microsoft.com/office/drawing/2014/main" id="{81EC3D0D-6766-4A41-8EA4-F851A22699EB}"/>
              </a:ext>
            </a:extLst>
          </p:cNvPr>
          <p:cNvSpPr>
            <a:spLocks noGrp="1"/>
          </p:cNvSpPr>
          <p:nvPr>
            <p:ph type="title"/>
          </p:nvPr>
        </p:nvSpPr>
        <p:spPr/>
        <p:txBody>
          <a:bodyPr/>
          <a:lstStyle/>
          <a:p>
            <a:r>
              <a:rPr lang="ru-RU" dirty="0"/>
              <a:t>ТЕРМЫ, ДОКУМЕНТЫ И КОРПУСЫ</a:t>
            </a:r>
            <a:endParaRPr lang="LID4096" dirty="0"/>
          </a:p>
        </p:txBody>
      </p:sp>
    </p:spTree>
    <p:extLst>
      <p:ext uri="{BB962C8B-B14F-4D97-AF65-F5344CB8AC3E}">
        <p14:creationId xmlns:p14="http://schemas.microsoft.com/office/powerpoint/2010/main" val="1552594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83781F-FA29-48E6-B073-18A5D3A62866}"/>
              </a:ext>
            </a:extLst>
          </p:cNvPr>
          <p:cNvSpPr>
            <a:spLocks noGrp="1"/>
          </p:cNvSpPr>
          <p:nvPr>
            <p:ph idx="1"/>
          </p:nvPr>
        </p:nvSpPr>
        <p:spPr>
          <a:xfrm>
            <a:off x="588745" y="1790891"/>
            <a:ext cx="11014509" cy="464629"/>
          </a:xfrm>
        </p:spPr>
        <p:txBody>
          <a:bodyPr>
            <a:normAutofit/>
          </a:bodyPr>
          <a:lstStyle/>
          <a:p>
            <a:pPr marL="285750" indent="0" algn="just">
              <a:buNone/>
            </a:pPr>
            <a:r>
              <a:rPr lang="ru-RU" sz="2400" dirty="0"/>
              <a:t>Создание отдельного словаря</a:t>
            </a:r>
            <a:endParaRPr lang="ru-BY" sz="2400" dirty="0"/>
          </a:p>
        </p:txBody>
      </p:sp>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normAutofit/>
          </a:bodyPr>
          <a:lstStyle/>
          <a:p>
            <a:r>
              <a:rPr lang="ru-RU" dirty="0"/>
              <a:t>Векторизация: словарь</a:t>
            </a:r>
            <a:endParaRPr lang="en-US" dirty="0"/>
          </a:p>
        </p:txBody>
      </p:sp>
      <p:sp>
        <p:nvSpPr>
          <p:cNvPr id="4" name="TextBox 3">
            <a:extLst>
              <a:ext uri="{FF2B5EF4-FFF2-40B4-BE49-F238E27FC236}">
                <a16:creationId xmlns:a16="http://schemas.microsoft.com/office/drawing/2014/main" id="{5BA329AD-B8D9-4B79-9D0C-FEE4DF768C43}"/>
              </a:ext>
            </a:extLst>
          </p:cNvPr>
          <p:cNvSpPr txBox="1"/>
          <p:nvPr/>
        </p:nvSpPr>
        <p:spPr>
          <a:xfrm>
            <a:off x="1332457" y="3572256"/>
            <a:ext cx="2069111" cy="1200329"/>
          </a:xfrm>
          <a:prstGeom prst="rect">
            <a:avLst/>
          </a:prstGeom>
          <a:noFill/>
        </p:spPr>
        <p:txBody>
          <a:bodyPr wrap="square" rtlCol="0">
            <a:spAutoFit/>
          </a:bodyPr>
          <a:lstStyle/>
          <a:p>
            <a:r>
              <a:rPr lang="ru-RU" dirty="0"/>
              <a:t>Академия </a:t>
            </a:r>
            <a:br>
              <a:rPr lang="ru-RU" dirty="0"/>
            </a:br>
            <a:r>
              <a:rPr lang="ru-RU" dirty="0"/>
              <a:t>национальной </a:t>
            </a:r>
            <a:br>
              <a:rPr lang="ru-RU" dirty="0"/>
            </a:br>
            <a:r>
              <a:rPr lang="ru-RU" dirty="0"/>
              <a:t>безопасности</a:t>
            </a:r>
            <a:br>
              <a:rPr lang="ru-RU" dirty="0"/>
            </a:br>
            <a:r>
              <a:rPr lang="ru-RU" dirty="0"/>
              <a:t>и пчеловодства</a:t>
            </a:r>
            <a:endParaRPr lang="en-US" dirty="0"/>
          </a:p>
        </p:txBody>
      </p:sp>
      <p:sp>
        <p:nvSpPr>
          <p:cNvPr id="5" name="Arrow: Right 4">
            <a:extLst>
              <a:ext uri="{FF2B5EF4-FFF2-40B4-BE49-F238E27FC236}">
                <a16:creationId xmlns:a16="http://schemas.microsoft.com/office/drawing/2014/main" id="{3DC5700F-D55A-40E4-9D00-88C65859BB08}"/>
              </a:ext>
            </a:extLst>
          </p:cNvPr>
          <p:cNvSpPr/>
          <p:nvPr/>
        </p:nvSpPr>
        <p:spPr>
          <a:xfrm>
            <a:off x="3401568" y="4039122"/>
            <a:ext cx="573024" cy="341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8B34DDF-C412-450A-9BA8-7375F7AC3F60}"/>
              </a:ext>
            </a:extLst>
          </p:cNvPr>
          <p:cNvSpPr txBox="1"/>
          <p:nvPr/>
        </p:nvSpPr>
        <p:spPr>
          <a:xfrm>
            <a:off x="4206239" y="3849254"/>
            <a:ext cx="1837463" cy="646331"/>
          </a:xfrm>
          <a:prstGeom prst="rect">
            <a:avLst/>
          </a:prstGeom>
          <a:noFill/>
        </p:spPr>
        <p:txBody>
          <a:bodyPr wrap="square" rtlCol="0">
            <a:spAutoFit/>
          </a:bodyPr>
          <a:lstStyle/>
          <a:p>
            <a:r>
              <a:rPr lang="ru-RU" dirty="0"/>
              <a:t>Используется всего 5 слов</a:t>
            </a:r>
            <a:endParaRPr lang="en-US" dirty="0"/>
          </a:p>
        </p:txBody>
      </p:sp>
      <p:sp>
        <p:nvSpPr>
          <p:cNvPr id="7" name="Arrow: Right 6">
            <a:extLst>
              <a:ext uri="{FF2B5EF4-FFF2-40B4-BE49-F238E27FC236}">
                <a16:creationId xmlns:a16="http://schemas.microsoft.com/office/drawing/2014/main" id="{209EDEB5-B846-41E9-BDD8-4F774CFFE8E4}"/>
              </a:ext>
            </a:extLst>
          </p:cNvPr>
          <p:cNvSpPr/>
          <p:nvPr/>
        </p:nvSpPr>
        <p:spPr>
          <a:xfrm rot="19660027">
            <a:off x="6219819" y="3672839"/>
            <a:ext cx="573024" cy="341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16872BFE-26F6-46B8-B944-2B3F07DB05A5}"/>
              </a:ext>
            </a:extLst>
          </p:cNvPr>
          <p:cNvSpPr/>
          <p:nvPr/>
        </p:nvSpPr>
        <p:spPr>
          <a:xfrm rot="1221271">
            <a:off x="6233869" y="4338140"/>
            <a:ext cx="573024" cy="341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D1084CF-BADC-4744-9772-3EF211FD1651}"/>
              </a:ext>
            </a:extLst>
          </p:cNvPr>
          <p:cNvSpPr txBox="1"/>
          <p:nvPr/>
        </p:nvSpPr>
        <p:spPr>
          <a:xfrm>
            <a:off x="6968960" y="2564841"/>
            <a:ext cx="2794266"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ru-RU" dirty="0">
                <a:solidFill>
                  <a:srgbClr val="FF0000"/>
                </a:solidFill>
              </a:rPr>
              <a:t>000</a:t>
            </a:r>
            <a:r>
              <a:rPr lang="ru-RU" dirty="0"/>
              <a:t> академия</a:t>
            </a:r>
          </a:p>
          <a:p>
            <a:r>
              <a:rPr lang="ru-RU" dirty="0">
                <a:solidFill>
                  <a:srgbClr val="FF0000"/>
                </a:solidFill>
              </a:rPr>
              <a:t>001</a:t>
            </a:r>
            <a:r>
              <a:rPr lang="ru-RU" dirty="0"/>
              <a:t> национальной</a:t>
            </a:r>
          </a:p>
          <a:p>
            <a:r>
              <a:rPr lang="ru-RU" dirty="0">
                <a:solidFill>
                  <a:srgbClr val="FF0000"/>
                </a:solidFill>
              </a:rPr>
              <a:t>010</a:t>
            </a:r>
            <a:r>
              <a:rPr lang="ru-RU" dirty="0"/>
              <a:t> безопасности</a:t>
            </a:r>
          </a:p>
          <a:p>
            <a:r>
              <a:rPr lang="ru-RU" dirty="0">
                <a:solidFill>
                  <a:srgbClr val="FF0000"/>
                </a:solidFill>
              </a:rPr>
              <a:t>011</a:t>
            </a:r>
            <a:r>
              <a:rPr lang="ru-RU" dirty="0"/>
              <a:t> и</a:t>
            </a:r>
          </a:p>
          <a:p>
            <a:r>
              <a:rPr lang="ru-RU" dirty="0">
                <a:solidFill>
                  <a:srgbClr val="FF0000"/>
                </a:solidFill>
              </a:rPr>
              <a:t>100</a:t>
            </a:r>
            <a:r>
              <a:rPr lang="ru-RU" dirty="0"/>
              <a:t> пчеловодства</a:t>
            </a:r>
            <a:endParaRPr lang="en-US" dirty="0"/>
          </a:p>
        </p:txBody>
      </p:sp>
      <p:sp>
        <p:nvSpPr>
          <p:cNvPr id="17" name="TextBox 16">
            <a:extLst>
              <a:ext uri="{FF2B5EF4-FFF2-40B4-BE49-F238E27FC236}">
                <a16:creationId xmlns:a16="http://schemas.microsoft.com/office/drawing/2014/main" id="{FAA319D6-0779-4D75-B74B-BAB43982C774}"/>
              </a:ext>
            </a:extLst>
          </p:cNvPr>
          <p:cNvSpPr txBox="1"/>
          <p:nvPr/>
        </p:nvSpPr>
        <p:spPr>
          <a:xfrm>
            <a:off x="6997060" y="4249141"/>
            <a:ext cx="2766166"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ru-RU" dirty="0">
                <a:solidFill>
                  <a:srgbClr val="FF0000"/>
                </a:solidFill>
              </a:rPr>
              <a:t>10000</a:t>
            </a:r>
            <a:r>
              <a:rPr lang="ru-RU" dirty="0"/>
              <a:t> академия</a:t>
            </a:r>
          </a:p>
          <a:p>
            <a:r>
              <a:rPr lang="ru-RU" dirty="0">
                <a:solidFill>
                  <a:srgbClr val="FF0000"/>
                </a:solidFill>
              </a:rPr>
              <a:t>01000</a:t>
            </a:r>
            <a:r>
              <a:rPr lang="ru-RU" dirty="0"/>
              <a:t> национальной</a:t>
            </a:r>
          </a:p>
          <a:p>
            <a:r>
              <a:rPr lang="ru-RU" dirty="0">
                <a:solidFill>
                  <a:srgbClr val="FF0000"/>
                </a:solidFill>
              </a:rPr>
              <a:t>00100</a:t>
            </a:r>
            <a:r>
              <a:rPr lang="ru-RU" dirty="0"/>
              <a:t> безопасности</a:t>
            </a:r>
          </a:p>
          <a:p>
            <a:r>
              <a:rPr lang="ru-RU" dirty="0">
                <a:solidFill>
                  <a:srgbClr val="FF0000"/>
                </a:solidFill>
              </a:rPr>
              <a:t>00010</a:t>
            </a:r>
            <a:r>
              <a:rPr lang="ru-RU" dirty="0"/>
              <a:t> и</a:t>
            </a:r>
          </a:p>
          <a:p>
            <a:r>
              <a:rPr lang="ru-RU" dirty="0">
                <a:solidFill>
                  <a:srgbClr val="FF0000"/>
                </a:solidFill>
              </a:rPr>
              <a:t>00001</a:t>
            </a:r>
            <a:r>
              <a:rPr lang="ru-RU" dirty="0"/>
              <a:t> пчеловодства</a:t>
            </a:r>
            <a:endParaRPr lang="en-US" dirty="0"/>
          </a:p>
        </p:txBody>
      </p:sp>
      <p:sp>
        <p:nvSpPr>
          <p:cNvPr id="18" name="TextBox 17">
            <a:extLst>
              <a:ext uri="{FF2B5EF4-FFF2-40B4-BE49-F238E27FC236}">
                <a16:creationId xmlns:a16="http://schemas.microsoft.com/office/drawing/2014/main" id="{7F6CED21-7BDC-4B64-B4AC-68A694707A41}"/>
              </a:ext>
            </a:extLst>
          </p:cNvPr>
          <p:cNvSpPr txBox="1"/>
          <p:nvPr/>
        </p:nvSpPr>
        <p:spPr>
          <a:xfrm>
            <a:off x="8107680" y="2157984"/>
            <a:ext cx="3304032" cy="369332"/>
          </a:xfrm>
          <a:prstGeom prst="rect">
            <a:avLst/>
          </a:prstGeom>
          <a:noFill/>
        </p:spPr>
        <p:txBody>
          <a:bodyPr wrap="square" rtlCol="0">
            <a:spAutoFit/>
          </a:bodyPr>
          <a:lstStyle/>
          <a:p>
            <a:r>
              <a:rPr lang="ru-RU" dirty="0">
                <a:solidFill>
                  <a:schemeClr val="accent2">
                    <a:lumMod val="50000"/>
                  </a:schemeClr>
                </a:solidFill>
              </a:rPr>
              <a:t>бинарное кодирование</a:t>
            </a:r>
            <a:endParaRPr lang="en-US" dirty="0">
              <a:solidFill>
                <a:schemeClr val="accent2">
                  <a:lumMod val="50000"/>
                </a:schemeClr>
              </a:solidFill>
            </a:endParaRPr>
          </a:p>
        </p:txBody>
      </p:sp>
      <p:sp>
        <p:nvSpPr>
          <p:cNvPr id="20" name="TextBox 19">
            <a:extLst>
              <a:ext uri="{FF2B5EF4-FFF2-40B4-BE49-F238E27FC236}">
                <a16:creationId xmlns:a16="http://schemas.microsoft.com/office/drawing/2014/main" id="{8AC3C0BA-9E42-4314-94DC-3EE6AC794EFA}"/>
              </a:ext>
            </a:extLst>
          </p:cNvPr>
          <p:cNvSpPr txBox="1"/>
          <p:nvPr/>
        </p:nvSpPr>
        <p:spPr>
          <a:xfrm>
            <a:off x="8107680" y="5748775"/>
            <a:ext cx="3304032" cy="369332"/>
          </a:xfrm>
          <a:prstGeom prst="rect">
            <a:avLst/>
          </a:prstGeom>
          <a:noFill/>
        </p:spPr>
        <p:txBody>
          <a:bodyPr wrap="square" rtlCol="0">
            <a:spAutoFit/>
          </a:bodyPr>
          <a:lstStyle/>
          <a:p>
            <a:r>
              <a:rPr lang="ru-RU" dirty="0">
                <a:solidFill>
                  <a:schemeClr val="accent2">
                    <a:lumMod val="50000"/>
                  </a:schemeClr>
                </a:solidFill>
              </a:rPr>
              <a:t>«</a:t>
            </a:r>
            <a:r>
              <a:rPr lang="en-US" dirty="0">
                <a:solidFill>
                  <a:schemeClr val="accent2">
                    <a:lumMod val="50000"/>
                  </a:schemeClr>
                </a:solidFill>
              </a:rPr>
              <a:t>one-hot</a:t>
            </a:r>
            <a:r>
              <a:rPr lang="ru-RU" dirty="0">
                <a:solidFill>
                  <a:schemeClr val="accent2">
                    <a:lumMod val="50000"/>
                  </a:schemeClr>
                </a:solidFill>
              </a:rPr>
              <a:t>» представление</a:t>
            </a:r>
            <a:endParaRPr lang="en-US" dirty="0">
              <a:solidFill>
                <a:schemeClr val="accent2">
                  <a:lumMod val="50000"/>
                </a:schemeClr>
              </a:solidFill>
            </a:endParaRPr>
          </a:p>
        </p:txBody>
      </p:sp>
    </p:spTree>
    <p:extLst>
      <p:ext uri="{BB962C8B-B14F-4D97-AF65-F5344CB8AC3E}">
        <p14:creationId xmlns:p14="http://schemas.microsoft.com/office/powerpoint/2010/main" val="916735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a:xfrm>
            <a:off x="1097280" y="421817"/>
            <a:ext cx="10748356" cy="1369074"/>
          </a:xfrm>
        </p:spPr>
        <p:txBody>
          <a:bodyPr>
            <a:normAutofit/>
          </a:bodyPr>
          <a:lstStyle/>
          <a:p>
            <a:r>
              <a:rPr lang="ru-RU" dirty="0"/>
              <a:t>Векторизация: Сумка слов (</a:t>
            </a:r>
            <a:r>
              <a:rPr lang="en-US" dirty="0"/>
              <a:t>Bag of Words)</a:t>
            </a:r>
          </a:p>
        </p:txBody>
      </p:sp>
      <p:grpSp>
        <p:nvGrpSpPr>
          <p:cNvPr id="9" name="Group 8">
            <a:extLst>
              <a:ext uri="{FF2B5EF4-FFF2-40B4-BE49-F238E27FC236}">
                <a16:creationId xmlns:a16="http://schemas.microsoft.com/office/drawing/2014/main" id="{CABE7CDC-FCDA-4D3E-8AF2-898583BC0D97}"/>
              </a:ext>
            </a:extLst>
          </p:cNvPr>
          <p:cNvGrpSpPr/>
          <p:nvPr/>
        </p:nvGrpSpPr>
        <p:grpSpPr>
          <a:xfrm>
            <a:off x="732160" y="1593430"/>
            <a:ext cx="5597387" cy="4338492"/>
            <a:chOff x="2462784" y="2535935"/>
            <a:chExt cx="5250680" cy="3900247"/>
          </a:xfrm>
        </p:grpSpPr>
        <p:pic>
          <p:nvPicPr>
            <p:cNvPr id="7" name="Picture 6">
              <a:extLst>
                <a:ext uri="{FF2B5EF4-FFF2-40B4-BE49-F238E27FC236}">
                  <a16:creationId xmlns:a16="http://schemas.microsoft.com/office/drawing/2014/main" id="{E9B24722-39F2-496B-8404-5FBDB2089F84}"/>
                </a:ext>
              </a:extLst>
            </p:cNvPr>
            <p:cNvPicPr>
              <a:picLocks noChangeAspect="1"/>
            </p:cNvPicPr>
            <p:nvPr/>
          </p:nvPicPr>
          <p:blipFill rotWithShape="1">
            <a:blip r:embed="rId3"/>
            <a:srcRect t="2378" r="21743"/>
            <a:stretch/>
          </p:blipFill>
          <p:spPr>
            <a:xfrm>
              <a:off x="2462784" y="2535935"/>
              <a:ext cx="5250680" cy="3900247"/>
            </a:xfrm>
            <a:prstGeom prst="rect">
              <a:avLst/>
            </a:prstGeom>
          </p:spPr>
        </p:pic>
        <p:sp>
          <p:nvSpPr>
            <p:cNvPr id="8" name="Rectangle 7">
              <a:extLst>
                <a:ext uri="{FF2B5EF4-FFF2-40B4-BE49-F238E27FC236}">
                  <a16:creationId xmlns:a16="http://schemas.microsoft.com/office/drawing/2014/main" id="{FBF84015-3A98-4DDB-9BFD-262457F7CF5D}"/>
                </a:ext>
              </a:extLst>
            </p:cNvPr>
            <p:cNvSpPr/>
            <p:nvPr/>
          </p:nvSpPr>
          <p:spPr>
            <a:xfrm>
              <a:off x="2560320" y="2535936"/>
              <a:ext cx="2023872" cy="219456"/>
            </a:xfrm>
            <a:prstGeom prst="rect">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aphicFrame>
        <p:nvGraphicFramePr>
          <p:cNvPr id="3" name="Таблица 2">
            <a:extLst>
              <a:ext uri="{FF2B5EF4-FFF2-40B4-BE49-F238E27FC236}">
                <a16:creationId xmlns:a16="http://schemas.microsoft.com/office/drawing/2014/main" id="{5A55CDBD-6E57-6689-3E4E-D8BC5A54E29D}"/>
              </a:ext>
            </a:extLst>
          </p:cNvPr>
          <p:cNvGraphicFramePr>
            <a:graphicFrameLocks noGrp="1"/>
          </p:cNvGraphicFramePr>
          <p:nvPr>
            <p:extLst>
              <p:ext uri="{D42A27DB-BD31-4B8C-83A1-F6EECF244321}">
                <p14:modId xmlns:p14="http://schemas.microsoft.com/office/powerpoint/2010/main" val="2625149560"/>
              </p:ext>
            </p:extLst>
          </p:nvPr>
        </p:nvGraphicFramePr>
        <p:xfrm>
          <a:off x="6124368" y="2220824"/>
          <a:ext cx="5721268" cy="741680"/>
        </p:xfrm>
        <a:graphic>
          <a:graphicData uri="http://schemas.openxmlformats.org/drawingml/2006/table">
            <a:tbl>
              <a:tblPr firstRow="1" bandRow="1">
                <a:tableStyleId>{5C22544A-7EE6-4342-B048-85BDC9FD1C3A}</a:tableStyleId>
              </a:tblPr>
              <a:tblGrid>
                <a:gridCol w="1430317">
                  <a:extLst>
                    <a:ext uri="{9D8B030D-6E8A-4147-A177-3AD203B41FA5}">
                      <a16:colId xmlns:a16="http://schemas.microsoft.com/office/drawing/2014/main" val="460248789"/>
                    </a:ext>
                  </a:extLst>
                </a:gridCol>
                <a:gridCol w="1430317">
                  <a:extLst>
                    <a:ext uri="{9D8B030D-6E8A-4147-A177-3AD203B41FA5}">
                      <a16:colId xmlns:a16="http://schemas.microsoft.com/office/drawing/2014/main" val="2166048978"/>
                    </a:ext>
                  </a:extLst>
                </a:gridCol>
                <a:gridCol w="1430317">
                  <a:extLst>
                    <a:ext uri="{9D8B030D-6E8A-4147-A177-3AD203B41FA5}">
                      <a16:colId xmlns:a16="http://schemas.microsoft.com/office/drawing/2014/main" val="231094774"/>
                    </a:ext>
                  </a:extLst>
                </a:gridCol>
                <a:gridCol w="1430317">
                  <a:extLst>
                    <a:ext uri="{9D8B030D-6E8A-4147-A177-3AD203B41FA5}">
                      <a16:colId xmlns:a16="http://schemas.microsoft.com/office/drawing/2014/main" val="4160653038"/>
                    </a:ext>
                  </a:extLst>
                </a:gridCol>
              </a:tblGrid>
              <a:tr h="370840">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a:p>
                  </a:txBody>
                  <a:tcPr/>
                </a:tc>
                <a:extLst>
                  <a:ext uri="{0D108BD9-81ED-4DB2-BD59-A6C34878D82A}">
                    <a16:rowId xmlns:a16="http://schemas.microsoft.com/office/drawing/2014/main" val="2084520401"/>
                  </a:ext>
                </a:extLst>
              </a:tr>
              <a:tr h="370840">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dirty="0"/>
                    </a:p>
                  </a:txBody>
                  <a:tcPr/>
                </a:tc>
                <a:extLst>
                  <a:ext uri="{0D108BD9-81ED-4DB2-BD59-A6C34878D82A}">
                    <a16:rowId xmlns:a16="http://schemas.microsoft.com/office/drawing/2014/main" val="731580253"/>
                  </a:ext>
                </a:extLst>
              </a:tr>
            </a:tbl>
          </a:graphicData>
        </a:graphic>
      </p:graphicFrame>
    </p:spTree>
    <p:extLst>
      <p:ext uri="{BB962C8B-B14F-4D97-AF65-F5344CB8AC3E}">
        <p14:creationId xmlns:p14="http://schemas.microsoft.com/office/powerpoint/2010/main" val="1899173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ontent Placeholder 1">
                <a:extLst>
                  <a:ext uri="{FF2B5EF4-FFF2-40B4-BE49-F238E27FC236}">
                    <a16:creationId xmlns:a16="http://schemas.microsoft.com/office/drawing/2014/main" id="{57630859-9D41-497B-92A6-BF53AB087E59}"/>
                  </a:ext>
                </a:extLst>
              </p:cNvPr>
              <p:cNvSpPr>
                <a:spLocks noGrp="1"/>
              </p:cNvSpPr>
              <p:nvPr>
                <p:ph idx="1"/>
              </p:nvPr>
            </p:nvSpPr>
            <p:spPr>
              <a:xfrm>
                <a:off x="1097280" y="1440873"/>
                <a:ext cx="10058400" cy="5112327"/>
              </a:xfrm>
            </p:spPr>
            <p:txBody>
              <a:bodyPr>
                <a:normAutofit/>
              </a:bodyPr>
              <a:lstStyle/>
              <a:p>
                <a:r>
                  <a:rPr lang="ru-RU" dirty="0"/>
                  <a:t>Количество вхождений терма в матрице </a:t>
                </a:r>
                <a14:m>
                  <m:oMath xmlns:m="http://schemas.openxmlformats.org/officeDocument/2006/math">
                    <m:r>
                      <a:rPr lang="en-US" b="0" i="1" smtClean="0">
                        <a:latin typeface="Cambria Math" panose="02040503050406030204" pitchFamily="18" charset="0"/>
                      </a:rPr>
                      <m:t>𝑋</m:t>
                    </m:r>
                  </m:oMath>
                </a14:m>
                <a:r>
                  <a:rPr lang="en-US" dirty="0"/>
                  <a:t> </a:t>
                </a:r>
                <a:r>
                  <a:rPr lang="ru-RU" dirty="0"/>
                  <a:t>не является адекватной мерой «важности» этого терма, т.к. оно не учитывает глобальную частоту его появления</a:t>
                </a:r>
              </a:p>
              <a:p>
                <a:r>
                  <a:rPr lang="ru-RU" dirty="0"/>
                  <a:t>Для нормализации матрицы документ-терм каждый терм можно </a:t>
                </a:r>
                <a:r>
                  <a:rPr lang="ru-RU" dirty="0" err="1"/>
                  <a:t>пронормировать</a:t>
                </a:r>
                <a:r>
                  <a:rPr lang="ru-RU" dirty="0"/>
                  <a:t> на общее количество вхождений этого терма по всему корпусу</a:t>
                </a:r>
              </a:p>
              <a:p>
                <a:pPr marL="628650" indent="-342900" algn="just">
                  <a:buFont typeface="Courier New" panose="02070309020205020404" pitchFamily="49" charset="0"/>
                  <a:buChar char="o"/>
                </a:pPr>
                <a:r>
                  <a:rPr lang="ru-RU" dirty="0"/>
                  <a:t>TF (</a:t>
                </a:r>
                <a:r>
                  <a:rPr lang="ru-RU" dirty="0" err="1"/>
                  <a:t>term</a:t>
                </a:r>
                <a:r>
                  <a:rPr lang="ru-RU" dirty="0"/>
                  <a:t> </a:t>
                </a:r>
                <a:r>
                  <a:rPr lang="ru-RU" dirty="0" err="1"/>
                  <a:t>frequency</a:t>
                </a:r>
                <a:r>
                  <a:rPr lang="ru-RU" dirty="0"/>
                  <a:t> — частота слова) – частота слова в каждом документе относительно количества всех слов в этом документе.</a:t>
                </a:r>
              </a:p>
              <a:p>
                <a:pPr marL="628650" indent="-342900" algn="just">
                  <a:buFont typeface="Courier New" panose="02070309020205020404" pitchFamily="49" charset="0"/>
                  <a:buChar char="o"/>
                </a:pPr>
                <a:r>
                  <a:rPr lang="ru-RU" dirty="0"/>
                  <a:t>IDF (</a:t>
                </a:r>
                <a:r>
                  <a:rPr lang="ru-RU" dirty="0" err="1"/>
                  <a:t>inverse</a:t>
                </a:r>
                <a:r>
                  <a:rPr lang="ru-RU" dirty="0"/>
                  <a:t> </a:t>
                </a:r>
                <a:r>
                  <a:rPr lang="ru-RU" dirty="0" err="1"/>
                  <a:t>document</a:t>
                </a:r>
                <a:r>
                  <a:rPr lang="ru-RU" dirty="0"/>
                  <a:t> </a:t>
                </a:r>
                <a:r>
                  <a:rPr lang="ru-RU" dirty="0" err="1"/>
                  <a:t>frequency</a:t>
                </a:r>
                <a:r>
                  <a:rPr lang="ru-RU" dirty="0"/>
                  <a:t> — обратная частота документа) – логарифм доли документов, в которых это слово встречается хотя бы раз. Логарифм используется для </a:t>
                </a:r>
                <a:r>
                  <a:rPr lang="ru-RU" dirty="0" err="1"/>
                  <a:t>инвертации</a:t>
                </a:r>
                <a:r>
                  <a:rPr lang="ru-RU" dirty="0"/>
                  <a:t> логики ¬ если слово встречается в каждом документе, то скорее оно не очень информативно.</a:t>
                </a:r>
              </a:p>
              <a:p>
                <a:pPr marL="628650" indent="-342900" algn="just">
                  <a:buFont typeface="Courier New" panose="02070309020205020404" pitchFamily="49" charset="0"/>
                  <a:buChar char="o"/>
                </a:pPr>
                <a:r>
                  <a:rPr lang="ru-RU" dirty="0"/>
                  <a:t>TFI-DF – произведение метрик TF и IDF. Определяется для слова, документа и набора документов.</a:t>
                </a:r>
                <a:endParaRPr lang="en-US" dirty="0"/>
              </a:p>
              <a:p>
                <a:pPr marL="628650" indent="-342900" algn="just">
                  <a:buFont typeface="Courier New" panose="02070309020205020404" pitchFamily="49" charset="0"/>
                  <a:buChar char="o"/>
                </a:pPr>
                <a:r>
                  <a:rPr lang="ru-RU" dirty="0"/>
                  <a:t>Помимо частоты могут также использоваться логарифм частоты и нормирование на максимум</a:t>
                </a:r>
              </a:p>
              <a:p>
                <a:endParaRPr lang="ru-RU" dirty="0"/>
              </a:p>
            </p:txBody>
          </p:sp>
        </mc:Choice>
        <mc:Fallback xmlns="">
          <p:sp>
            <p:nvSpPr>
              <p:cNvPr id="6" name="Content Placeholder 1">
                <a:extLst>
                  <a:ext uri="{FF2B5EF4-FFF2-40B4-BE49-F238E27FC236}">
                    <a16:creationId xmlns:a16="http://schemas.microsoft.com/office/drawing/2014/main" id="{57630859-9D41-497B-92A6-BF53AB087E59}"/>
                  </a:ext>
                </a:extLst>
              </p:cNvPr>
              <p:cNvSpPr>
                <a:spLocks noGrp="1" noRot="1" noChangeAspect="1" noMove="1" noResize="1" noEditPoints="1" noAdjustHandles="1" noChangeArrowheads="1" noChangeShapeType="1" noTextEdit="1"/>
              </p:cNvSpPr>
              <p:nvPr>
                <p:ph idx="1"/>
              </p:nvPr>
            </p:nvSpPr>
            <p:spPr>
              <a:xfrm>
                <a:off x="1097280" y="1440873"/>
                <a:ext cx="10058400" cy="5112327"/>
              </a:xfrm>
              <a:blipFill>
                <a:blip r:embed="rId2"/>
                <a:stretch>
                  <a:fillRect l="-606" t="-1192" r="-1939"/>
                </a:stretch>
              </a:blipFill>
            </p:spPr>
            <p:txBody>
              <a:bodyPr/>
              <a:lstStyle/>
              <a:p>
                <a:r>
                  <a:rPr lang="ru-RU">
                    <a:noFill/>
                  </a:rPr>
                  <a:t> </a:t>
                </a:r>
              </a:p>
            </p:txBody>
          </p:sp>
        </mc:Fallback>
      </mc:AlternateContent>
      <p:sp>
        <p:nvSpPr>
          <p:cNvPr id="3" name="Title 2">
            <a:extLst>
              <a:ext uri="{FF2B5EF4-FFF2-40B4-BE49-F238E27FC236}">
                <a16:creationId xmlns:a16="http://schemas.microsoft.com/office/drawing/2014/main" id="{743A59B7-223C-48DC-A1A2-CA58679A3BAB}"/>
              </a:ext>
            </a:extLst>
          </p:cNvPr>
          <p:cNvSpPr>
            <a:spLocks noGrp="1"/>
          </p:cNvSpPr>
          <p:nvPr>
            <p:ph type="title"/>
          </p:nvPr>
        </p:nvSpPr>
        <p:spPr/>
        <p:txBody>
          <a:bodyPr/>
          <a:lstStyle/>
          <a:p>
            <a:r>
              <a:rPr lang="ru-RU" dirty="0"/>
              <a:t>Векторизация</a:t>
            </a:r>
            <a:r>
              <a:rPr lang="en-US" dirty="0"/>
              <a:t>: TF-IDF</a:t>
            </a:r>
            <a:endParaRPr lang="LID4096" dirty="0"/>
          </a:p>
        </p:txBody>
      </p:sp>
    </p:spTree>
    <p:extLst>
      <p:ext uri="{BB962C8B-B14F-4D97-AF65-F5344CB8AC3E}">
        <p14:creationId xmlns:p14="http://schemas.microsoft.com/office/powerpoint/2010/main" val="3105774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A3156C-06E5-4047-90F2-A016D2B1D681}"/>
              </a:ext>
            </a:extLst>
          </p:cNvPr>
          <p:cNvSpPr>
            <a:spLocks noGrp="1"/>
          </p:cNvSpPr>
          <p:nvPr>
            <p:ph type="title"/>
          </p:nvPr>
        </p:nvSpPr>
        <p:spPr>
          <a:xfrm>
            <a:off x="1384069" y="69428"/>
            <a:ext cx="10058400" cy="1369074"/>
          </a:xfrm>
        </p:spPr>
        <p:txBody>
          <a:bodyPr/>
          <a:lstStyle/>
          <a:p>
            <a:r>
              <a:rPr lang="ru-RU" dirty="0"/>
              <a:t>Латентный семантический анализ</a:t>
            </a:r>
            <a:endParaRPr lang="LID4096" dirty="0"/>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E13BB286-2E61-4B39-8675-946F50B5DE64}"/>
                  </a:ext>
                </a:extLst>
              </p:cNvPr>
              <p:cNvSpPr>
                <a:spLocks noGrp="1"/>
              </p:cNvSpPr>
              <p:nvPr>
                <p:ph idx="1"/>
              </p:nvPr>
            </p:nvSpPr>
            <p:spPr>
              <a:xfrm>
                <a:off x="720436" y="1253836"/>
                <a:ext cx="10692938" cy="5043054"/>
              </a:xfrm>
            </p:spPr>
            <p:txBody>
              <a:bodyPr>
                <a:normAutofit/>
              </a:bodyPr>
              <a:lstStyle/>
              <a:p>
                <a:r>
                  <a:rPr lang="ru-RU" sz="1600" dirty="0"/>
                  <a:t>Проанализируем матрицу документ-терм с некоторой нормировкой (например, </a:t>
                </a:r>
                <a:r>
                  <a:rPr lang="en-US" sz="1600" dirty="0"/>
                  <a:t>TF-IDF)</a:t>
                </a:r>
                <a:endParaRPr lang="ru-RU" sz="1600" dirty="0"/>
              </a:p>
              <a:p>
                <a:pPr lvl="1"/>
                <a:r>
                  <a:rPr lang="ru-RU" sz="1400" dirty="0"/>
                  <a:t>Скалярное произведение векторов термов </a:t>
                </a:r>
                <a14:m>
                  <m:oMath xmlns:m="http://schemas.openxmlformats.org/officeDocument/2006/math">
                    <m:sSub>
                      <m:sSubPr>
                        <m:ctrlPr>
                          <a:rPr lang="en-US" sz="1400" b="0" i="1" smtClean="0">
                            <a:latin typeface="Cambria Math" panose="02040503050406030204" pitchFamily="18" charset="0"/>
                          </a:rPr>
                        </m:ctrlPr>
                      </m:sSub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𝑡</m:t>
                            </m:r>
                          </m:e>
                        </m:acc>
                      </m:e>
                      <m:sub>
                        <m:r>
                          <a:rPr lang="en-US" sz="1400" b="0" i="1" dirty="0" smtClean="0">
                            <a:latin typeface="Cambria Math" panose="02040503050406030204" pitchFamily="18" charset="0"/>
                          </a:rPr>
                          <m:t>𝑖</m:t>
                        </m:r>
                      </m:sub>
                    </m:sSub>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rPr>
                        </m:ctrlPr>
                      </m:sSubPr>
                      <m:e>
                        <m:acc>
                          <m:accPr>
                            <m:chr m:val="⃗"/>
                            <m:ctrlPr>
                              <a:rPr lang="en-US" sz="1400" b="0" i="1" dirty="0" smtClean="0">
                                <a:latin typeface="Cambria Math" panose="02040503050406030204" pitchFamily="18" charset="0"/>
                              </a:rPr>
                            </m:ctrlPr>
                          </m:accPr>
                          <m:e>
                            <m:r>
                              <a:rPr lang="en-US" sz="1400" b="0" i="1" dirty="0" smtClean="0">
                                <a:latin typeface="Cambria Math" panose="02040503050406030204" pitchFamily="18" charset="0"/>
                              </a:rPr>
                              <m:t>𝑡</m:t>
                            </m:r>
                          </m:e>
                        </m:acc>
                      </m:e>
                      <m:sub>
                        <m:r>
                          <a:rPr lang="en-US" sz="1400" b="0" i="1" dirty="0" smtClean="0">
                            <a:latin typeface="Cambria Math" panose="02040503050406030204" pitchFamily="18" charset="0"/>
                          </a:rPr>
                          <m:t>𝑝</m:t>
                        </m:r>
                      </m:sub>
                    </m:sSub>
                  </m:oMath>
                </a14:m>
                <a:r>
                  <a:rPr lang="ru-RU" sz="1400" dirty="0"/>
                  <a:t> задаёт корреляцию между этими термами относительно всего корпуса и является элементом матрицы </a:t>
                </a:r>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𝑋</m:t>
                        </m:r>
                      </m:e>
                      <m:sup>
                        <m:r>
                          <a:rPr lang="en-US" sz="1400" b="0" i="1" smtClean="0">
                            <a:latin typeface="Cambria Math" panose="02040503050406030204" pitchFamily="18" charset="0"/>
                          </a:rPr>
                          <m:t>𝑇</m:t>
                        </m:r>
                      </m:sup>
                    </m:sSup>
                    <m:r>
                      <a:rPr lang="en-US" sz="1400" b="0" i="1" smtClean="0">
                        <a:latin typeface="Cambria Math" panose="02040503050406030204" pitchFamily="18" charset="0"/>
                      </a:rPr>
                      <m:t>𝑋</m:t>
                    </m:r>
                  </m:oMath>
                </a14:m>
                <a:endParaRPr lang="ru-RU" sz="1400" dirty="0"/>
              </a:p>
              <a:p>
                <a:pPr lvl="1"/>
                <a:r>
                  <a:rPr lang="ru-RU" sz="1400" dirty="0"/>
                  <a:t>Скалярное произведение векторов документов </a:t>
                </a:r>
                <a14:m>
                  <m:oMath xmlns:m="http://schemas.openxmlformats.org/officeDocument/2006/math">
                    <m:sSub>
                      <m:sSubPr>
                        <m:ctrlPr>
                          <a:rPr lang="en-US" sz="1400" b="0" i="1" smtClean="0">
                            <a:latin typeface="Cambria Math" panose="02040503050406030204" pitchFamily="18" charset="0"/>
                          </a:rPr>
                        </m:ctrlPr>
                      </m:sSub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𝑑</m:t>
                            </m:r>
                          </m:e>
                        </m:acc>
                      </m:e>
                      <m:sub>
                        <m:r>
                          <a:rPr lang="en-US" sz="1400" b="0" i="1" dirty="0" smtClean="0">
                            <a:latin typeface="Cambria Math" panose="02040503050406030204" pitchFamily="18" charset="0"/>
                          </a:rPr>
                          <m:t>𝑗</m:t>
                        </m:r>
                      </m:sub>
                    </m:sSub>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rPr>
                        </m:ctrlPr>
                      </m:sSubPr>
                      <m:e>
                        <m:acc>
                          <m:accPr>
                            <m:chr m:val="⃗"/>
                            <m:ctrlPr>
                              <a:rPr lang="en-US" sz="1400" b="0" i="1" dirty="0" smtClean="0">
                                <a:latin typeface="Cambria Math" panose="02040503050406030204" pitchFamily="18" charset="0"/>
                              </a:rPr>
                            </m:ctrlPr>
                          </m:accPr>
                          <m:e>
                            <m:r>
                              <a:rPr lang="en-US" sz="1400" b="0" i="1" dirty="0" smtClean="0">
                                <a:latin typeface="Cambria Math" panose="02040503050406030204" pitchFamily="18" charset="0"/>
                              </a:rPr>
                              <m:t>𝑑</m:t>
                            </m:r>
                          </m:e>
                        </m:acc>
                      </m:e>
                      <m:sub>
                        <m:r>
                          <a:rPr lang="en-US" sz="1400" b="0" i="1" dirty="0" smtClean="0">
                            <a:latin typeface="Cambria Math" panose="02040503050406030204" pitchFamily="18" charset="0"/>
                          </a:rPr>
                          <m:t>𝑞</m:t>
                        </m:r>
                      </m:sub>
                    </m:sSub>
                  </m:oMath>
                </a14:m>
                <a:r>
                  <a:rPr lang="en-US" sz="1400" dirty="0"/>
                  <a:t> </a:t>
                </a:r>
                <a:r>
                  <a:rPr lang="ru-RU" sz="1400" dirty="0"/>
                  <a:t>задаёт корреляцию между этими документами относительно их набора термов</a:t>
                </a:r>
                <a:r>
                  <a:rPr lang="en-US" sz="1400" dirty="0"/>
                  <a:t> </a:t>
                </a:r>
                <a:r>
                  <a:rPr lang="ru-RU" sz="1400" dirty="0"/>
                  <a:t>и является элементом </a:t>
                </a:r>
                <a14:m>
                  <m:oMath xmlns:m="http://schemas.openxmlformats.org/officeDocument/2006/math">
                    <m:r>
                      <a:rPr lang="en-US" sz="1400" b="0" i="1" smtClean="0">
                        <a:latin typeface="Cambria Math" panose="02040503050406030204" pitchFamily="18" charset="0"/>
                      </a:rPr>
                      <m:t>𝑋</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𝑋</m:t>
                        </m:r>
                      </m:e>
                      <m:sup>
                        <m:r>
                          <a:rPr lang="en-US" sz="1400" b="0" i="1" smtClean="0">
                            <a:latin typeface="Cambria Math" panose="02040503050406030204" pitchFamily="18" charset="0"/>
                          </a:rPr>
                          <m:t>𝑇</m:t>
                        </m:r>
                      </m:sup>
                    </m:sSup>
                  </m:oMath>
                </a14:m>
                <a:endParaRPr lang="ru-RU" sz="1400" dirty="0"/>
              </a:p>
              <a:p>
                <a:pPr lvl="1"/>
                <a:r>
                  <a:rPr lang="ru-RU" sz="1400" dirty="0"/>
                  <a:t>Сама матрица </a:t>
                </a:r>
                <a14:m>
                  <m:oMath xmlns:m="http://schemas.openxmlformats.org/officeDocument/2006/math">
                    <m:r>
                      <a:rPr lang="en-US" sz="1400" b="0" i="1" smtClean="0">
                        <a:latin typeface="Cambria Math" panose="02040503050406030204" pitchFamily="18" charset="0"/>
                      </a:rPr>
                      <m:t>𝑋</m:t>
                    </m:r>
                  </m:oMath>
                </a14:m>
                <a:r>
                  <a:rPr lang="en-US" sz="1400" dirty="0"/>
                  <a:t> </a:t>
                </a:r>
                <a:r>
                  <a:rPr lang="ru-RU" sz="1400" dirty="0"/>
                  <a:t>является разреженной: большинство её элементов будут равны 0, особенно при анализе большого количества термов</a:t>
                </a:r>
              </a:p>
              <a:p>
                <a:r>
                  <a:rPr lang="ru-RU" sz="1600" dirty="0"/>
                  <a:t>Рассмотрим сингулярное векторное разложение матрицы </a:t>
                </a:r>
                <a14:m>
                  <m:oMath xmlns:m="http://schemas.openxmlformats.org/officeDocument/2006/math">
                    <m:r>
                      <a:rPr lang="en-US" sz="1600" b="0" i="1" smtClean="0">
                        <a:latin typeface="Cambria Math" panose="02040503050406030204" pitchFamily="18" charset="0"/>
                      </a:rPr>
                      <m:t>𝑋</m:t>
                    </m:r>
                    <m:r>
                      <a:rPr lang="en-US" sz="1600" b="0" i="0" smtClean="0">
                        <a:latin typeface="Cambria Math" panose="02040503050406030204" pitchFamily="18" charset="0"/>
                      </a:rPr>
                      <m:t>:</m:t>
                    </m:r>
                  </m:oMath>
                </a14:m>
                <a:endParaRPr lang="en-US" sz="1600" dirty="0"/>
              </a:p>
              <a:p>
                <a:pPr marL="0" indent="0">
                  <a:buNone/>
                </a:pPr>
                <a14:m>
                  <m:oMathPara xmlns:m="http://schemas.openxmlformats.org/officeDocument/2006/math">
                    <m:oMathParaPr>
                      <m:jc m:val="center"/>
                    </m:oMathParaPr>
                    <m:oMath>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𝑈</m:t>
                      </m:r>
                      <m:r>
                        <m:rPr>
                          <m:sty m:val="p"/>
                        </m:rPr>
                        <a:rPr lang="en-US" sz="1800" b="0" i="0" smtClean="0">
                          <a:latin typeface="Cambria Math" panose="02040503050406030204" pitchFamily="18" charset="0"/>
                        </a:rPr>
                        <m:t>Σ</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𝑉</m:t>
                          </m:r>
                        </m:e>
                        <m:sup>
                          <m:r>
                            <a:rPr lang="en-US" sz="1800" b="0" i="1" smtClean="0">
                              <a:latin typeface="Cambria Math" panose="02040503050406030204" pitchFamily="18" charset="0"/>
                            </a:rPr>
                            <m:t>𝑇</m:t>
                          </m:r>
                        </m:sup>
                      </m:sSup>
                    </m:oMath>
                  </m:oMathPara>
                </a14:m>
                <a:endParaRPr lang="ru-RU" sz="1600" dirty="0"/>
              </a:p>
              <a:p>
                <a:r>
                  <a:rPr lang="ru-RU" sz="1600" dirty="0"/>
                  <a:t>где </a:t>
                </a:r>
                <a14:m>
                  <m:oMath xmlns:m="http://schemas.openxmlformats.org/officeDocument/2006/math">
                    <m:r>
                      <a:rPr lang="en-US" sz="1600" b="0" i="1" smtClean="0">
                        <a:latin typeface="Cambria Math" panose="02040503050406030204" pitchFamily="18" charset="0"/>
                      </a:rPr>
                      <m:t>𝑈</m:t>
                    </m:r>
                  </m:oMath>
                </a14:m>
                <a:r>
                  <a:rPr lang="en-US" sz="1600" dirty="0"/>
                  <a:t> </a:t>
                </a:r>
                <a:r>
                  <a:rPr lang="ru-RU" sz="1600" dirty="0"/>
                  <a:t>и </a:t>
                </a:r>
                <a14:m>
                  <m:oMath xmlns:m="http://schemas.openxmlformats.org/officeDocument/2006/math">
                    <m:r>
                      <a:rPr lang="en-US" sz="1600" b="0" i="1" smtClean="0">
                        <a:latin typeface="Cambria Math" panose="02040503050406030204" pitchFamily="18" charset="0"/>
                      </a:rPr>
                      <m:t>𝑉</m:t>
                    </m:r>
                  </m:oMath>
                </a14:m>
                <a:r>
                  <a:rPr lang="en-US" sz="1600" dirty="0"/>
                  <a:t> – </a:t>
                </a:r>
                <a:r>
                  <a:rPr lang="ru-RU" sz="1600" dirty="0"/>
                  <a:t>ортогональные матрицы, </a:t>
                </a:r>
                <a14:m>
                  <m:oMath xmlns:m="http://schemas.openxmlformats.org/officeDocument/2006/math">
                    <m:r>
                      <m:rPr>
                        <m:sty m:val="p"/>
                      </m:rPr>
                      <a:rPr lang="en-US" sz="1600" b="0" i="0" smtClean="0">
                        <a:latin typeface="Cambria Math" panose="02040503050406030204" pitchFamily="18" charset="0"/>
                      </a:rPr>
                      <m:t>Σ</m:t>
                    </m:r>
                  </m:oMath>
                </a14:m>
                <a:r>
                  <a:rPr lang="en-US" sz="1600" dirty="0"/>
                  <a:t> – </a:t>
                </a:r>
                <a:r>
                  <a:rPr lang="ru-RU" sz="1600" dirty="0"/>
                  <a:t>диагональная матрица. Можно показать, что</a:t>
                </a:r>
              </a:p>
              <a:p>
                <a:pPr marL="0" indent="0">
                  <a:buNone/>
                </a:pPr>
                <a14:m>
                  <m:oMathPara xmlns:m="http://schemas.openxmlformats.org/officeDocument/2006/math">
                    <m:oMath>
                      <m:r>
                        <a:rPr lang="en-US" sz="1800" b="0" i="1" smtClean="0">
                          <a:latin typeface="Cambria Math" panose="02040503050406030204" pitchFamily="18" charset="0"/>
                        </a:rPr>
                        <m:t>𝑋</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𝑋</m:t>
                          </m:r>
                        </m:e>
                        <m:sup>
                          <m:r>
                            <a:rPr lang="en-US" sz="1800" b="0" i="1" smtClean="0">
                              <a:latin typeface="Cambria Math" panose="02040503050406030204" pitchFamily="18" charset="0"/>
                            </a:rPr>
                            <m:t>𝑇</m:t>
                          </m:r>
                        </m:sup>
                      </m:sSup>
                      <m:r>
                        <a:rPr lang="en-US" sz="1800" b="0" i="1" smtClean="0">
                          <a:latin typeface="Cambria Math" panose="02040503050406030204" pitchFamily="18" charset="0"/>
                        </a:rPr>
                        <m:t>=</m:t>
                      </m:r>
                      <m:r>
                        <a:rPr lang="en-US" sz="1800" b="0" i="1" smtClean="0">
                          <a:latin typeface="Cambria Math" panose="02040503050406030204" pitchFamily="18" charset="0"/>
                        </a:rPr>
                        <m:t>𝑈</m:t>
                      </m:r>
                      <m:r>
                        <m:rPr>
                          <m:sty m:val="p"/>
                        </m:rPr>
                        <a:rPr lang="en-US" sz="1800" b="0" i="0" smtClean="0">
                          <a:latin typeface="Cambria Math" panose="02040503050406030204" pitchFamily="18" charset="0"/>
                        </a:rPr>
                        <m:t>Σ</m:t>
                      </m:r>
                      <m:sSup>
                        <m:sSupPr>
                          <m:ctrlPr>
                            <a:rPr lang="en-US" sz="1800" b="0" i="0" smtClean="0">
                              <a:latin typeface="Cambria Math" panose="02040503050406030204" pitchFamily="18" charset="0"/>
                            </a:rPr>
                          </m:ctrlPr>
                        </m:sSupPr>
                        <m:e>
                          <m:r>
                            <m:rPr>
                              <m:sty m:val="p"/>
                            </m:rPr>
                            <a:rPr lang="en-US" sz="1800" b="0" i="0" smtClean="0">
                              <a:latin typeface="Cambria Math" panose="02040503050406030204" pitchFamily="18" charset="0"/>
                            </a:rPr>
                            <m:t>Σ</m:t>
                          </m:r>
                        </m:e>
                        <m:sup>
                          <m:r>
                            <a:rPr lang="en-US" sz="1800" b="0" i="1" smtClean="0">
                              <a:latin typeface="Cambria Math" panose="02040503050406030204" pitchFamily="18" charset="0"/>
                            </a:rPr>
                            <m:t>𝑇</m:t>
                          </m:r>
                        </m:sup>
                      </m:sSup>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𝑈</m:t>
                          </m:r>
                        </m:e>
                        <m:sup>
                          <m:r>
                            <a:rPr lang="en-US" sz="1800" b="0" i="1" smtClean="0">
                              <a:latin typeface="Cambria Math" panose="02040503050406030204" pitchFamily="18" charset="0"/>
                            </a:rPr>
                            <m:t>𝑇</m:t>
                          </m:r>
                        </m:sup>
                      </m:sSup>
                    </m:oMath>
                  </m:oMathPara>
                </a14:m>
                <a:endParaRPr lang="en-US" sz="1800" dirty="0"/>
              </a:p>
              <a:p>
                <a:pPr marL="0" indent="0">
                  <a:buNone/>
                </a:pPr>
                <a14:m>
                  <m:oMathPara xmlns:m="http://schemas.openxmlformats.org/officeDocument/2006/math">
                    <m:o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𝑋</m:t>
                          </m:r>
                        </m:e>
                        <m:sup>
                          <m:r>
                            <a:rPr lang="en-US" sz="1800" b="0" i="1" smtClean="0">
                              <a:latin typeface="Cambria Math" panose="02040503050406030204" pitchFamily="18" charset="0"/>
                            </a:rPr>
                            <m:t>𝑇</m:t>
                          </m:r>
                        </m:sup>
                      </m:sSup>
                      <m:r>
                        <a:rPr lang="en-US" sz="1800" b="0" i="1" smtClean="0">
                          <a:latin typeface="Cambria Math" panose="02040503050406030204" pitchFamily="18" charset="0"/>
                        </a:rPr>
                        <m:t>𝑋</m:t>
                      </m:r>
                      <m:r>
                        <a:rPr lang="en-US" sz="1800" b="0" i="1" smtClean="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𝑉</m:t>
                          </m:r>
                          <m:r>
                            <m:rPr>
                              <m:sty m:val="p"/>
                            </m:rPr>
                            <a:rPr lang="en-US" sz="1800" b="0" i="0" smtClean="0">
                              <a:latin typeface="Cambria Math" panose="02040503050406030204" pitchFamily="18" charset="0"/>
                            </a:rPr>
                            <m:t>Σ</m:t>
                          </m:r>
                        </m:e>
                        <m:sup>
                          <m:r>
                            <a:rPr lang="en-US" sz="1800" b="0" i="1" smtClean="0">
                              <a:latin typeface="Cambria Math" panose="02040503050406030204" pitchFamily="18" charset="0"/>
                            </a:rPr>
                            <m:t>𝑇</m:t>
                          </m:r>
                        </m:sup>
                      </m:sSup>
                      <m:r>
                        <m:rPr>
                          <m:sty m:val="p"/>
                        </m:rPr>
                        <a:rPr lang="en-US" sz="1800" b="0" i="0" smtClean="0">
                          <a:latin typeface="Cambria Math" panose="02040503050406030204" pitchFamily="18" charset="0"/>
                        </a:rPr>
                        <m:t>Σ</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𝑉</m:t>
                          </m:r>
                        </m:e>
                        <m:sup>
                          <m:r>
                            <a:rPr lang="en-US" sz="1800" b="0" i="1" smtClean="0">
                              <a:latin typeface="Cambria Math" panose="02040503050406030204" pitchFamily="18" charset="0"/>
                            </a:rPr>
                            <m:t>𝑇</m:t>
                          </m:r>
                        </m:sup>
                      </m:sSup>
                    </m:oMath>
                  </m:oMathPara>
                </a14:m>
                <a:endParaRPr lang="ru-RU" sz="1800" dirty="0"/>
              </a:p>
              <a:p>
                <a:r>
                  <a:rPr lang="ru-RU" sz="1600" dirty="0"/>
                  <a:t>Каждому диагональному элементу </a:t>
                </a:r>
                <a14:m>
                  <m:oMath xmlns:m="http://schemas.openxmlformats.org/officeDocument/2006/math">
                    <m:r>
                      <m:rPr>
                        <m:sty m:val="p"/>
                      </m:rPr>
                      <a:rPr lang="en-US" sz="1600" b="0" i="0" smtClean="0">
                        <a:latin typeface="Cambria Math" panose="02040503050406030204" pitchFamily="18" charset="0"/>
                      </a:rPr>
                      <m:t>Σ</m:t>
                    </m:r>
                  </m:oMath>
                </a14:m>
                <a:r>
                  <a:rPr lang="ru-RU" sz="1600" dirty="0"/>
                  <a:t> </a:t>
                </a: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𝜎</m:t>
                        </m:r>
                      </m:e>
                      <m:sub>
                        <m:r>
                          <a:rPr lang="en-US" sz="1600" b="0" i="1" dirty="0" smtClean="0">
                            <a:latin typeface="Cambria Math" panose="02040503050406030204" pitchFamily="18" charset="0"/>
                          </a:rPr>
                          <m:t>𝑖</m:t>
                        </m:r>
                      </m:sub>
                    </m:sSub>
                  </m:oMath>
                </a14:m>
                <a:r>
                  <a:rPr lang="en-US" sz="1600" dirty="0"/>
                  <a:t> </a:t>
                </a:r>
                <a:r>
                  <a:rPr lang="ru-RU" sz="1600" dirty="0"/>
                  <a:t>можно поставить в соответствие столбец</a:t>
                </a:r>
                <a:r>
                  <a:rPr lang="en-US" sz="1600" dirty="0"/>
                  <a:t> </a:t>
                </a:r>
                <a14:m>
                  <m:oMath xmlns:m="http://schemas.openxmlformats.org/officeDocument/2006/math">
                    <m:sSub>
                      <m:sSubPr>
                        <m:ctrlPr>
                          <a:rPr lang="en-US" sz="1600" b="0" i="1" smtClean="0">
                            <a:latin typeface="Cambria Math" panose="02040503050406030204" pitchFamily="18" charset="0"/>
                          </a:rPr>
                        </m:ctrlPr>
                      </m:sSubPr>
                      <m:e>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𝑢</m:t>
                            </m:r>
                          </m:e>
                        </m:acc>
                      </m:e>
                      <m:sub>
                        <m:r>
                          <a:rPr lang="en-US" sz="1600" b="0" i="1" dirty="0" smtClean="0">
                            <a:latin typeface="Cambria Math" panose="02040503050406030204" pitchFamily="18" charset="0"/>
                          </a:rPr>
                          <m:t>𝑗</m:t>
                        </m:r>
                      </m:sub>
                    </m:sSub>
                  </m:oMath>
                </a14:m>
                <a:r>
                  <a:rPr lang="en-US" sz="1600" dirty="0"/>
                  <a:t> </a:t>
                </a:r>
                <a:r>
                  <a:rPr lang="ru-RU" sz="1600" dirty="0"/>
                  <a:t>и строку </a:t>
                </a:r>
                <a14:m>
                  <m:oMath xmlns:m="http://schemas.openxmlformats.org/officeDocument/2006/math">
                    <m:sSub>
                      <m:sSubPr>
                        <m:ctrlPr>
                          <a:rPr lang="en-US" sz="1600" b="0" i="1" smtClean="0">
                            <a:latin typeface="Cambria Math" panose="02040503050406030204" pitchFamily="18" charset="0"/>
                          </a:rPr>
                        </m:ctrlPr>
                      </m:sSubPr>
                      <m:e>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𝑣</m:t>
                            </m:r>
                          </m:e>
                        </m:acc>
                      </m:e>
                      <m:sub>
                        <m:r>
                          <a:rPr lang="en-US" sz="1600" b="0" i="1" dirty="0" smtClean="0">
                            <a:latin typeface="Cambria Math" panose="02040503050406030204" pitchFamily="18" charset="0"/>
                          </a:rPr>
                          <m:t>𝑖</m:t>
                        </m:r>
                      </m:sub>
                    </m:sSub>
                  </m:oMath>
                </a14:m>
                <a:r>
                  <a:rPr lang="ru-RU" sz="1600" dirty="0"/>
                  <a:t> матриц </a:t>
                </a:r>
                <a14:m>
                  <m:oMath xmlns:m="http://schemas.openxmlformats.org/officeDocument/2006/math">
                    <m:r>
                      <a:rPr lang="en-US" sz="1600" b="0" i="1" smtClean="0">
                        <a:latin typeface="Cambria Math" panose="02040503050406030204" pitchFamily="18" charset="0"/>
                      </a:rPr>
                      <m:t>𝑈</m:t>
                    </m:r>
                  </m:oMath>
                </a14:m>
                <a:r>
                  <a:rPr lang="en-US" sz="1600" dirty="0"/>
                  <a:t> </a:t>
                </a:r>
                <a:r>
                  <a:rPr lang="ru-RU" sz="1600" dirty="0"/>
                  <a:t>и </a:t>
                </a:r>
                <a14:m>
                  <m:oMath xmlns:m="http://schemas.openxmlformats.org/officeDocument/2006/math">
                    <m:r>
                      <a:rPr lang="en-US" sz="1600" b="0" i="1" smtClean="0">
                        <a:latin typeface="Cambria Math" panose="02040503050406030204" pitchFamily="18" charset="0"/>
                      </a:rPr>
                      <m:t>𝑉</m:t>
                    </m:r>
                  </m:oMath>
                </a14:m>
                <a:r>
                  <a:rPr lang="ru-RU" sz="1600" dirty="0"/>
                  <a:t>, причём </a:t>
                </a:r>
                <a14:m>
                  <m:oMath xmlns:m="http://schemas.openxmlformats.org/officeDocument/2006/math">
                    <m:sSub>
                      <m:sSubPr>
                        <m:ctrlPr>
                          <a:rPr lang="en-US" sz="1600" b="0" i="1" smtClean="0">
                            <a:latin typeface="Cambria Math" panose="02040503050406030204" pitchFamily="18" charset="0"/>
                          </a:rPr>
                        </m:ctrlPr>
                      </m:sSubPr>
                      <m:e>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𝑢</m:t>
                            </m:r>
                          </m:e>
                        </m:acc>
                      </m:e>
                      <m:sub>
                        <m:r>
                          <a:rPr lang="en-US" sz="1600" b="0" i="1" dirty="0" smtClean="0">
                            <a:latin typeface="Cambria Math" panose="02040503050406030204" pitchFamily="18" charset="0"/>
                          </a:rPr>
                          <m:t>𝑗</m:t>
                        </m:r>
                      </m:sub>
                    </m:sSub>
                  </m:oMath>
                </a14:m>
                <a:r>
                  <a:rPr lang="en-US" sz="1600" dirty="0"/>
                  <a:t> - </a:t>
                </a:r>
                <a:r>
                  <a:rPr lang="ru-RU" sz="1600" dirty="0"/>
                  <a:t>собственные векторы матрицы </a:t>
                </a:r>
                <a14:m>
                  <m:oMath xmlns:m="http://schemas.openxmlformats.org/officeDocument/2006/math">
                    <m:r>
                      <m:rPr>
                        <m:sty m:val="p"/>
                      </m:rPr>
                      <a:rPr lang="en-US" sz="1600" b="0" i="0" smtClean="0">
                        <a:latin typeface="Cambria Math" panose="02040503050406030204" pitchFamily="18" charset="0"/>
                      </a:rPr>
                      <m:t>Σ</m:t>
                    </m:r>
                    <m:sSup>
                      <m:sSupPr>
                        <m:ctrlPr>
                          <a:rPr lang="en-US" sz="1600" b="0" i="0" smtClean="0">
                            <a:latin typeface="Cambria Math" panose="02040503050406030204" pitchFamily="18" charset="0"/>
                          </a:rPr>
                        </m:ctrlPr>
                      </m:sSupPr>
                      <m:e>
                        <m:r>
                          <m:rPr>
                            <m:sty m:val="p"/>
                          </m:rPr>
                          <a:rPr lang="en-US" sz="1600" b="0" i="0" smtClean="0">
                            <a:latin typeface="Cambria Math" panose="02040503050406030204" pitchFamily="18" charset="0"/>
                          </a:rPr>
                          <m:t>Σ</m:t>
                        </m:r>
                      </m:e>
                      <m:sup>
                        <m:r>
                          <a:rPr lang="en-US" sz="1600" b="0" i="1" smtClean="0">
                            <a:latin typeface="Cambria Math" panose="02040503050406030204" pitchFamily="18" charset="0"/>
                          </a:rPr>
                          <m:t>𝑇</m:t>
                        </m:r>
                      </m:sup>
                    </m:sSup>
                  </m:oMath>
                </a14:m>
                <a:r>
                  <a:rPr lang="en-US" sz="1600" dirty="0"/>
                  <a:t>, </a:t>
                </a:r>
                <a:r>
                  <a:rPr lang="ru-RU" sz="1600" dirty="0"/>
                  <a:t>а </a:t>
                </a:r>
                <a14:m>
                  <m:oMath xmlns:m="http://schemas.openxmlformats.org/officeDocument/2006/math">
                    <m:sSub>
                      <m:sSubPr>
                        <m:ctrlPr>
                          <a:rPr lang="en-US" sz="1600" b="0" i="1" smtClean="0">
                            <a:latin typeface="Cambria Math" panose="02040503050406030204" pitchFamily="18" charset="0"/>
                          </a:rPr>
                        </m:ctrlPr>
                      </m:sSubPr>
                      <m:e>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𝑣</m:t>
                            </m:r>
                          </m:e>
                        </m:acc>
                      </m:e>
                      <m:sub>
                        <m:r>
                          <a:rPr lang="en-US" sz="1600" b="0" i="1" smtClean="0">
                            <a:latin typeface="Cambria Math" panose="02040503050406030204" pitchFamily="18" charset="0"/>
                          </a:rPr>
                          <m:t>𝑖</m:t>
                        </m:r>
                      </m:sub>
                    </m:sSub>
                  </m:oMath>
                </a14:m>
                <a:r>
                  <a:rPr lang="en-US" sz="1600" dirty="0"/>
                  <a:t> - </a:t>
                </a:r>
                <a:r>
                  <a:rPr lang="ru-RU" sz="1600" dirty="0"/>
                  <a:t>собственные векторы </a:t>
                </a:r>
                <a14:m>
                  <m:oMath xmlns:m="http://schemas.openxmlformats.org/officeDocument/2006/math">
                    <m:sSup>
                      <m:sSupPr>
                        <m:ctrlPr>
                          <a:rPr lang="en-US" sz="1600" b="0" i="0" smtClean="0">
                            <a:latin typeface="Cambria Math" panose="02040503050406030204" pitchFamily="18" charset="0"/>
                          </a:rPr>
                        </m:ctrlPr>
                      </m:sSupPr>
                      <m:e>
                        <m:r>
                          <m:rPr>
                            <m:sty m:val="p"/>
                          </m:rPr>
                          <a:rPr lang="en-US" sz="1600" b="0" i="0" smtClean="0">
                            <a:latin typeface="Cambria Math" panose="02040503050406030204" pitchFamily="18" charset="0"/>
                          </a:rPr>
                          <m:t>Σ</m:t>
                        </m:r>
                      </m:e>
                      <m:sup>
                        <m:r>
                          <a:rPr lang="en-US" sz="1600" b="0" i="1" smtClean="0">
                            <a:latin typeface="Cambria Math" panose="02040503050406030204" pitchFamily="18" charset="0"/>
                          </a:rPr>
                          <m:t>𝑇</m:t>
                        </m:r>
                      </m:sup>
                    </m:sSup>
                    <m:r>
                      <m:rPr>
                        <m:sty m:val="p"/>
                      </m:rPr>
                      <a:rPr lang="en-US" sz="1600" b="0" i="0" smtClean="0">
                        <a:latin typeface="Cambria Math" panose="02040503050406030204" pitchFamily="18" charset="0"/>
                      </a:rPr>
                      <m:t>Σ</m:t>
                    </m:r>
                  </m:oMath>
                </a14:m>
                <a:r>
                  <a:rPr lang="ru-RU" sz="1600" dirty="0"/>
                  <a:t>.</a:t>
                </a:r>
              </a:p>
              <a:p>
                <a:r>
                  <a:rPr lang="ru-RU" sz="1600" dirty="0"/>
                  <a:t>Если выбрать </a:t>
                </a:r>
                <a14:m>
                  <m:oMath xmlns:m="http://schemas.openxmlformats.org/officeDocument/2006/math">
                    <m:r>
                      <a:rPr lang="en-US" sz="1600" b="0" i="1" smtClean="0">
                        <a:latin typeface="Cambria Math" panose="02040503050406030204" pitchFamily="18" charset="0"/>
                      </a:rPr>
                      <m:t>𝑘</m:t>
                    </m:r>
                  </m:oMath>
                </a14:m>
                <a:r>
                  <a:rPr lang="en-US" sz="1600" dirty="0"/>
                  <a:t> </a:t>
                </a:r>
                <a:r>
                  <a:rPr lang="ru-RU" sz="1600" dirty="0"/>
                  <a:t>наибольших сингулярных значений и соответствующих им собственных векторов, можно получить аппроксимацию</a:t>
                </a:r>
                <a:r>
                  <a:rPr lang="en-US" sz="1600" dirty="0"/>
                  <a:t> </a:t>
                </a:r>
                <a:r>
                  <a:rPr lang="ru-RU" sz="1600" dirty="0"/>
                  <a:t>матрицы </a:t>
                </a:r>
                <a14:m>
                  <m:oMath xmlns:m="http://schemas.openxmlformats.org/officeDocument/2006/math">
                    <m:r>
                      <a:rPr lang="en-US" sz="1600" b="0" i="1" smtClean="0">
                        <a:latin typeface="Cambria Math" panose="02040503050406030204" pitchFamily="18" charset="0"/>
                      </a:rPr>
                      <m:t>𝑋</m:t>
                    </m:r>
                  </m:oMath>
                </a14:m>
                <a:r>
                  <a:rPr lang="ru-RU" sz="1600" dirty="0"/>
                  <a:t> с меньшим рангом </a:t>
                </a:r>
                <a14:m>
                  <m:oMath xmlns:m="http://schemas.openxmlformats.org/officeDocument/2006/math">
                    <m:r>
                      <a:rPr lang="en-US" sz="1600" b="0" i="1" smtClean="0">
                        <a:latin typeface="Cambria Math" panose="02040503050406030204" pitchFamily="18" charset="0"/>
                      </a:rPr>
                      <m:t>𝑘</m:t>
                    </m:r>
                  </m:oMath>
                </a14:m>
                <a:r>
                  <a:rPr lang="ru-RU" sz="1600" dirty="0"/>
                  <a:t>, имеющую, согласно норме Фробениуса, наименьшую возможную ошибку:</a:t>
                </a:r>
              </a:p>
              <a:p>
                <a:pPr marL="0" indent="0">
                  <a:buNone/>
                </a:pPr>
                <a14:m>
                  <m:oMathPara xmlns:m="http://schemas.openxmlformats.org/officeDocument/2006/math">
                    <m:oMath>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𝑋</m:t>
                          </m:r>
                        </m:e>
                        <m:sub>
                          <m:r>
                            <a:rPr lang="en-US" sz="1900" b="0" i="1" smtClean="0">
                              <a:latin typeface="Cambria Math" panose="02040503050406030204" pitchFamily="18" charset="0"/>
                            </a:rPr>
                            <m:t>𝑘</m:t>
                          </m:r>
                        </m:sub>
                      </m:sSub>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𝑈</m:t>
                          </m:r>
                        </m:e>
                        <m:sub>
                          <m:r>
                            <a:rPr lang="en-US" sz="1900" b="0" i="1" smtClean="0">
                              <a:latin typeface="Cambria Math" panose="02040503050406030204" pitchFamily="18" charset="0"/>
                            </a:rPr>
                            <m:t>𝑘</m:t>
                          </m:r>
                        </m:sub>
                      </m:sSub>
                      <m:sSub>
                        <m:sSubPr>
                          <m:ctrlPr>
                            <a:rPr lang="en-US" sz="1900" b="0" i="0" smtClean="0">
                              <a:latin typeface="Cambria Math" panose="02040503050406030204" pitchFamily="18" charset="0"/>
                            </a:rPr>
                          </m:ctrlPr>
                        </m:sSubPr>
                        <m:e>
                          <m:r>
                            <m:rPr>
                              <m:sty m:val="p"/>
                            </m:rPr>
                            <a:rPr lang="en-US" sz="1900" b="0" i="0" smtClean="0">
                              <a:latin typeface="Cambria Math" panose="02040503050406030204" pitchFamily="18" charset="0"/>
                            </a:rPr>
                            <m:t>Σ</m:t>
                          </m:r>
                        </m:e>
                        <m:sub>
                          <m:r>
                            <a:rPr lang="en-US" sz="1900" b="0" i="1" smtClean="0">
                              <a:latin typeface="Cambria Math" panose="02040503050406030204" pitchFamily="18" charset="0"/>
                            </a:rPr>
                            <m:t>𝑘</m:t>
                          </m:r>
                        </m:sub>
                      </m:sSub>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𝑉</m:t>
                          </m:r>
                        </m:e>
                        <m:sub>
                          <m:r>
                            <a:rPr lang="en-US" sz="1900" b="0" i="1" smtClean="0">
                              <a:latin typeface="Cambria Math" panose="02040503050406030204" pitchFamily="18" charset="0"/>
                            </a:rPr>
                            <m:t>𝑘</m:t>
                          </m:r>
                        </m:sub>
                        <m:sup>
                          <m:r>
                            <a:rPr lang="en-US" sz="1900" b="0" i="1" smtClean="0">
                              <a:latin typeface="Cambria Math" panose="02040503050406030204" pitchFamily="18" charset="0"/>
                            </a:rPr>
                            <m:t>𝑇</m:t>
                          </m:r>
                        </m:sup>
                      </m:sSubSup>
                    </m:oMath>
                  </m:oMathPara>
                </a14:m>
                <a:endParaRPr lang="ru-RU" sz="1600" dirty="0"/>
              </a:p>
            </p:txBody>
          </p:sp>
        </mc:Choice>
        <mc:Fallback xmlns="">
          <p:sp>
            <p:nvSpPr>
              <p:cNvPr id="7" name="Content Placeholder 6">
                <a:extLst>
                  <a:ext uri="{FF2B5EF4-FFF2-40B4-BE49-F238E27FC236}">
                    <a16:creationId xmlns:a16="http://schemas.microsoft.com/office/drawing/2014/main" id="{E13BB286-2E61-4B39-8675-946F50B5DE64}"/>
                  </a:ext>
                </a:extLst>
              </p:cNvPr>
              <p:cNvSpPr>
                <a:spLocks noGrp="1" noRot="1" noChangeAspect="1" noMove="1" noResize="1" noEditPoints="1" noAdjustHandles="1" noChangeArrowheads="1" noChangeShapeType="1" noTextEdit="1"/>
              </p:cNvSpPr>
              <p:nvPr>
                <p:ph idx="1"/>
              </p:nvPr>
            </p:nvSpPr>
            <p:spPr>
              <a:xfrm>
                <a:off x="720436" y="1253836"/>
                <a:ext cx="10692938" cy="5043054"/>
              </a:xfrm>
              <a:blipFill>
                <a:blip r:embed="rId3"/>
                <a:stretch>
                  <a:fillRect l="-285" t="-846" r="-798"/>
                </a:stretch>
              </a:blipFill>
            </p:spPr>
            <p:txBody>
              <a:bodyPr/>
              <a:lstStyle/>
              <a:p>
                <a:r>
                  <a:rPr lang="ru-RU">
                    <a:noFill/>
                  </a:rPr>
                  <a:t> </a:t>
                </a:r>
              </a:p>
            </p:txBody>
          </p:sp>
        </mc:Fallback>
      </mc:AlternateContent>
      <p:sp>
        <p:nvSpPr>
          <p:cNvPr id="8" name="TextBox 7">
            <a:extLst>
              <a:ext uri="{FF2B5EF4-FFF2-40B4-BE49-F238E27FC236}">
                <a16:creationId xmlns:a16="http://schemas.microsoft.com/office/drawing/2014/main" id="{52A73DC2-8E82-4C1F-B44B-5F78634236E6}"/>
              </a:ext>
            </a:extLst>
          </p:cNvPr>
          <p:cNvSpPr txBox="1"/>
          <p:nvPr/>
        </p:nvSpPr>
        <p:spPr>
          <a:xfrm>
            <a:off x="720436" y="884504"/>
            <a:ext cx="3001143" cy="369332"/>
          </a:xfrm>
          <a:prstGeom prst="rect">
            <a:avLst/>
          </a:prstGeom>
          <a:noFill/>
        </p:spPr>
        <p:txBody>
          <a:bodyPr wrap="none" rtlCol="0">
            <a:spAutoFit/>
          </a:bodyPr>
          <a:lstStyle/>
          <a:p>
            <a:r>
              <a:rPr lang="en-US" dirty="0">
                <a:solidFill>
                  <a:srgbClr val="FF0000"/>
                </a:solidFill>
              </a:rPr>
              <a:t>&lt;</a:t>
            </a:r>
            <a:r>
              <a:rPr lang="ru-RU" dirty="0">
                <a:solidFill>
                  <a:srgbClr val="FF0000"/>
                </a:solidFill>
              </a:rPr>
              <a:t>хардкорная алгебра</a:t>
            </a:r>
            <a:r>
              <a:rPr lang="en-US" dirty="0">
                <a:solidFill>
                  <a:srgbClr val="FF0000"/>
                </a:solidFill>
              </a:rPr>
              <a:t>&gt;</a:t>
            </a:r>
            <a:endParaRPr lang="LID4096" dirty="0">
              <a:solidFill>
                <a:srgbClr val="FF0000"/>
              </a:solidFill>
            </a:endParaRPr>
          </a:p>
        </p:txBody>
      </p:sp>
      <p:sp>
        <p:nvSpPr>
          <p:cNvPr id="9" name="TextBox 8">
            <a:extLst>
              <a:ext uri="{FF2B5EF4-FFF2-40B4-BE49-F238E27FC236}">
                <a16:creationId xmlns:a16="http://schemas.microsoft.com/office/drawing/2014/main" id="{A54DA589-B0A7-4890-B36A-EF3953811205}"/>
              </a:ext>
            </a:extLst>
          </p:cNvPr>
          <p:cNvSpPr txBox="1"/>
          <p:nvPr/>
        </p:nvSpPr>
        <p:spPr>
          <a:xfrm>
            <a:off x="257298" y="5973496"/>
            <a:ext cx="3105337" cy="369332"/>
          </a:xfrm>
          <a:prstGeom prst="rect">
            <a:avLst/>
          </a:prstGeom>
          <a:noFill/>
        </p:spPr>
        <p:txBody>
          <a:bodyPr wrap="none" rtlCol="0">
            <a:spAutoFit/>
          </a:bodyPr>
          <a:lstStyle/>
          <a:p>
            <a:r>
              <a:rPr lang="en-US" dirty="0">
                <a:solidFill>
                  <a:srgbClr val="FF0000"/>
                </a:solidFill>
              </a:rPr>
              <a:t>&lt;/</a:t>
            </a:r>
            <a:r>
              <a:rPr lang="ru-RU" dirty="0">
                <a:solidFill>
                  <a:srgbClr val="FF0000"/>
                </a:solidFill>
              </a:rPr>
              <a:t>хардкорная алгебра</a:t>
            </a:r>
            <a:r>
              <a:rPr lang="en-US" dirty="0">
                <a:solidFill>
                  <a:srgbClr val="FF0000"/>
                </a:solidFill>
              </a:rPr>
              <a:t>&gt;</a:t>
            </a:r>
            <a:endParaRPr lang="LID4096" dirty="0">
              <a:solidFill>
                <a:srgbClr val="FF0000"/>
              </a:solidFill>
            </a:endParaRPr>
          </a:p>
        </p:txBody>
      </p:sp>
    </p:spTree>
    <p:extLst>
      <p:ext uri="{BB962C8B-B14F-4D97-AF65-F5344CB8AC3E}">
        <p14:creationId xmlns:p14="http://schemas.microsoft.com/office/powerpoint/2010/main" val="1758775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5BC0F71-EF33-4EDB-A63B-988D1D214AE9}"/>
                  </a:ext>
                </a:extLst>
              </p:cNvPr>
              <p:cNvSpPr>
                <a:spLocks noGrp="1"/>
              </p:cNvSpPr>
              <p:nvPr>
                <p:ph idx="1"/>
              </p:nvPr>
            </p:nvSpPr>
            <p:spPr>
              <a:xfrm>
                <a:off x="1097280" y="2094015"/>
                <a:ext cx="10058400" cy="5112327"/>
              </a:xfrm>
            </p:spPr>
            <p:txBody>
              <a:bodyPr>
                <a:normAutofit/>
              </a:bodyPr>
              <a:lstStyle/>
              <a:p>
                <a:pPr marL="0" indent="0">
                  <a:buNone/>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𝑘</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𝑈</m:t>
                          </m:r>
                        </m:e>
                        <m:sub>
                          <m:r>
                            <a:rPr lang="en-US" sz="2400" i="1">
                              <a:latin typeface="Cambria Math" panose="02040503050406030204" pitchFamily="18" charset="0"/>
                            </a:rPr>
                            <m:t>𝑘</m:t>
                          </m:r>
                        </m:sub>
                      </m:sSub>
                      <m:sSub>
                        <m:sSubPr>
                          <m:ctrlPr>
                            <a:rPr lang="en-US" sz="2400">
                              <a:latin typeface="Cambria Math" panose="02040503050406030204" pitchFamily="18" charset="0"/>
                            </a:rPr>
                          </m:ctrlPr>
                        </m:sSubPr>
                        <m:e>
                          <m:r>
                            <m:rPr>
                              <m:sty m:val="p"/>
                            </m:rPr>
                            <a:rPr lang="en-US" sz="2400">
                              <a:latin typeface="Cambria Math" panose="02040503050406030204" pitchFamily="18" charset="0"/>
                            </a:rPr>
                            <m:t>Σ</m:t>
                          </m:r>
                        </m:e>
                        <m:sub>
                          <m:r>
                            <a:rPr lang="en-US" sz="2400" i="1">
                              <a:latin typeface="Cambria Math" panose="02040503050406030204" pitchFamily="18" charset="0"/>
                            </a:rPr>
                            <m:t>𝑘</m:t>
                          </m:r>
                        </m:sub>
                      </m:sSub>
                      <m:sSubSup>
                        <m:sSubSupPr>
                          <m:ctrlPr>
                            <a:rPr lang="en-US" sz="2400" i="1">
                              <a:latin typeface="Cambria Math" panose="02040503050406030204" pitchFamily="18" charset="0"/>
                            </a:rPr>
                          </m:ctrlPr>
                        </m:sSubSupPr>
                        <m:e>
                          <m:r>
                            <a:rPr lang="en-US" sz="2400" i="1">
                              <a:latin typeface="Cambria Math" panose="02040503050406030204" pitchFamily="18" charset="0"/>
                            </a:rPr>
                            <m:t>𝑉</m:t>
                          </m:r>
                        </m:e>
                        <m:sub>
                          <m:r>
                            <a:rPr lang="en-US" sz="2400" i="1">
                              <a:latin typeface="Cambria Math" panose="02040503050406030204" pitchFamily="18" charset="0"/>
                            </a:rPr>
                            <m:t>𝑘</m:t>
                          </m:r>
                        </m:sub>
                        <m:sup>
                          <m:r>
                            <a:rPr lang="en-US" sz="2400" i="1">
                              <a:latin typeface="Cambria Math" panose="02040503050406030204" pitchFamily="18" charset="0"/>
                            </a:rPr>
                            <m:t>𝑇</m:t>
                          </m:r>
                        </m:sup>
                      </m:sSubSup>
                    </m:oMath>
                  </m:oMathPara>
                </a14:m>
                <a:endParaRPr lang="ru-RU" dirty="0"/>
              </a:p>
              <a:p>
                <a:r>
                  <a:rPr lang="ru-RU" dirty="0"/>
                  <a:t>Таким образом, можно анализировать векторы терма </a:t>
                </a:r>
                <a14:m>
                  <m:oMath xmlns:m="http://schemas.openxmlformats.org/officeDocument/2006/math">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𝑡</m:t>
                            </m:r>
                          </m:e>
                        </m:acc>
                      </m:e>
                      <m:sub>
                        <m:r>
                          <a:rPr lang="en-US" sz="2400" b="0" i="1" smtClean="0">
                            <a:latin typeface="Cambria Math" panose="02040503050406030204" pitchFamily="18" charset="0"/>
                          </a:rPr>
                          <m:t>𝑖</m:t>
                        </m:r>
                      </m:sub>
                      <m:sup>
                        <m:r>
                          <a:rPr lang="en-US" sz="2400" b="0" i="1" smtClean="0">
                            <a:latin typeface="Cambria Math" panose="02040503050406030204" pitchFamily="18" charset="0"/>
                          </a:rPr>
                          <m:t>∗</m:t>
                        </m:r>
                      </m:sup>
                    </m:sSubSup>
                  </m:oMath>
                </a14:m>
                <a:r>
                  <a:rPr lang="en-US" dirty="0"/>
                  <a:t> </a:t>
                </a:r>
                <a:r>
                  <a:rPr lang="ru-RU" dirty="0"/>
                  <a:t>и документа </a:t>
                </a:r>
                <a14:m>
                  <m:oMath xmlns:m="http://schemas.openxmlformats.org/officeDocument/2006/math">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𝑑</m:t>
                            </m:r>
                          </m:e>
                        </m:acc>
                      </m:e>
                      <m:sub>
                        <m:r>
                          <a:rPr lang="en-US" sz="2400" b="0" i="1" smtClean="0">
                            <a:latin typeface="Cambria Math" panose="02040503050406030204" pitchFamily="18" charset="0"/>
                          </a:rPr>
                          <m:t>𝑗</m:t>
                        </m:r>
                      </m:sub>
                      <m:sup>
                        <m:r>
                          <a:rPr lang="en-US" sz="2400" b="0" i="1" smtClean="0">
                            <a:latin typeface="Cambria Math" panose="02040503050406030204" pitchFamily="18" charset="0"/>
                          </a:rPr>
                          <m:t>∗</m:t>
                        </m:r>
                      </m:sup>
                    </m:sSubSup>
                  </m:oMath>
                </a14:m>
                <a:r>
                  <a:rPr lang="en-US" dirty="0"/>
                  <a:t> </a:t>
                </a:r>
                <a:r>
                  <a:rPr lang="ru-RU" dirty="0"/>
                  <a:t>в полученном пространстве меньшей размерности («семантическом» пространстве)</a:t>
                </a:r>
              </a:p>
              <a:p>
                <a:pPr lvl="1"/>
                <a:r>
                  <a:rPr lang="ru-RU" dirty="0"/>
                  <a:t>Для определения связи между документами </a:t>
                </a:r>
                <a14:m>
                  <m:oMath xmlns:m="http://schemas.openxmlformats.org/officeDocument/2006/math">
                    <m:r>
                      <a:rPr lang="en-US" b="0" i="1" smtClean="0">
                        <a:latin typeface="Cambria Math" panose="02040503050406030204" pitchFamily="18" charset="0"/>
                      </a:rPr>
                      <m:t>𝑗</m:t>
                    </m:r>
                  </m:oMath>
                </a14:m>
                <a:r>
                  <a:rPr lang="en-US" dirty="0"/>
                  <a:t> </a:t>
                </a:r>
                <a:r>
                  <a:rPr lang="ru-RU" dirty="0"/>
                  <a:t>и </a:t>
                </a:r>
                <a14:m>
                  <m:oMath xmlns:m="http://schemas.openxmlformats.org/officeDocument/2006/math">
                    <m:r>
                      <a:rPr lang="en-US" b="0" i="1" smtClean="0">
                        <a:latin typeface="Cambria Math" panose="02040503050406030204" pitchFamily="18" charset="0"/>
                      </a:rPr>
                      <m:t>𝑞</m:t>
                    </m:r>
                  </m:oMath>
                </a14:m>
                <a:r>
                  <a:rPr lang="en-US" dirty="0"/>
                  <a:t> </a:t>
                </a:r>
                <a:r>
                  <a:rPr lang="ru-RU" dirty="0"/>
                  <a:t>можно сравнить векторы </a:t>
                </a:r>
                <a14:m>
                  <m:oMath xmlns:m="http://schemas.openxmlformats.org/officeDocument/2006/math">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𝑑</m:t>
                            </m:r>
                          </m:e>
                        </m:acc>
                      </m:e>
                      <m:sub>
                        <m:r>
                          <a:rPr lang="en-US" i="1">
                            <a:latin typeface="Cambria Math" panose="02040503050406030204" pitchFamily="18" charset="0"/>
                          </a:rPr>
                          <m:t>𝑗</m:t>
                        </m:r>
                      </m:sub>
                      <m:sup>
                        <m:r>
                          <a:rPr lang="en-US" i="1">
                            <a:latin typeface="Cambria Math" panose="02040503050406030204" pitchFamily="18" charset="0"/>
                          </a:rPr>
                          <m:t>∗</m:t>
                        </m:r>
                      </m:sup>
                    </m:sSubSup>
                    <m:r>
                      <a:rPr lang="en-US" i="1">
                        <a:latin typeface="Cambria Math" panose="02040503050406030204" pitchFamily="18" charset="0"/>
                      </a:rPr>
                      <m:t> </m:t>
                    </m:r>
                  </m:oMath>
                </a14:m>
                <a:r>
                  <a:rPr lang="ru-RU" dirty="0"/>
                  <a:t>и </a:t>
                </a:r>
                <a14:m>
                  <m:oMath xmlns:m="http://schemas.openxmlformats.org/officeDocument/2006/math">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𝑑</m:t>
                            </m:r>
                          </m:e>
                        </m:acc>
                      </m:e>
                      <m:sub>
                        <m:r>
                          <a:rPr lang="en-US" b="0" i="1" smtClean="0">
                            <a:latin typeface="Cambria Math" panose="02040503050406030204" pitchFamily="18" charset="0"/>
                          </a:rPr>
                          <m:t>𝑞</m:t>
                        </m:r>
                      </m:sub>
                      <m:sup>
                        <m:r>
                          <a:rPr lang="en-US" i="1">
                            <a:latin typeface="Cambria Math" panose="02040503050406030204" pitchFamily="18" charset="0"/>
                          </a:rPr>
                          <m:t>∗</m:t>
                        </m:r>
                      </m:sup>
                    </m:sSubSup>
                  </m:oMath>
                </a14:m>
                <a:r>
                  <a:rPr lang="ru-RU" dirty="0"/>
                  <a:t> (обычно оценивается косинус угла между ними – </a:t>
                </a:r>
                <a14:m>
                  <m:oMath xmlns:m="http://schemas.openxmlformats.org/officeDocument/2006/math">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𝜃</m:t>
                        </m:r>
                      </m:e>
                    </m:func>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𝑑</m:t>
                                </m:r>
                              </m:e>
                            </m:acc>
                          </m:e>
                          <m:sub>
                            <m:r>
                              <a:rPr lang="en-US" i="1">
                                <a:latin typeface="Cambria Math" panose="02040503050406030204" pitchFamily="18" charset="0"/>
                              </a:rPr>
                              <m:t>𝑗</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𝑑</m:t>
                                </m:r>
                              </m:e>
                            </m:acc>
                          </m:e>
                          <m:sub>
                            <m:r>
                              <a:rPr lang="en-US" b="0" i="1" smtClean="0">
                                <a:latin typeface="Cambria Math" panose="02040503050406030204" pitchFamily="18" charset="0"/>
                              </a:rPr>
                              <m:t>𝑞</m:t>
                            </m:r>
                          </m:sub>
                          <m:sup>
                            <m:r>
                              <a:rPr lang="en-US" i="1">
                                <a:latin typeface="Cambria Math" panose="02040503050406030204" pitchFamily="18" charset="0"/>
                              </a:rPr>
                              <m:t>∗</m:t>
                            </m:r>
                          </m:sup>
                        </m:sSubSup>
                      </m:num>
                      <m:den>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𝑑</m:t>
                                    </m:r>
                                  </m:e>
                                </m:acc>
                              </m:e>
                              <m:sub>
                                <m:r>
                                  <a:rPr lang="en-US" i="1">
                                    <a:latin typeface="Cambria Math" panose="02040503050406030204" pitchFamily="18" charset="0"/>
                                  </a:rPr>
                                  <m:t>𝑗</m:t>
                                </m:r>
                              </m:sub>
                              <m:sup>
                                <m:r>
                                  <a:rPr lang="en-US" i="1">
                                    <a:latin typeface="Cambria Math" panose="02040503050406030204" pitchFamily="18" charset="0"/>
                                  </a:rPr>
                                  <m:t>∗</m:t>
                                </m:r>
                              </m:sup>
                            </m:sSubSup>
                          </m:e>
                        </m:d>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𝑑</m:t>
                                    </m:r>
                                  </m:e>
                                </m:acc>
                              </m:e>
                              <m:sub>
                                <m:r>
                                  <a:rPr lang="en-US" b="0" i="1" smtClean="0">
                                    <a:latin typeface="Cambria Math" panose="02040503050406030204" pitchFamily="18" charset="0"/>
                                  </a:rPr>
                                  <m:t>𝑞</m:t>
                                </m:r>
                              </m:sub>
                              <m:sup>
                                <m:r>
                                  <a:rPr lang="en-US" i="1">
                                    <a:latin typeface="Cambria Math" panose="02040503050406030204" pitchFamily="18" charset="0"/>
                                  </a:rPr>
                                  <m:t>∗</m:t>
                                </m:r>
                              </m:sup>
                            </m:sSubSup>
                          </m:e>
                        </m:d>
                      </m:den>
                    </m:f>
                  </m:oMath>
                </a14:m>
                <a:r>
                  <a:rPr lang="ru-RU" dirty="0"/>
                  <a:t>) </a:t>
                </a:r>
              </a:p>
              <a:p>
                <a:pPr lvl="1"/>
                <a:r>
                  <a:rPr lang="ru-RU" dirty="0"/>
                  <a:t>Для сравнения термов </a:t>
                </a:r>
                <a14:m>
                  <m:oMath xmlns:m="http://schemas.openxmlformats.org/officeDocument/2006/math">
                    <m:r>
                      <a:rPr lang="en-US" b="0" i="1" smtClean="0">
                        <a:latin typeface="Cambria Math" panose="02040503050406030204" pitchFamily="18" charset="0"/>
                      </a:rPr>
                      <m:t>𝑖</m:t>
                    </m:r>
                  </m:oMath>
                </a14:m>
                <a:r>
                  <a:rPr lang="en-US" dirty="0"/>
                  <a:t> </a:t>
                </a:r>
                <a:r>
                  <a:rPr lang="ru-RU" dirty="0"/>
                  <a:t>и </a:t>
                </a:r>
                <a14:m>
                  <m:oMath xmlns:m="http://schemas.openxmlformats.org/officeDocument/2006/math">
                    <m:r>
                      <a:rPr lang="en-US" b="0" i="1" smtClean="0">
                        <a:latin typeface="Cambria Math" panose="02040503050406030204" pitchFamily="18" charset="0"/>
                      </a:rPr>
                      <m:t>𝑝</m:t>
                    </m:r>
                  </m:oMath>
                </a14:m>
                <a:r>
                  <a:rPr lang="en-US" dirty="0"/>
                  <a:t> </a:t>
                </a:r>
                <a:r>
                  <a:rPr lang="ru-RU" dirty="0"/>
                  <a:t>можно сравнить векторы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𝑡</m:t>
                            </m:r>
                          </m:e>
                        </m:acc>
                      </m:e>
                      <m:sub>
                        <m:r>
                          <a:rPr lang="en-US" sz="2000" i="1">
                            <a:latin typeface="Cambria Math" panose="02040503050406030204" pitchFamily="18" charset="0"/>
                          </a:rPr>
                          <m:t>𝑖</m:t>
                        </m:r>
                      </m:sub>
                    </m:sSub>
                  </m:oMath>
                </a14:m>
                <a:r>
                  <a:rPr lang="ru-RU" dirty="0"/>
                  <a:t> и</a:t>
                </a:r>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𝑡</m:t>
                            </m:r>
                          </m:e>
                        </m:acc>
                      </m:e>
                      <m:sub>
                        <m:r>
                          <a:rPr lang="en-US" b="0" i="1" smtClean="0">
                            <a:latin typeface="Cambria Math" panose="02040503050406030204" pitchFamily="18" charset="0"/>
                          </a:rPr>
                          <m:t>𝑝</m:t>
                        </m:r>
                      </m:sub>
                    </m:sSub>
                  </m:oMath>
                </a14:m>
                <a:r>
                  <a:rPr lang="ru-RU" dirty="0"/>
                  <a:t>  </a:t>
                </a:r>
              </a:p>
              <a:p>
                <a:pPr lvl="1"/>
                <a:r>
                  <a:rPr lang="ru-RU" dirty="0"/>
                  <a:t>Сами векторы могут использоваться для других задач машинного обучения, в т.ч. для кластеризации и классификации документов и термов</a:t>
                </a:r>
              </a:p>
              <a:p>
                <a:pPr lvl="1"/>
                <a:r>
                  <a:rPr lang="ru-RU" dirty="0"/>
                  <a:t>Поисковой запрос можно считать «мини-документом» и преобразовать в то же пространство, и, используя некоторую меру подобия, реализовать поиск</a:t>
                </a:r>
                <a:endParaRPr lang="LID4096" dirty="0"/>
              </a:p>
            </p:txBody>
          </p:sp>
        </mc:Choice>
        <mc:Fallback xmlns="">
          <p:sp>
            <p:nvSpPr>
              <p:cNvPr id="2" name="Content Placeholder 1">
                <a:extLst>
                  <a:ext uri="{FF2B5EF4-FFF2-40B4-BE49-F238E27FC236}">
                    <a16:creationId xmlns:a16="http://schemas.microsoft.com/office/drawing/2014/main" id="{15BC0F71-EF33-4EDB-A63B-988D1D214AE9}"/>
                  </a:ext>
                </a:extLst>
              </p:cNvPr>
              <p:cNvSpPr>
                <a:spLocks noGrp="1" noRot="1" noChangeAspect="1" noMove="1" noResize="1" noEditPoints="1" noAdjustHandles="1" noChangeArrowheads="1" noChangeShapeType="1" noTextEdit="1"/>
              </p:cNvSpPr>
              <p:nvPr>
                <p:ph idx="1"/>
              </p:nvPr>
            </p:nvSpPr>
            <p:spPr>
              <a:xfrm>
                <a:off x="1097280" y="2094015"/>
                <a:ext cx="10058400" cy="5112327"/>
              </a:xfrm>
              <a:blipFill>
                <a:blip r:embed="rId2"/>
                <a:stretch>
                  <a:fillRect l="-606"/>
                </a:stretch>
              </a:blipFill>
            </p:spPr>
            <p:txBody>
              <a:bodyPr/>
              <a:lstStyle/>
              <a:p>
                <a:r>
                  <a:rPr lang="ru-RU">
                    <a:noFill/>
                  </a:rPr>
                  <a:t> </a:t>
                </a:r>
              </a:p>
            </p:txBody>
          </p:sp>
        </mc:Fallback>
      </mc:AlternateContent>
      <p:sp>
        <p:nvSpPr>
          <p:cNvPr id="3" name="Title 2">
            <a:extLst>
              <a:ext uri="{FF2B5EF4-FFF2-40B4-BE49-F238E27FC236}">
                <a16:creationId xmlns:a16="http://schemas.microsoft.com/office/drawing/2014/main" id="{C3A3156C-06E5-4047-90F2-A016D2B1D681}"/>
              </a:ext>
            </a:extLst>
          </p:cNvPr>
          <p:cNvSpPr>
            <a:spLocks noGrp="1"/>
          </p:cNvSpPr>
          <p:nvPr>
            <p:ph type="title"/>
          </p:nvPr>
        </p:nvSpPr>
        <p:spPr>
          <a:xfrm>
            <a:off x="1097280" y="421817"/>
            <a:ext cx="10058400" cy="1369074"/>
          </a:xfrm>
        </p:spPr>
        <p:txBody>
          <a:bodyPr/>
          <a:lstStyle/>
          <a:p>
            <a:r>
              <a:rPr lang="ru-RU" dirty="0"/>
              <a:t>Латентный семантический анализ</a:t>
            </a:r>
            <a:endParaRPr lang="LID4096" dirty="0"/>
          </a:p>
        </p:txBody>
      </p:sp>
    </p:spTree>
    <p:extLst>
      <p:ext uri="{BB962C8B-B14F-4D97-AF65-F5344CB8AC3E}">
        <p14:creationId xmlns:p14="http://schemas.microsoft.com/office/powerpoint/2010/main" val="3053613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5071271-FDF8-43C8-870B-94FA45D20E7D}"/>
                  </a:ext>
                </a:extLst>
              </p:cNvPr>
              <p:cNvSpPr>
                <a:spLocks noGrp="1"/>
              </p:cNvSpPr>
              <p:nvPr>
                <p:ph idx="1"/>
              </p:nvPr>
            </p:nvSpPr>
            <p:spPr>
              <a:xfrm>
                <a:off x="1036320" y="1790891"/>
                <a:ext cx="10058400" cy="4289674"/>
              </a:xfrm>
            </p:spPr>
            <p:txBody>
              <a:bodyPr>
                <a:normAutofit/>
              </a:bodyPr>
              <a:lstStyle/>
              <a:p>
                <a:pPr marL="201168" lvl="1" indent="0">
                  <a:buNone/>
                </a:pPr>
                <a:r>
                  <a:rPr lang="ru-RU" sz="1600" dirty="0"/>
                  <a:t>Частоты появления слов в документах можно трактовать как оценку </a:t>
                </a:r>
                <a:r>
                  <a:rPr lang="ru-RU" sz="1600" b="1" dirty="0"/>
                  <a:t>вероятности</a:t>
                </a:r>
                <a:r>
                  <a:rPr lang="ru-RU" sz="1600" dirty="0"/>
                  <a:t> их появления в документе и/или корпусе</a:t>
                </a:r>
              </a:p>
              <a:p>
                <a:pPr marL="201168" lvl="1" indent="0">
                  <a:buNone/>
                </a:pPr>
                <a:endParaRPr lang="ru-RU" sz="1600" dirty="0"/>
              </a:p>
              <a:p>
                <a:pPr marL="201168" lvl="1" indent="0">
                  <a:buNone/>
                </a:pPr>
                <a:r>
                  <a:rPr lang="ru-RU" sz="1600" dirty="0"/>
                  <a:t>Пусть имеется набор тем </a:t>
                </a:r>
                <a14:m>
                  <m:oMath xmlns:m="http://schemas.openxmlformats.org/officeDocument/2006/math">
                    <m:d>
                      <m:dPr>
                        <m:begChr m:val="{"/>
                        <m:endChr m:val="}"/>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𝑧</m:t>
                            </m:r>
                          </m:e>
                          <m:sub>
                            <m:r>
                              <a:rPr lang="en-US" sz="1600" b="0" i="1" smtClean="0">
                                <a:latin typeface="Cambria Math" panose="02040503050406030204" pitchFamily="18" charset="0"/>
                              </a:rPr>
                              <m:t>𝑖</m:t>
                            </m:r>
                          </m:sub>
                        </m:sSub>
                      </m:e>
                    </m:d>
                    <m:r>
                      <a:rPr lang="en-US" sz="1600" b="0" i="1" smtClean="0">
                        <a:latin typeface="Cambria Math" panose="02040503050406030204" pitchFamily="18" charset="0"/>
                      </a:rPr>
                      <m:t>,</m:t>
                    </m:r>
                    <m:r>
                      <a:rPr lang="en-US" sz="1600" b="0" i="1" smtClean="0">
                        <a:latin typeface="Cambria Math" panose="02040503050406030204" pitchFamily="18" charset="0"/>
                      </a:rPr>
                      <m:t>𝑖</m:t>
                    </m:r>
                    <m:r>
                      <a:rPr lang="en-US" sz="1600" b="0" i="1" smtClean="0">
                        <a:latin typeface="Cambria Math" panose="02040503050406030204" pitchFamily="18" charset="0"/>
                      </a:rPr>
                      <m:t>=</m:t>
                    </m:r>
                    <m:acc>
                      <m:accPr>
                        <m:chr m:val="̅"/>
                        <m:ctrlPr>
                          <a:rPr lang="en-US" sz="1600" i="1">
                            <a:latin typeface="Cambria Math" panose="02040503050406030204" pitchFamily="18" charset="0"/>
                          </a:rPr>
                        </m:ctrlPr>
                      </m:accPr>
                      <m:e>
                        <m:r>
                          <a:rPr lang="en-US" sz="1600" i="1">
                            <a:latin typeface="Cambria Math" panose="02040503050406030204" pitchFamily="18" charset="0"/>
                          </a:rPr>
                          <m:t>1,</m:t>
                        </m:r>
                        <m:r>
                          <a:rPr lang="en-US" sz="1600" i="1">
                            <a:latin typeface="Cambria Math" panose="02040503050406030204" pitchFamily="18" charset="0"/>
                          </a:rPr>
                          <m:t>𝑘</m:t>
                        </m:r>
                      </m:e>
                    </m:acc>
                  </m:oMath>
                </a14:m>
                <a:r>
                  <a:rPr lang="ru-RU" sz="1600" dirty="0"/>
                  <a:t>, каждая из которых неизвестным нам образом связана с набором документов корпуса </a:t>
                </a:r>
                <a14:m>
                  <m:oMath xmlns:m="http://schemas.openxmlformats.org/officeDocument/2006/math">
                    <m:d>
                      <m:dPr>
                        <m:begChr m:val="{"/>
                        <m:endChr m:val="}"/>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m:t>
                            </m:r>
                          </m:e>
                          <m:sub>
                            <m:r>
                              <a:rPr lang="en-US" sz="1600" b="0" i="1" smtClean="0">
                                <a:latin typeface="Cambria Math" panose="02040503050406030204" pitchFamily="18" charset="0"/>
                              </a:rPr>
                              <m:t>𝑖</m:t>
                            </m:r>
                          </m:sub>
                        </m:sSub>
                      </m:e>
                    </m:d>
                  </m:oMath>
                </a14:m>
                <a:r>
                  <a:rPr lang="ru-RU" sz="1600" dirty="0"/>
                  <a:t> и термов </a:t>
                </a:r>
                <a14:m>
                  <m:oMath xmlns:m="http://schemas.openxmlformats.org/officeDocument/2006/math">
                    <m:d>
                      <m:dPr>
                        <m:begChr m:val="{"/>
                        <m:endChr m:val="}"/>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𝑖</m:t>
                            </m:r>
                          </m:sub>
                        </m:sSub>
                      </m:e>
                    </m:d>
                  </m:oMath>
                </a14:m>
                <a:r>
                  <a:rPr lang="ru-RU" sz="1600" dirty="0"/>
                  <a:t>.</a:t>
                </a:r>
              </a:p>
              <a:p>
                <a:pPr marL="201168" lvl="1" indent="0">
                  <a:buNone/>
                </a:pPr>
                <a:r>
                  <a:rPr lang="ru-RU" sz="1600" dirty="0"/>
                  <a:t>Предположим, что темы </a:t>
                </a:r>
                <a14:m>
                  <m:oMath xmlns:m="http://schemas.openxmlformats.org/officeDocument/2006/math">
                    <m:d>
                      <m:dPr>
                        <m:begChr m:val="{"/>
                        <m:endChr m:val="}"/>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𝑧</m:t>
                            </m:r>
                          </m:e>
                          <m:sub>
                            <m:r>
                              <a:rPr lang="en-US" sz="1600" b="0" i="1" smtClean="0">
                                <a:latin typeface="Cambria Math" panose="02040503050406030204" pitchFamily="18" charset="0"/>
                              </a:rPr>
                              <m:t>𝑖</m:t>
                            </m:r>
                          </m:sub>
                        </m:sSub>
                      </m:e>
                    </m:d>
                  </m:oMath>
                </a14:m>
                <a:r>
                  <a:rPr lang="en-US" sz="1600" dirty="0"/>
                  <a:t> </a:t>
                </a:r>
                <a:r>
                  <a:rPr lang="ru-RU" sz="1600" dirty="0"/>
                  <a:t>являются промежуточным звеном связи между документами и термами, т.е. связь между документом и термом определяется как связь между документам и его темами, и этими темами и термами. В вероятностной интерпретации:</a:t>
                </a:r>
              </a:p>
              <a:p>
                <a:pPr marL="201168" lvl="1" indent="0">
                  <a:buNone/>
                </a:pPr>
                <a14:m>
                  <m:oMath xmlns:m="http://schemas.openxmlformats.org/officeDocument/2006/math">
                    <m:r>
                      <a:rPr lang="en-US" sz="1600" b="0" i="1" smtClean="0">
                        <a:latin typeface="Cambria Math" panose="02040503050406030204" pitchFamily="18" charset="0"/>
                      </a:rPr>
                      <m:t>𝑃</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𝑑</m:t>
                        </m:r>
                      </m:e>
                    </m:d>
                  </m:oMath>
                </a14:m>
                <a:r>
                  <a:rPr lang="en-US" sz="1600" dirty="0"/>
                  <a:t> - </a:t>
                </a:r>
                <a:r>
                  <a:rPr lang="ru-RU" sz="1600" dirty="0"/>
                  <a:t>вероятность выбора документа</a:t>
                </a:r>
              </a:p>
              <a:p>
                <a:pPr marL="201168" lvl="1" indent="0">
                  <a:buNone/>
                </a:pPr>
                <a14:m>
                  <m:oMath xmlns:m="http://schemas.openxmlformats.org/officeDocument/2006/math">
                    <m:r>
                      <a:rPr lang="en-US" sz="1600" b="0" i="1" smtClean="0">
                        <a:latin typeface="Cambria Math" panose="02040503050406030204" pitchFamily="18" charset="0"/>
                      </a:rPr>
                      <m:t>𝑃</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𝑤</m:t>
                        </m:r>
                      </m:e>
                      <m:e>
                        <m:r>
                          <a:rPr lang="en-US" sz="1600" b="0" i="1" smtClean="0">
                            <a:latin typeface="Cambria Math" panose="02040503050406030204" pitchFamily="18" charset="0"/>
                          </a:rPr>
                          <m:t>𝑑</m:t>
                        </m:r>
                      </m:e>
                    </m:d>
                  </m:oMath>
                </a14:m>
                <a:r>
                  <a:rPr lang="en-US" sz="1600" dirty="0"/>
                  <a:t> - </a:t>
                </a:r>
                <a:r>
                  <a:rPr lang="ru-RU" sz="1600" dirty="0"/>
                  <a:t>вероятность появления слова при выбранном документе</a:t>
                </a:r>
              </a:p>
              <a:p>
                <a:pPr marL="201168" lvl="1" indent="0">
                  <a:buNone/>
                </a:pPr>
                <a:r>
                  <a:rPr lang="ru-RU" sz="1600" dirty="0"/>
                  <a:t>Если документы условно независимы и порядок слов не учитывается, то</a:t>
                </a:r>
              </a:p>
              <a:p>
                <a:pPr marL="201168" lvl="1" indent="0">
                  <a:buNone/>
                </a:pPr>
                <a14:m>
                  <m:oMathPara xmlns:m="http://schemas.openxmlformats.org/officeDocument/2006/math">
                    <m:oMath>
                      <m:r>
                        <a:rPr lang="en-US" sz="1600" b="0" i="1" smtClean="0">
                          <a:latin typeface="Cambria Math" panose="02040503050406030204" pitchFamily="18" charset="0"/>
                        </a:rPr>
                        <m:t>𝑃</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𝑑</m:t>
                          </m:r>
                          <m:r>
                            <a:rPr lang="en-US" sz="1600" b="0" i="1" smtClean="0">
                              <a:latin typeface="Cambria Math" panose="02040503050406030204" pitchFamily="18" charset="0"/>
                            </a:rPr>
                            <m:t>,</m:t>
                          </m:r>
                          <m:r>
                            <a:rPr lang="en-US" sz="1600" b="0" i="1" smtClean="0">
                              <a:latin typeface="Cambria Math" panose="02040503050406030204" pitchFamily="18" charset="0"/>
                            </a:rPr>
                            <m:t>𝑤</m:t>
                          </m:r>
                        </m:e>
                      </m:d>
                      <m:r>
                        <a:rPr lang="en-US" sz="1600" b="0" i="1" smtClean="0">
                          <a:latin typeface="Cambria Math" panose="02040503050406030204" pitchFamily="18" charset="0"/>
                        </a:rPr>
                        <m:t>=</m:t>
                      </m:r>
                      <m:r>
                        <a:rPr lang="en-US" sz="1600" b="0" i="1" smtClean="0">
                          <a:latin typeface="Cambria Math" panose="02040503050406030204" pitchFamily="18" charset="0"/>
                        </a:rPr>
                        <m:t>𝑃</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𝑑</m:t>
                          </m:r>
                        </m:e>
                      </m:d>
                      <m:nary>
                        <m:naryPr>
                          <m:chr m:val="∑"/>
                          <m:supHide m:val="on"/>
                          <m:ctrlPr>
                            <a:rPr lang="en-US" sz="1600" b="0" i="1" smtClean="0">
                              <a:latin typeface="Cambria Math" panose="02040503050406030204" pitchFamily="18" charset="0"/>
                            </a:rPr>
                          </m:ctrlPr>
                        </m:naryPr>
                        <m:sub>
                          <m:r>
                            <a:rPr lang="en-US" sz="1600" b="0" i="1" smtClean="0">
                              <a:latin typeface="Cambria Math" panose="02040503050406030204" pitchFamily="18" charset="0"/>
                            </a:rPr>
                            <m:t>𝑍</m:t>
                          </m:r>
                        </m:sub>
                        <m:sup/>
                        <m:e>
                          <m:r>
                            <a:rPr lang="en-US" sz="1600" b="0" i="1" smtClean="0">
                              <a:latin typeface="Cambria Math" panose="02040503050406030204" pitchFamily="18" charset="0"/>
                            </a:rPr>
                            <m:t>𝑃</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𝑧</m:t>
                              </m:r>
                            </m:e>
                            <m:e>
                              <m:r>
                                <a:rPr lang="en-US" sz="1600" b="0" i="1" smtClean="0">
                                  <a:latin typeface="Cambria Math" panose="02040503050406030204" pitchFamily="18" charset="0"/>
                                </a:rPr>
                                <m:t>𝑑</m:t>
                              </m:r>
                            </m:e>
                          </m:d>
                          <m:r>
                            <a:rPr lang="en-US" sz="1600" b="0" i="1" smtClean="0">
                              <a:latin typeface="Cambria Math" panose="02040503050406030204" pitchFamily="18" charset="0"/>
                            </a:rPr>
                            <m:t>𝑃</m:t>
                          </m:r>
                          <m:r>
                            <a:rPr lang="en-US" sz="1600" b="0" i="1" smtClean="0">
                              <a:latin typeface="Cambria Math" panose="02040503050406030204" pitchFamily="18" charset="0"/>
                            </a:rPr>
                            <m:t>(</m:t>
                          </m:r>
                          <m:r>
                            <a:rPr lang="en-US" sz="1600" b="0" i="1" smtClean="0">
                              <a:latin typeface="Cambria Math" panose="02040503050406030204" pitchFamily="18" charset="0"/>
                            </a:rPr>
                            <m:t>𝑤</m:t>
                          </m:r>
                          <m:r>
                            <a:rPr lang="en-US" sz="1600" b="0" i="1" smtClean="0">
                              <a:latin typeface="Cambria Math" panose="02040503050406030204" pitchFamily="18" charset="0"/>
                            </a:rPr>
                            <m:t>|</m:t>
                          </m:r>
                          <m:r>
                            <a:rPr lang="en-US" sz="1600" b="0" i="1" smtClean="0">
                              <a:latin typeface="Cambria Math" panose="02040503050406030204" pitchFamily="18" charset="0"/>
                            </a:rPr>
                            <m:t>𝑧</m:t>
                          </m:r>
                          <m:r>
                            <a:rPr lang="en-US" sz="1600" b="0" i="1" smtClean="0">
                              <a:latin typeface="Cambria Math" panose="02040503050406030204" pitchFamily="18" charset="0"/>
                            </a:rPr>
                            <m:t>)</m:t>
                          </m:r>
                        </m:e>
                      </m:nary>
                      <m:r>
                        <a:rPr lang="ru-RU" sz="1600" b="0" i="1" smtClean="0">
                          <a:latin typeface="Cambria Math" panose="02040503050406030204" pitchFamily="18" charset="0"/>
                        </a:rPr>
                        <m:t>=</m:t>
                      </m:r>
                      <m:nary>
                        <m:naryPr>
                          <m:chr m:val="∑"/>
                          <m:supHide m:val="on"/>
                          <m:ctrlPr>
                            <a:rPr lang="en-US" sz="1600" i="1">
                              <a:latin typeface="Cambria Math" panose="02040503050406030204" pitchFamily="18" charset="0"/>
                            </a:rPr>
                          </m:ctrlPr>
                        </m:naryPr>
                        <m:sub>
                          <m:r>
                            <a:rPr lang="en-US" sz="1600" i="1">
                              <a:latin typeface="Cambria Math" panose="02040503050406030204" pitchFamily="18" charset="0"/>
                            </a:rPr>
                            <m:t>𝑍</m:t>
                          </m:r>
                        </m:sub>
                        <m:sup/>
                        <m:e>
                          <m:r>
                            <a:rPr lang="en-US" sz="1600" b="1" i="1" smtClean="0">
                              <a:solidFill>
                                <a:schemeClr val="accent1"/>
                              </a:solidFill>
                              <a:latin typeface="Cambria Math" panose="02040503050406030204" pitchFamily="18" charset="0"/>
                            </a:rPr>
                            <m:t>𝑷</m:t>
                          </m:r>
                          <m:d>
                            <m:dPr>
                              <m:ctrlPr>
                                <a:rPr lang="en-US" sz="1600" b="1" i="1" smtClean="0">
                                  <a:solidFill>
                                    <a:schemeClr val="accent1"/>
                                  </a:solidFill>
                                  <a:latin typeface="Cambria Math" panose="02040503050406030204" pitchFamily="18" charset="0"/>
                                </a:rPr>
                              </m:ctrlPr>
                            </m:dPr>
                            <m:e>
                              <m:r>
                                <a:rPr lang="en-US" sz="1600" b="1" i="1" smtClean="0">
                                  <a:solidFill>
                                    <a:schemeClr val="accent1"/>
                                  </a:solidFill>
                                  <a:latin typeface="Cambria Math" panose="02040503050406030204" pitchFamily="18" charset="0"/>
                                </a:rPr>
                                <m:t>𝒛</m:t>
                              </m:r>
                            </m:e>
                          </m:d>
                          <m:r>
                            <a:rPr lang="en-US" sz="1600" b="1" i="1" smtClean="0">
                              <a:solidFill>
                                <a:srgbClr val="9A0000"/>
                              </a:solidFill>
                              <a:latin typeface="Cambria Math" panose="02040503050406030204" pitchFamily="18" charset="0"/>
                            </a:rPr>
                            <m:t>𝑷</m:t>
                          </m:r>
                          <m:d>
                            <m:dPr>
                              <m:ctrlPr>
                                <a:rPr lang="en-US" sz="1600" b="1" i="1" smtClean="0">
                                  <a:solidFill>
                                    <a:srgbClr val="9A0000"/>
                                  </a:solidFill>
                                  <a:latin typeface="Cambria Math" panose="02040503050406030204" pitchFamily="18" charset="0"/>
                                </a:rPr>
                              </m:ctrlPr>
                            </m:dPr>
                            <m:e>
                              <m:r>
                                <a:rPr lang="en-US" sz="1600" b="1" i="1" smtClean="0">
                                  <a:solidFill>
                                    <a:srgbClr val="9A0000"/>
                                  </a:solidFill>
                                  <a:latin typeface="Cambria Math" panose="02040503050406030204" pitchFamily="18" charset="0"/>
                                </a:rPr>
                                <m:t>𝒅</m:t>
                              </m:r>
                            </m:e>
                            <m:e>
                              <m:r>
                                <a:rPr lang="en-US" sz="1600" b="1" i="1" smtClean="0">
                                  <a:solidFill>
                                    <a:srgbClr val="9A0000"/>
                                  </a:solidFill>
                                  <a:latin typeface="Cambria Math" panose="02040503050406030204" pitchFamily="18" charset="0"/>
                                </a:rPr>
                                <m:t>𝒛</m:t>
                              </m:r>
                            </m:e>
                          </m:d>
                          <m:r>
                            <a:rPr lang="en-US" sz="1600" b="1" i="1" smtClean="0">
                              <a:solidFill>
                                <a:schemeClr val="accent6"/>
                              </a:solidFill>
                              <a:latin typeface="Cambria Math" panose="02040503050406030204" pitchFamily="18" charset="0"/>
                            </a:rPr>
                            <m:t>𝑷</m:t>
                          </m:r>
                          <m:r>
                            <a:rPr lang="en-US" sz="1600" b="1" i="1" smtClean="0">
                              <a:solidFill>
                                <a:schemeClr val="accent6"/>
                              </a:solidFill>
                              <a:latin typeface="Cambria Math" panose="02040503050406030204" pitchFamily="18" charset="0"/>
                            </a:rPr>
                            <m:t>(</m:t>
                          </m:r>
                          <m:r>
                            <a:rPr lang="en-US" sz="1600" b="1" i="1" smtClean="0">
                              <a:solidFill>
                                <a:schemeClr val="accent6"/>
                              </a:solidFill>
                              <a:latin typeface="Cambria Math" panose="02040503050406030204" pitchFamily="18" charset="0"/>
                            </a:rPr>
                            <m:t>𝒘</m:t>
                          </m:r>
                          <m:r>
                            <a:rPr lang="en-US" sz="1600" b="1" i="1">
                              <a:solidFill>
                                <a:schemeClr val="accent6"/>
                              </a:solidFill>
                              <a:latin typeface="Cambria Math" panose="02040503050406030204" pitchFamily="18" charset="0"/>
                            </a:rPr>
                            <m:t>|</m:t>
                          </m:r>
                          <m:r>
                            <a:rPr lang="en-US" sz="1600" b="1" i="1" smtClean="0">
                              <a:solidFill>
                                <a:schemeClr val="accent6"/>
                              </a:solidFill>
                              <a:latin typeface="Cambria Math" panose="02040503050406030204" pitchFamily="18" charset="0"/>
                            </a:rPr>
                            <m:t>𝒛</m:t>
                          </m:r>
                          <m:r>
                            <a:rPr lang="en-US" sz="1600" b="1" i="1">
                              <a:solidFill>
                                <a:schemeClr val="accent6"/>
                              </a:solidFill>
                              <a:latin typeface="Cambria Math" panose="02040503050406030204" pitchFamily="18" charset="0"/>
                            </a:rPr>
                            <m:t>)</m:t>
                          </m:r>
                        </m:e>
                      </m:nary>
                    </m:oMath>
                  </m:oMathPara>
                </a14:m>
                <a:endParaRPr lang="LID4096" sz="1600" dirty="0"/>
              </a:p>
            </p:txBody>
          </p:sp>
        </mc:Choice>
        <mc:Fallback xmlns="">
          <p:sp>
            <p:nvSpPr>
              <p:cNvPr id="2" name="Content Placeholder 1">
                <a:extLst>
                  <a:ext uri="{FF2B5EF4-FFF2-40B4-BE49-F238E27FC236}">
                    <a16:creationId xmlns:a16="http://schemas.microsoft.com/office/drawing/2014/main" id="{55071271-FDF8-43C8-870B-94FA45D20E7D}"/>
                  </a:ext>
                </a:extLst>
              </p:cNvPr>
              <p:cNvSpPr>
                <a:spLocks noGrp="1" noRot="1" noChangeAspect="1" noMove="1" noResize="1" noEditPoints="1" noAdjustHandles="1" noChangeArrowheads="1" noChangeShapeType="1" noTextEdit="1"/>
              </p:cNvSpPr>
              <p:nvPr>
                <p:ph idx="1"/>
              </p:nvPr>
            </p:nvSpPr>
            <p:spPr>
              <a:xfrm>
                <a:off x="1036320" y="1790891"/>
                <a:ext cx="10058400" cy="4289674"/>
              </a:xfrm>
              <a:blipFill>
                <a:blip r:embed="rId3"/>
                <a:stretch>
                  <a:fillRect t="-996" r="-364"/>
                </a:stretch>
              </a:blipFill>
            </p:spPr>
            <p:txBody>
              <a:bodyPr/>
              <a:lstStyle/>
              <a:p>
                <a:r>
                  <a:rPr lang="ru-RU">
                    <a:noFill/>
                  </a:rPr>
                  <a:t> </a:t>
                </a:r>
              </a:p>
            </p:txBody>
          </p:sp>
        </mc:Fallback>
      </mc:AlternateContent>
      <p:sp>
        <p:nvSpPr>
          <p:cNvPr id="3" name="Title 2">
            <a:extLst>
              <a:ext uri="{FF2B5EF4-FFF2-40B4-BE49-F238E27FC236}">
                <a16:creationId xmlns:a16="http://schemas.microsoft.com/office/drawing/2014/main" id="{95BFAF24-7E78-46A1-8CF4-09129C4A6175}"/>
              </a:ext>
            </a:extLst>
          </p:cNvPr>
          <p:cNvSpPr>
            <a:spLocks noGrp="1"/>
          </p:cNvSpPr>
          <p:nvPr>
            <p:ph type="title"/>
          </p:nvPr>
        </p:nvSpPr>
        <p:spPr/>
        <p:txBody>
          <a:bodyPr/>
          <a:lstStyle/>
          <a:p>
            <a:r>
              <a:rPr lang="ru-RU" dirty="0"/>
              <a:t>Тематическое моделирование</a:t>
            </a:r>
            <a:endParaRPr lang="LID4096" dirty="0"/>
          </a:p>
        </p:txBody>
      </p:sp>
      <p:pic>
        <p:nvPicPr>
          <p:cNvPr id="6" name="Picture 5" descr="Diagram&#10;&#10;Description automatically generated">
            <a:extLst>
              <a:ext uri="{FF2B5EF4-FFF2-40B4-BE49-F238E27FC236}">
                <a16:creationId xmlns:a16="http://schemas.microsoft.com/office/drawing/2014/main" id="{987B9D95-2BAE-40CF-B147-B26E318D91AF}"/>
              </a:ext>
            </a:extLst>
          </p:cNvPr>
          <p:cNvPicPr>
            <a:picLocks noChangeAspect="1"/>
          </p:cNvPicPr>
          <p:nvPr/>
        </p:nvPicPr>
        <p:blipFill>
          <a:blip r:embed="rId4"/>
          <a:stretch>
            <a:fillRect/>
          </a:stretch>
        </p:blipFill>
        <p:spPr>
          <a:xfrm>
            <a:off x="9260172" y="4391090"/>
            <a:ext cx="2931828" cy="2466910"/>
          </a:xfrm>
          <a:prstGeom prst="rect">
            <a:avLst/>
          </a:prstGeo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EDF1360-7765-45DE-88FD-1EBCEE1FB711}"/>
                  </a:ext>
                </a:extLst>
              </p:cNvPr>
              <p:cNvSpPr/>
              <p:nvPr/>
            </p:nvSpPr>
            <p:spPr>
              <a:xfrm>
                <a:off x="5161886" y="5781049"/>
                <a:ext cx="2105320" cy="491032"/>
              </a:xfrm>
              <a:prstGeom prst="rect">
                <a:avLst/>
              </a:prstGeom>
            </p:spPr>
            <p:txBody>
              <a:bodyPr wrap="none">
                <a:spAutoFit/>
              </a:bodyPr>
              <a:lstStyle/>
              <a:p>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𝑘</m:t>
                          </m:r>
                        </m:sub>
                      </m:sSub>
                      <m:r>
                        <a:rPr lang="en-US" sz="2400" i="1">
                          <a:latin typeface="Cambria Math" panose="02040503050406030204" pitchFamily="18" charset="0"/>
                        </a:rPr>
                        <m:t>=</m:t>
                      </m:r>
                      <m:sSub>
                        <m:sSubPr>
                          <m:ctrlPr>
                            <a:rPr lang="en-US" sz="2400" b="1" i="1">
                              <a:solidFill>
                                <a:srgbClr val="9A0000"/>
                              </a:solidFill>
                              <a:latin typeface="Cambria Math" panose="02040503050406030204" pitchFamily="18" charset="0"/>
                            </a:rPr>
                          </m:ctrlPr>
                        </m:sSubPr>
                        <m:e>
                          <m:r>
                            <a:rPr lang="en-US" sz="2400" b="1" i="1">
                              <a:solidFill>
                                <a:srgbClr val="9A0000"/>
                              </a:solidFill>
                              <a:latin typeface="Cambria Math" panose="02040503050406030204" pitchFamily="18" charset="0"/>
                            </a:rPr>
                            <m:t>𝑼</m:t>
                          </m:r>
                        </m:e>
                        <m:sub>
                          <m:r>
                            <a:rPr lang="en-US" sz="2400" b="1" i="1">
                              <a:solidFill>
                                <a:srgbClr val="9A0000"/>
                              </a:solidFill>
                              <a:latin typeface="Cambria Math" panose="02040503050406030204" pitchFamily="18" charset="0"/>
                            </a:rPr>
                            <m:t>𝒌</m:t>
                          </m:r>
                        </m:sub>
                      </m:sSub>
                      <m:sSub>
                        <m:sSubPr>
                          <m:ctrlPr>
                            <a:rPr lang="en-US" sz="2400" b="1" i="1">
                              <a:solidFill>
                                <a:schemeClr val="accent1"/>
                              </a:solidFill>
                              <a:latin typeface="Cambria Math" panose="02040503050406030204" pitchFamily="18" charset="0"/>
                            </a:rPr>
                          </m:ctrlPr>
                        </m:sSubPr>
                        <m:e>
                          <m:r>
                            <a:rPr lang="en-US" sz="2400" b="1" i="1">
                              <a:solidFill>
                                <a:schemeClr val="accent1"/>
                              </a:solidFill>
                              <a:latin typeface="Cambria Math" panose="02040503050406030204" pitchFamily="18" charset="0"/>
                            </a:rPr>
                            <m:t>𝜮</m:t>
                          </m:r>
                        </m:e>
                        <m:sub>
                          <m:r>
                            <a:rPr lang="en-US" sz="2400" b="1" i="1">
                              <a:solidFill>
                                <a:schemeClr val="accent1"/>
                              </a:solidFill>
                              <a:latin typeface="Cambria Math" panose="02040503050406030204" pitchFamily="18" charset="0"/>
                            </a:rPr>
                            <m:t>𝒌</m:t>
                          </m:r>
                        </m:sub>
                      </m:sSub>
                      <m:sSubSup>
                        <m:sSubSupPr>
                          <m:ctrlPr>
                            <a:rPr lang="en-US" sz="2400" b="1" i="1">
                              <a:solidFill>
                                <a:schemeClr val="accent6"/>
                              </a:solidFill>
                              <a:latin typeface="Cambria Math" panose="02040503050406030204" pitchFamily="18" charset="0"/>
                            </a:rPr>
                          </m:ctrlPr>
                        </m:sSubSupPr>
                        <m:e>
                          <m:r>
                            <a:rPr lang="en-US" sz="2400" b="1" i="1">
                              <a:solidFill>
                                <a:schemeClr val="accent6"/>
                              </a:solidFill>
                              <a:latin typeface="Cambria Math" panose="02040503050406030204" pitchFamily="18" charset="0"/>
                            </a:rPr>
                            <m:t>𝑽</m:t>
                          </m:r>
                        </m:e>
                        <m:sub>
                          <m:r>
                            <a:rPr lang="en-US" sz="2400" b="1" i="1">
                              <a:solidFill>
                                <a:schemeClr val="accent6"/>
                              </a:solidFill>
                              <a:latin typeface="Cambria Math" panose="02040503050406030204" pitchFamily="18" charset="0"/>
                            </a:rPr>
                            <m:t>𝒌</m:t>
                          </m:r>
                        </m:sub>
                        <m:sup>
                          <m:r>
                            <a:rPr lang="en-US" sz="2400" b="1" i="1">
                              <a:solidFill>
                                <a:schemeClr val="accent6"/>
                              </a:solidFill>
                              <a:latin typeface="Cambria Math" panose="02040503050406030204" pitchFamily="18" charset="0"/>
                            </a:rPr>
                            <m:t>𝑻</m:t>
                          </m:r>
                        </m:sup>
                      </m:sSubSup>
                    </m:oMath>
                  </m:oMathPara>
                </a14:m>
                <a:endParaRPr lang="LID4096" sz="2400" b="1" dirty="0"/>
              </a:p>
            </p:txBody>
          </p:sp>
        </mc:Choice>
        <mc:Fallback xmlns="">
          <p:sp>
            <p:nvSpPr>
              <p:cNvPr id="7" name="Rectangle 6">
                <a:extLst>
                  <a:ext uri="{FF2B5EF4-FFF2-40B4-BE49-F238E27FC236}">
                    <a16:creationId xmlns:a16="http://schemas.microsoft.com/office/drawing/2014/main" id="{CEDF1360-7765-45DE-88FD-1EBCEE1FB711}"/>
                  </a:ext>
                </a:extLst>
              </p:cNvPr>
              <p:cNvSpPr>
                <a:spLocks noRot="1" noChangeAspect="1" noMove="1" noResize="1" noEditPoints="1" noAdjustHandles="1" noChangeArrowheads="1" noChangeShapeType="1" noTextEdit="1"/>
              </p:cNvSpPr>
              <p:nvPr/>
            </p:nvSpPr>
            <p:spPr>
              <a:xfrm>
                <a:off x="5161886" y="5781049"/>
                <a:ext cx="2105320" cy="491032"/>
              </a:xfrm>
              <a:prstGeom prst="rect">
                <a:avLst/>
              </a:prstGeom>
              <a:blipFill>
                <a:blip r:embed="rId5"/>
                <a:stretch>
                  <a:fillRect/>
                </a:stretch>
              </a:blipFill>
            </p:spPr>
            <p:txBody>
              <a:bodyPr/>
              <a:lstStyle/>
              <a:p>
                <a:r>
                  <a:rPr lang="LID4096">
                    <a:noFill/>
                  </a:rPr>
                  <a:t> </a:t>
                </a:r>
              </a:p>
            </p:txBody>
          </p:sp>
        </mc:Fallback>
      </mc:AlternateContent>
      <p:cxnSp>
        <p:nvCxnSpPr>
          <p:cNvPr id="9" name="Straight Arrow Connector 8">
            <a:extLst>
              <a:ext uri="{FF2B5EF4-FFF2-40B4-BE49-F238E27FC236}">
                <a16:creationId xmlns:a16="http://schemas.microsoft.com/office/drawing/2014/main" id="{E37F0FC3-4412-4999-B15C-3905DD6E033D}"/>
              </a:ext>
            </a:extLst>
          </p:cNvPr>
          <p:cNvCxnSpPr/>
          <p:nvPr/>
        </p:nvCxnSpPr>
        <p:spPr>
          <a:xfrm flipH="1">
            <a:off x="6303818" y="5209309"/>
            <a:ext cx="1205346" cy="659783"/>
          </a:xfrm>
          <a:prstGeom prst="straightConnector1">
            <a:avLst/>
          </a:prstGeom>
          <a:ln>
            <a:solidFill>
              <a:srgbClr val="9A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6F0E4D4-BC64-4376-83BD-61D5D1F33182}"/>
              </a:ext>
            </a:extLst>
          </p:cNvPr>
          <p:cNvCxnSpPr>
            <a:cxnSpLocks/>
          </p:cNvCxnSpPr>
          <p:nvPr/>
        </p:nvCxnSpPr>
        <p:spPr>
          <a:xfrm flipH="1">
            <a:off x="6590261" y="5209309"/>
            <a:ext cx="542902" cy="659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5AABD81-0456-47C0-AB7A-792876292C5F}"/>
              </a:ext>
            </a:extLst>
          </p:cNvPr>
          <p:cNvCxnSpPr>
            <a:cxnSpLocks/>
          </p:cNvCxnSpPr>
          <p:nvPr/>
        </p:nvCxnSpPr>
        <p:spPr>
          <a:xfrm flipH="1">
            <a:off x="7133163" y="5209309"/>
            <a:ext cx="1013311" cy="65978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6426509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00C7-0803-8A43-A9F3-6FF24BDCB923}"/>
              </a:ext>
            </a:extLst>
          </p:cNvPr>
          <p:cNvSpPr>
            <a:spLocks noGrp="1"/>
          </p:cNvSpPr>
          <p:nvPr>
            <p:ph type="title"/>
          </p:nvPr>
        </p:nvSpPr>
        <p:spPr/>
        <p:txBody>
          <a:bodyPr>
            <a:normAutofit/>
          </a:bodyPr>
          <a:lstStyle/>
          <a:p>
            <a:r>
              <a:rPr lang="ru-RU" sz="4000" dirty="0"/>
              <a:t>ОБРАБОТКА ПОСЛЕДОВАТЕЛЬНОСТЕЙ СЛОВ</a:t>
            </a:r>
            <a:endParaRPr lang="en-US" sz="5400" dirty="0"/>
          </a:p>
        </p:txBody>
      </p:sp>
      <p:sp>
        <p:nvSpPr>
          <p:cNvPr id="5" name="Text Placeholder 4">
            <a:extLst>
              <a:ext uri="{FF2B5EF4-FFF2-40B4-BE49-F238E27FC236}">
                <a16:creationId xmlns:a16="http://schemas.microsoft.com/office/drawing/2014/main" id="{B389A574-F452-49EE-9B41-B6208C501ED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73889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a:xfrm>
            <a:off x="1097279" y="421817"/>
            <a:ext cx="10782993" cy="1369074"/>
          </a:xfrm>
        </p:spPr>
        <p:txBody>
          <a:bodyPr>
            <a:normAutofit/>
          </a:bodyPr>
          <a:lstStyle/>
          <a:p>
            <a:r>
              <a:rPr lang="ru-RU"/>
              <a:t>Учет порядка слов: N-граммы</a:t>
            </a:r>
          </a:p>
        </p:txBody>
      </p:sp>
      <p:sp>
        <p:nvSpPr>
          <p:cNvPr id="5" name="Content Placeholder 4">
            <a:extLst>
              <a:ext uri="{FF2B5EF4-FFF2-40B4-BE49-F238E27FC236}">
                <a16:creationId xmlns:a16="http://schemas.microsoft.com/office/drawing/2014/main" id="{52940E96-99D5-420E-BD0E-37E926255A4F}"/>
              </a:ext>
            </a:extLst>
          </p:cNvPr>
          <p:cNvSpPr>
            <a:spLocks noGrp="1"/>
          </p:cNvSpPr>
          <p:nvPr>
            <p:ph idx="1"/>
          </p:nvPr>
        </p:nvSpPr>
        <p:spPr/>
        <p:txBody>
          <a:bodyPr/>
          <a:lstStyle/>
          <a:p>
            <a:r>
              <a:rPr lang="ru-RU" dirty="0"/>
              <a:t>Рассмотренные до сих пор методы векторизации не учитывают последовательность термов в документах корпуса (т.е. работают как представления «мешка слов»)</a:t>
            </a:r>
            <a:r>
              <a:rPr lang="en-US" dirty="0"/>
              <a:t> – </a:t>
            </a:r>
            <a:r>
              <a:rPr lang="ru-RU" dirty="0"/>
              <a:t>«</a:t>
            </a:r>
            <a:r>
              <a:rPr lang="en-US" dirty="0"/>
              <a:t>I have no cats</a:t>
            </a:r>
            <a:r>
              <a:rPr lang="ru-RU" dirty="0"/>
              <a:t>» = «</a:t>
            </a:r>
            <a:r>
              <a:rPr lang="en-US" dirty="0"/>
              <a:t>No, I have cats</a:t>
            </a:r>
            <a:r>
              <a:rPr lang="ru-RU" dirty="0"/>
              <a:t>»</a:t>
            </a:r>
            <a:endParaRPr lang="en-US" dirty="0"/>
          </a:p>
          <a:p>
            <a:r>
              <a:rPr lang="en-US" dirty="0"/>
              <a:t>N-</a:t>
            </a:r>
            <a:r>
              <a:rPr lang="ru-RU" dirty="0"/>
              <a:t>граммы: последовательности из </a:t>
            </a:r>
            <a:r>
              <a:rPr lang="en-US" dirty="0"/>
              <a:t>N </a:t>
            </a:r>
            <a:r>
              <a:rPr lang="ru-RU" dirty="0"/>
              <a:t>слов</a:t>
            </a:r>
            <a:endParaRPr lang="en-US" dirty="0"/>
          </a:p>
          <a:p>
            <a:r>
              <a:rPr lang="ru-RU" dirty="0"/>
              <a:t>«</a:t>
            </a:r>
            <a:r>
              <a:rPr lang="en-US" dirty="0"/>
              <a:t>I have no cats</a:t>
            </a:r>
            <a:r>
              <a:rPr lang="ru-RU" dirty="0"/>
              <a:t>»</a:t>
            </a:r>
            <a:endParaRPr lang="en-US" dirty="0"/>
          </a:p>
          <a:p>
            <a:endParaRPr lang="ru-RU" dirty="0"/>
          </a:p>
        </p:txBody>
      </p:sp>
      <p:graphicFrame>
        <p:nvGraphicFramePr>
          <p:cNvPr id="6" name="Table 6">
            <a:extLst>
              <a:ext uri="{FF2B5EF4-FFF2-40B4-BE49-F238E27FC236}">
                <a16:creationId xmlns:a16="http://schemas.microsoft.com/office/drawing/2014/main" id="{A1E1FCE5-6998-4B28-AC05-878D9169F1DE}"/>
              </a:ext>
            </a:extLst>
          </p:cNvPr>
          <p:cNvGraphicFramePr>
            <a:graphicFrameLocks noGrp="1"/>
          </p:cNvGraphicFramePr>
          <p:nvPr>
            <p:extLst>
              <p:ext uri="{D42A27DB-BD31-4B8C-83A1-F6EECF244321}">
                <p14:modId xmlns:p14="http://schemas.microsoft.com/office/powerpoint/2010/main" val="2074018249"/>
              </p:ext>
            </p:extLst>
          </p:nvPr>
        </p:nvGraphicFramePr>
        <p:xfrm>
          <a:off x="1407391" y="3857414"/>
          <a:ext cx="9377218" cy="1854200"/>
        </p:xfrm>
        <a:graphic>
          <a:graphicData uri="http://schemas.openxmlformats.org/drawingml/2006/table">
            <a:tbl>
              <a:tblPr firstRow="1" bandRow="1">
                <a:tableStyleId>{5C22544A-7EE6-4342-B048-85BDC9FD1C3A}</a:tableStyleId>
              </a:tblPr>
              <a:tblGrid>
                <a:gridCol w="2630054">
                  <a:extLst>
                    <a:ext uri="{9D8B030D-6E8A-4147-A177-3AD203B41FA5}">
                      <a16:colId xmlns:a16="http://schemas.microsoft.com/office/drawing/2014/main" val="3979713832"/>
                    </a:ext>
                  </a:extLst>
                </a:gridCol>
                <a:gridCol w="6747164">
                  <a:extLst>
                    <a:ext uri="{9D8B030D-6E8A-4147-A177-3AD203B41FA5}">
                      <a16:colId xmlns:a16="http://schemas.microsoft.com/office/drawing/2014/main" val="877173511"/>
                    </a:ext>
                  </a:extLst>
                </a:gridCol>
              </a:tblGrid>
              <a:tr h="370840">
                <a:tc>
                  <a:txBody>
                    <a:bodyPr/>
                    <a:lstStyle/>
                    <a:p>
                      <a:r>
                        <a:rPr lang="en-US" dirty="0"/>
                        <a:t>N</a:t>
                      </a:r>
                      <a:endParaRPr lang="LID4096" dirty="0"/>
                    </a:p>
                  </a:txBody>
                  <a:tcPr/>
                </a:tc>
                <a:tc>
                  <a:txBody>
                    <a:bodyPr/>
                    <a:lstStyle/>
                    <a:p>
                      <a:r>
                        <a:rPr lang="en-US" dirty="0"/>
                        <a:t>N-</a:t>
                      </a:r>
                      <a:r>
                        <a:rPr lang="ru-RU" dirty="0"/>
                        <a:t>граммы</a:t>
                      </a:r>
                      <a:endParaRPr lang="LID4096" dirty="0"/>
                    </a:p>
                  </a:txBody>
                  <a:tcPr/>
                </a:tc>
                <a:extLst>
                  <a:ext uri="{0D108BD9-81ED-4DB2-BD59-A6C34878D82A}">
                    <a16:rowId xmlns:a16="http://schemas.microsoft.com/office/drawing/2014/main" val="55465459"/>
                  </a:ext>
                </a:extLst>
              </a:tr>
              <a:tr h="370840">
                <a:tc>
                  <a:txBody>
                    <a:bodyPr/>
                    <a:lstStyle/>
                    <a:p>
                      <a:r>
                        <a:rPr lang="ru-RU" dirty="0"/>
                        <a:t>1 (</a:t>
                      </a:r>
                      <a:r>
                        <a:rPr lang="ru-RU" dirty="0" err="1"/>
                        <a:t>униграммы</a:t>
                      </a:r>
                      <a:r>
                        <a:rPr lang="ru-RU" dirty="0"/>
                        <a:t>)</a:t>
                      </a:r>
                      <a:endParaRPr lang="LID4096" dirty="0"/>
                    </a:p>
                  </a:txBody>
                  <a:tcPr/>
                </a:tc>
                <a:tc>
                  <a:txBody>
                    <a:bodyPr/>
                    <a:lstStyle/>
                    <a:p>
                      <a:r>
                        <a:rPr lang="ru-RU" dirty="0"/>
                        <a:t>«</a:t>
                      </a:r>
                      <a:r>
                        <a:rPr lang="en-US" dirty="0"/>
                        <a:t>I</a:t>
                      </a:r>
                      <a:r>
                        <a:rPr lang="ru-RU" dirty="0"/>
                        <a:t>», «</a:t>
                      </a:r>
                      <a:r>
                        <a:rPr lang="en-US" dirty="0"/>
                        <a:t>have</a:t>
                      </a:r>
                      <a:r>
                        <a:rPr lang="ru-RU" dirty="0"/>
                        <a:t>», «</a:t>
                      </a:r>
                      <a:r>
                        <a:rPr lang="en-US" dirty="0"/>
                        <a:t>no</a:t>
                      </a:r>
                      <a:r>
                        <a:rPr lang="ru-RU" dirty="0"/>
                        <a:t>», «</a:t>
                      </a:r>
                      <a:r>
                        <a:rPr lang="en-US" dirty="0"/>
                        <a:t>cats</a:t>
                      </a:r>
                      <a:r>
                        <a:rPr lang="ru-RU" dirty="0"/>
                        <a:t>»</a:t>
                      </a:r>
                      <a:endParaRPr lang="LID4096" dirty="0"/>
                    </a:p>
                  </a:txBody>
                  <a:tcPr/>
                </a:tc>
                <a:extLst>
                  <a:ext uri="{0D108BD9-81ED-4DB2-BD59-A6C34878D82A}">
                    <a16:rowId xmlns:a16="http://schemas.microsoft.com/office/drawing/2014/main" val="4273330811"/>
                  </a:ext>
                </a:extLst>
              </a:tr>
              <a:tr h="370840">
                <a:tc>
                  <a:txBody>
                    <a:bodyPr/>
                    <a:lstStyle/>
                    <a:p>
                      <a:r>
                        <a:rPr lang="en-US" dirty="0"/>
                        <a:t>2 </a:t>
                      </a:r>
                      <a:r>
                        <a:rPr lang="ru-RU" dirty="0"/>
                        <a:t>(биграммы)</a:t>
                      </a:r>
                      <a:endParaRPr lang="LID4096"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a:t>
                      </a:r>
                      <a:r>
                        <a:rPr lang="en-US" dirty="0"/>
                        <a:t>I have</a:t>
                      </a:r>
                      <a:r>
                        <a:rPr lang="ru-RU" dirty="0"/>
                        <a:t>», «</a:t>
                      </a:r>
                      <a:r>
                        <a:rPr lang="en-US" dirty="0"/>
                        <a:t>have no</a:t>
                      </a:r>
                      <a:r>
                        <a:rPr lang="ru-RU" dirty="0"/>
                        <a:t>», «</a:t>
                      </a:r>
                      <a:r>
                        <a:rPr lang="en-US" dirty="0"/>
                        <a:t>no cats</a:t>
                      </a:r>
                      <a:r>
                        <a:rPr lang="ru-RU" dirty="0"/>
                        <a:t>»</a:t>
                      </a:r>
                      <a:endParaRPr lang="LID4096" dirty="0"/>
                    </a:p>
                  </a:txBody>
                  <a:tcPr/>
                </a:tc>
                <a:extLst>
                  <a:ext uri="{0D108BD9-81ED-4DB2-BD59-A6C34878D82A}">
                    <a16:rowId xmlns:a16="http://schemas.microsoft.com/office/drawing/2014/main" val="3901788912"/>
                  </a:ext>
                </a:extLst>
              </a:tr>
              <a:tr h="370840">
                <a:tc>
                  <a:txBody>
                    <a:bodyPr/>
                    <a:lstStyle/>
                    <a:p>
                      <a:r>
                        <a:rPr lang="en-US" dirty="0"/>
                        <a:t>3</a:t>
                      </a:r>
                      <a:r>
                        <a:rPr lang="ru-RU" dirty="0"/>
                        <a:t> (триграммы)</a:t>
                      </a:r>
                      <a:endParaRPr lang="LID4096"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a:t>
                      </a:r>
                      <a:r>
                        <a:rPr lang="en-US" dirty="0"/>
                        <a:t>I have no</a:t>
                      </a:r>
                      <a:r>
                        <a:rPr lang="ru-RU" dirty="0"/>
                        <a:t>», «</a:t>
                      </a:r>
                      <a:r>
                        <a:rPr lang="en-US" dirty="0"/>
                        <a:t>have no cats</a:t>
                      </a:r>
                      <a:r>
                        <a:rPr lang="ru-RU" dirty="0"/>
                        <a:t>»</a:t>
                      </a:r>
                      <a:endParaRPr lang="LID4096" dirty="0"/>
                    </a:p>
                  </a:txBody>
                  <a:tcPr/>
                </a:tc>
                <a:extLst>
                  <a:ext uri="{0D108BD9-81ED-4DB2-BD59-A6C34878D82A}">
                    <a16:rowId xmlns:a16="http://schemas.microsoft.com/office/drawing/2014/main" val="1082436603"/>
                  </a:ext>
                </a:extLst>
              </a:tr>
              <a:tr h="370840">
                <a:tc>
                  <a:txBody>
                    <a:bodyPr/>
                    <a:lstStyle/>
                    <a:p>
                      <a:r>
                        <a:rPr lang="en-US" dirty="0"/>
                        <a:t>4</a:t>
                      </a:r>
                      <a:r>
                        <a:rPr lang="ru-RU" dirty="0"/>
                        <a:t> (</a:t>
                      </a:r>
                      <a:r>
                        <a:rPr lang="ru-RU" dirty="0" err="1"/>
                        <a:t>тетраграммы</a:t>
                      </a:r>
                      <a:r>
                        <a:rPr lang="ru-RU" dirty="0"/>
                        <a:t>)</a:t>
                      </a:r>
                      <a:endParaRPr lang="LID4096"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a:t>
                      </a:r>
                      <a:r>
                        <a:rPr lang="en-US" dirty="0"/>
                        <a:t>I have no cats</a:t>
                      </a:r>
                      <a:r>
                        <a:rPr lang="ru-RU" dirty="0"/>
                        <a:t>»</a:t>
                      </a:r>
                      <a:endParaRPr lang="LID4096" dirty="0"/>
                    </a:p>
                  </a:txBody>
                  <a:tcPr/>
                </a:tc>
                <a:extLst>
                  <a:ext uri="{0D108BD9-81ED-4DB2-BD59-A6C34878D82A}">
                    <a16:rowId xmlns:a16="http://schemas.microsoft.com/office/drawing/2014/main" val="3334852498"/>
                  </a:ext>
                </a:extLst>
              </a:tr>
            </a:tbl>
          </a:graphicData>
        </a:graphic>
      </p:graphicFrame>
    </p:spTree>
    <p:extLst>
      <p:ext uri="{BB962C8B-B14F-4D97-AF65-F5344CB8AC3E}">
        <p14:creationId xmlns:p14="http://schemas.microsoft.com/office/powerpoint/2010/main" val="2565864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83781F-FA29-48E6-B073-18A5D3A62866}"/>
              </a:ext>
            </a:extLst>
          </p:cNvPr>
          <p:cNvSpPr>
            <a:spLocks noGrp="1"/>
          </p:cNvSpPr>
          <p:nvPr>
            <p:ph idx="1"/>
          </p:nvPr>
        </p:nvSpPr>
        <p:spPr>
          <a:xfrm>
            <a:off x="588745" y="1790891"/>
            <a:ext cx="11014509" cy="1369074"/>
          </a:xfrm>
        </p:spPr>
        <p:txBody>
          <a:bodyPr>
            <a:normAutofit fontScale="92500" lnSpcReduction="20000"/>
          </a:bodyPr>
          <a:lstStyle/>
          <a:p>
            <a:pPr marL="285750" indent="0" algn="just">
              <a:buNone/>
            </a:pPr>
            <a:r>
              <a:rPr lang="en-US" sz="2400" dirty="0"/>
              <a:t>Word2vec - </a:t>
            </a:r>
            <a:r>
              <a:rPr lang="ru-RU" sz="2400" dirty="0"/>
              <a:t>общее название для совокупности моделей на основе искусственных нейронных сетей, предназначенных для получения векторных представлений слов на естественном языке. Используется для анализа семантики естественных языков, основанный на дистрибутивной семантике, машинном обучении и векторном представлении слов.</a:t>
            </a:r>
            <a:endParaRPr lang="ru-BY" sz="2400" dirty="0"/>
          </a:p>
        </p:txBody>
      </p:sp>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normAutofit/>
          </a:bodyPr>
          <a:lstStyle/>
          <a:p>
            <a:r>
              <a:rPr lang="en-US" dirty="0"/>
              <a:t>Word2Vec</a:t>
            </a:r>
          </a:p>
        </p:txBody>
      </p:sp>
      <p:pic>
        <p:nvPicPr>
          <p:cNvPr id="5" name="Picture 4">
            <a:extLst>
              <a:ext uri="{FF2B5EF4-FFF2-40B4-BE49-F238E27FC236}">
                <a16:creationId xmlns:a16="http://schemas.microsoft.com/office/drawing/2014/main" id="{19709FC1-FA5D-4A2C-83C5-05DB11C6A0B7}"/>
              </a:ext>
            </a:extLst>
          </p:cNvPr>
          <p:cNvPicPr>
            <a:picLocks noChangeAspect="1"/>
          </p:cNvPicPr>
          <p:nvPr/>
        </p:nvPicPr>
        <p:blipFill>
          <a:blip r:embed="rId3"/>
          <a:stretch>
            <a:fillRect/>
          </a:stretch>
        </p:blipFill>
        <p:spPr>
          <a:xfrm>
            <a:off x="3882508" y="3159965"/>
            <a:ext cx="4487944" cy="2367040"/>
          </a:xfrm>
          <a:prstGeom prst="rect">
            <a:avLst/>
          </a:prstGeom>
        </p:spPr>
      </p:pic>
    </p:spTree>
    <p:extLst>
      <p:ext uri="{BB962C8B-B14F-4D97-AF65-F5344CB8AC3E}">
        <p14:creationId xmlns:p14="http://schemas.microsoft.com/office/powerpoint/2010/main" val="282865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20D18E-2949-4566-87FF-87B41548FFD0}"/>
              </a:ext>
            </a:extLst>
          </p:cNvPr>
          <p:cNvSpPr>
            <a:spLocks noGrp="1"/>
          </p:cNvSpPr>
          <p:nvPr>
            <p:ph idx="1"/>
          </p:nvPr>
        </p:nvSpPr>
        <p:spPr>
          <a:xfrm>
            <a:off x="1097280" y="2108201"/>
            <a:ext cx="10058400" cy="4417289"/>
          </a:xfrm>
        </p:spPr>
        <p:txBody>
          <a:bodyPr>
            <a:normAutofit/>
          </a:bodyPr>
          <a:lstStyle/>
          <a:p>
            <a:r>
              <a:rPr lang="en-US" dirty="0" err="1"/>
              <a:t>GloVe</a:t>
            </a:r>
            <a:r>
              <a:rPr lang="en-US" dirty="0"/>
              <a:t> (Global Vectors for Word Representation) – </a:t>
            </a:r>
            <a:r>
              <a:rPr lang="ru-RU" dirty="0"/>
              <a:t>алгоритм векторизации слов по корпусу текстов, основанный на предположении о том, что вероятности совместного появления пар слов в тексте могут нести некоторую семантическую информацию</a:t>
            </a:r>
          </a:p>
          <a:p>
            <a:endParaRPr lang="ru-RU" dirty="0"/>
          </a:p>
          <a:p>
            <a:endParaRPr lang="ru-RU" dirty="0"/>
          </a:p>
          <a:p>
            <a:pPr marL="0" indent="0">
              <a:buNone/>
            </a:pPr>
            <a:endParaRPr lang="ru-RU" dirty="0"/>
          </a:p>
          <a:p>
            <a:endParaRPr lang="ru-RU" dirty="0"/>
          </a:p>
          <a:p>
            <a:r>
              <a:rPr lang="ru-RU" dirty="0"/>
              <a:t>В качестве векторного представления используются лог-билинейная модель соответствующих вероятностей относительно словаря пробных термов, размер которого можно регулировать.</a:t>
            </a:r>
            <a:endParaRPr lang="en-US" dirty="0"/>
          </a:p>
        </p:txBody>
      </p:sp>
      <p:sp>
        <p:nvSpPr>
          <p:cNvPr id="3" name="Title 2">
            <a:extLst>
              <a:ext uri="{FF2B5EF4-FFF2-40B4-BE49-F238E27FC236}">
                <a16:creationId xmlns:a16="http://schemas.microsoft.com/office/drawing/2014/main" id="{0A0E90FD-469E-417B-B0B6-8A00CD2FA3BF}"/>
              </a:ext>
            </a:extLst>
          </p:cNvPr>
          <p:cNvSpPr>
            <a:spLocks noGrp="1"/>
          </p:cNvSpPr>
          <p:nvPr>
            <p:ph type="title"/>
          </p:nvPr>
        </p:nvSpPr>
        <p:spPr/>
        <p:txBody>
          <a:bodyPr/>
          <a:lstStyle/>
          <a:p>
            <a:r>
              <a:rPr lang="en-US" dirty="0"/>
              <a:t>GLOVE</a:t>
            </a:r>
          </a:p>
        </p:txBody>
      </p:sp>
      <p:pic>
        <p:nvPicPr>
          <p:cNvPr id="5" name="Picture 4" descr="Text, table&#10;&#10;Description automatically generated">
            <a:extLst>
              <a:ext uri="{FF2B5EF4-FFF2-40B4-BE49-F238E27FC236}">
                <a16:creationId xmlns:a16="http://schemas.microsoft.com/office/drawing/2014/main" id="{75E5CE0D-0B44-4FA9-ABAE-D414AAA0FD22}"/>
              </a:ext>
            </a:extLst>
          </p:cNvPr>
          <p:cNvPicPr>
            <a:picLocks noChangeAspect="1"/>
          </p:cNvPicPr>
          <p:nvPr/>
        </p:nvPicPr>
        <p:blipFill>
          <a:blip r:embed="rId2"/>
          <a:stretch>
            <a:fillRect/>
          </a:stretch>
        </p:blipFill>
        <p:spPr>
          <a:xfrm>
            <a:off x="2819977" y="3202382"/>
            <a:ext cx="6613005" cy="1398178"/>
          </a:xfrm>
          <a:prstGeom prst="rect">
            <a:avLst/>
          </a:prstGeom>
        </p:spPr>
      </p:pic>
    </p:spTree>
    <p:extLst>
      <p:ext uri="{BB962C8B-B14F-4D97-AF65-F5344CB8AC3E}">
        <p14:creationId xmlns:p14="http://schemas.microsoft.com/office/powerpoint/2010/main" val="1126646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a:xfrm>
            <a:off x="1097279" y="421817"/>
            <a:ext cx="10782993" cy="1369074"/>
          </a:xfrm>
        </p:spPr>
        <p:txBody>
          <a:bodyPr>
            <a:normAutofit/>
          </a:bodyPr>
          <a:lstStyle/>
          <a:p>
            <a:r>
              <a:rPr lang="ru-RU" dirty="0"/>
              <a:t>Векторизация</a:t>
            </a:r>
            <a:r>
              <a:rPr lang="en-US" dirty="0"/>
              <a:t>: </a:t>
            </a:r>
            <a:r>
              <a:rPr lang="ru-RU" dirty="0"/>
              <a:t>учет последовательностей</a:t>
            </a:r>
            <a:endParaRPr lang="en-US" dirty="0"/>
          </a:p>
        </p:txBody>
      </p:sp>
      <p:pic>
        <p:nvPicPr>
          <p:cNvPr id="4" name="Picture 3" descr="Diagram&#10;&#10;Description automatically generated">
            <a:extLst>
              <a:ext uri="{FF2B5EF4-FFF2-40B4-BE49-F238E27FC236}">
                <a16:creationId xmlns:a16="http://schemas.microsoft.com/office/drawing/2014/main" id="{BD0FE60A-3F1A-464A-BB39-5F0A635110D3}"/>
              </a:ext>
            </a:extLst>
          </p:cNvPr>
          <p:cNvPicPr>
            <a:picLocks noChangeAspect="1"/>
          </p:cNvPicPr>
          <p:nvPr/>
        </p:nvPicPr>
        <p:blipFill>
          <a:blip r:embed="rId3"/>
          <a:stretch>
            <a:fillRect/>
          </a:stretch>
        </p:blipFill>
        <p:spPr>
          <a:xfrm>
            <a:off x="2428376" y="3679001"/>
            <a:ext cx="7719016" cy="2354654"/>
          </a:xfrm>
          <a:prstGeom prst="rect">
            <a:avLst/>
          </a:prstGeom>
        </p:spPr>
      </p:pic>
      <p:sp>
        <p:nvSpPr>
          <p:cNvPr id="7" name="TextBox 6">
            <a:extLst>
              <a:ext uri="{FF2B5EF4-FFF2-40B4-BE49-F238E27FC236}">
                <a16:creationId xmlns:a16="http://schemas.microsoft.com/office/drawing/2014/main" id="{D4C378C4-AB4A-440F-AB28-A23CDA659D3B}"/>
              </a:ext>
            </a:extLst>
          </p:cNvPr>
          <p:cNvSpPr txBox="1"/>
          <p:nvPr/>
        </p:nvSpPr>
        <p:spPr>
          <a:xfrm>
            <a:off x="1233055" y="1995055"/>
            <a:ext cx="1095172" cy="923330"/>
          </a:xfrm>
          <a:prstGeom prst="rect">
            <a:avLst/>
          </a:prstGeom>
          <a:noFill/>
        </p:spPr>
        <p:txBody>
          <a:bodyPr wrap="none" rtlCol="0">
            <a:spAutoFit/>
          </a:bodyPr>
          <a:lstStyle/>
          <a:p>
            <a:pPr marL="285750" indent="-285750">
              <a:buFont typeface="Arial" panose="020B0604020202020204" pitchFamily="34" charset="0"/>
              <a:buChar char="•"/>
            </a:pPr>
            <a:r>
              <a:rPr lang="en-US" dirty="0"/>
              <a:t>RNN</a:t>
            </a:r>
          </a:p>
          <a:p>
            <a:pPr marL="285750" indent="-285750">
              <a:buFont typeface="Arial" panose="020B0604020202020204" pitchFamily="34" charset="0"/>
              <a:buChar char="•"/>
            </a:pPr>
            <a:r>
              <a:rPr lang="en-US" dirty="0"/>
              <a:t>LSTM</a:t>
            </a:r>
          </a:p>
          <a:p>
            <a:pPr marL="285750" indent="-285750">
              <a:buFont typeface="Arial" panose="020B0604020202020204" pitchFamily="34" charset="0"/>
              <a:buChar char="•"/>
            </a:pPr>
            <a:r>
              <a:rPr lang="en-US" dirty="0"/>
              <a:t>BERT</a:t>
            </a:r>
            <a:endParaRPr lang="LID4096" dirty="0"/>
          </a:p>
        </p:txBody>
      </p:sp>
    </p:spTree>
    <p:extLst>
      <p:ext uri="{BB962C8B-B14F-4D97-AF65-F5344CB8AC3E}">
        <p14:creationId xmlns:p14="http://schemas.microsoft.com/office/powerpoint/2010/main" val="37178139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8B399AE8-524F-4650-AA19-D443D9B000B3}"/>
              </a:ext>
            </a:extLst>
          </p:cNvPr>
          <p:cNvSpPr>
            <a:spLocks noGrp="1"/>
          </p:cNvSpPr>
          <p:nvPr>
            <p:ph idx="1"/>
          </p:nvPr>
        </p:nvSpPr>
        <p:spPr/>
        <p:txBody>
          <a:bodyPr/>
          <a:lstStyle/>
          <a:p>
            <a:r>
              <a:rPr lang="ru-RU" dirty="0">
                <a:effectLst/>
              </a:rPr>
              <a:t>BERT </a:t>
            </a:r>
            <a:r>
              <a:rPr lang="en-GB" dirty="0">
                <a:effectLst/>
              </a:rPr>
              <a:t>(</a:t>
            </a:r>
            <a:r>
              <a:rPr lang="ru-RU" dirty="0" err="1">
                <a:effectLst/>
              </a:rPr>
              <a:t>Bidirectional</a:t>
            </a:r>
            <a:r>
              <a:rPr lang="ru-RU" dirty="0">
                <a:effectLst/>
              </a:rPr>
              <a:t> </a:t>
            </a:r>
            <a:r>
              <a:rPr lang="ru-RU" dirty="0" err="1">
                <a:effectLst/>
              </a:rPr>
              <a:t>Encoder</a:t>
            </a:r>
            <a:r>
              <a:rPr lang="ru-RU" dirty="0">
                <a:effectLst/>
              </a:rPr>
              <a:t> </a:t>
            </a:r>
            <a:r>
              <a:rPr lang="ru-RU" dirty="0" err="1">
                <a:effectLst/>
              </a:rPr>
              <a:t>Representations</a:t>
            </a:r>
            <a:r>
              <a:rPr lang="ru-RU" dirty="0">
                <a:effectLst/>
              </a:rPr>
              <a:t> </a:t>
            </a:r>
            <a:r>
              <a:rPr lang="ru-RU" dirty="0" err="1">
                <a:effectLst/>
              </a:rPr>
              <a:t>from</a:t>
            </a:r>
            <a:r>
              <a:rPr lang="ru-RU" dirty="0">
                <a:effectLst/>
              </a:rPr>
              <a:t> </a:t>
            </a:r>
            <a:r>
              <a:rPr lang="ru-RU" dirty="0" err="1">
                <a:effectLst/>
              </a:rPr>
              <a:t>Transformers</a:t>
            </a:r>
            <a:r>
              <a:rPr lang="en-GB" dirty="0">
                <a:effectLst/>
              </a:rPr>
              <a:t>)</a:t>
            </a:r>
            <a:r>
              <a:rPr lang="ru-RU" dirty="0">
                <a:effectLst/>
              </a:rPr>
              <a:t> основан на </a:t>
            </a:r>
            <a:r>
              <a:rPr lang="ru-RU" dirty="0" err="1">
                <a:effectLst/>
              </a:rPr>
              <a:t>Transformer</a:t>
            </a:r>
            <a:r>
              <a:rPr lang="ru-RU" dirty="0">
                <a:effectLst/>
              </a:rPr>
              <a:t> — </a:t>
            </a:r>
            <a:r>
              <a:rPr lang="ru-RU" dirty="0">
                <a:solidFill>
                  <a:schemeClr val="tx1"/>
                </a:solidFill>
                <a:effectLst/>
              </a:rPr>
              <a:t>модели </a:t>
            </a:r>
            <a:r>
              <a:rPr lang="ru-RU" dirty="0">
                <a:solidFill>
                  <a:schemeClr val="tx1"/>
                </a:solidFill>
                <a:effectLst/>
                <a:hlinkClick r:id="rId2" tooltip="Глубокое обучение">
                  <a:extLst>
                    <a:ext uri="{A12FA001-AC4F-418D-AE19-62706E023703}">
                      <ahyp:hlinkClr xmlns:ahyp="http://schemas.microsoft.com/office/drawing/2018/hyperlinkcolor" val="tx"/>
                    </a:ext>
                  </a:extLst>
                </a:hlinkClick>
              </a:rPr>
              <a:t>глубокого обучения</a:t>
            </a:r>
            <a:r>
              <a:rPr lang="ru-RU" dirty="0">
                <a:solidFill>
                  <a:schemeClr val="tx1"/>
                </a:solidFill>
                <a:effectLst/>
              </a:rPr>
              <a:t> </a:t>
            </a:r>
            <a:r>
              <a:rPr lang="ru-RU" dirty="0">
                <a:effectLst/>
              </a:rPr>
              <a:t>, в которой каждый выходной элемент связан с каждым входным элементом, а вес между ними динамически рассчитывается на основе их связи.</a:t>
            </a:r>
            <a:endParaRPr lang="ru-RU" dirty="0"/>
          </a:p>
          <a:p>
            <a:endParaRPr lang="ru-RU" dirty="0"/>
          </a:p>
        </p:txBody>
      </p:sp>
      <p:sp>
        <p:nvSpPr>
          <p:cNvPr id="3" name="Заголовок 2">
            <a:extLst>
              <a:ext uri="{FF2B5EF4-FFF2-40B4-BE49-F238E27FC236}">
                <a16:creationId xmlns:a16="http://schemas.microsoft.com/office/drawing/2014/main" id="{A0BA4FCB-C412-DAB7-FBAD-D0F6C3E06AD9}"/>
              </a:ext>
            </a:extLst>
          </p:cNvPr>
          <p:cNvSpPr>
            <a:spLocks noGrp="1"/>
          </p:cNvSpPr>
          <p:nvPr>
            <p:ph type="title"/>
          </p:nvPr>
        </p:nvSpPr>
        <p:spPr/>
        <p:txBody>
          <a:bodyPr/>
          <a:lstStyle/>
          <a:p>
            <a:r>
              <a:rPr lang="en-GB" dirty="0"/>
              <a:t>BERT</a:t>
            </a:r>
            <a:endParaRPr lang="ru-RU" dirty="0"/>
          </a:p>
        </p:txBody>
      </p:sp>
      <p:pic>
        <p:nvPicPr>
          <p:cNvPr id="5" name="Рисунок 4" descr="Изображение выглядит как диаграмма, круг, текст, Параллельный&#10;&#10;Контент, сгенерированный ИИ, может содержать ошибки.">
            <a:extLst>
              <a:ext uri="{FF2B5EF4-FFF2-40B4-BE49-F238E27FC236}">
                <a16:creationId xmlns:a16="http://schemas.microsoft.com/office/drawing/2014/main" id="{1B784244-0A1B-37F6-5999-26BB0BB59DD4}"/>
              </a:ext>
            </a:extLst>
          </p:cNvPr>
          <p:cNvPicPr>
            <a:picLocks noChangeAspect="1"/>
          </p:cNvPicPr>
          <p:nvPr/>
        </p:nvPicPr>
        <p:blipFill>
          <a:blip r:embed="rId3"/>
          <a:stretch>
            <a:fillRect/>
          </a:stretch>
        </p:blipFill>
        <p:spPr>
          <a:xfrm>
            <a:off x="2363190" y="2914627"/>
            <a:ext cx="6344063" cy="2809280"/>
          </a:xfrm>
          <a:prstGeom prst="rect">
            <a:avLst/>
          </a:prstGeom>
        </p:spPr>
      </p:pic>
    </p:spTree>
    <p:extLst>
      <p:ext uri="{BB962C8B-B14F-4D97-AF65-F5344CB8AC3E}">
        <p14:creationId xmlns:p14="http://schemas.microsoft.com/office/powerpoint/2010/main" val="3648707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BF779B-5BF6-4321-9726-3C26F27B786D}"/>
              </a:ext>
            </a:extLst>
          </p:cNvPr>
          <p:cNvSpPr>
            <a:spLocks noGrp="1"/>
          </p:cNvSpPr>
          <p:nvPr>
            <p:ph idx="1"/>
          </p:nvPr>
        </p:nvSpPr>
        <p:spPr>
          <a:xfrm>
            <a:off x="1097279" y="2108201"/>
            <a:ext cx="10623665" cy="4327524"/>
          </a:xfrm>
        </p:spPr>
        <p:txBody>
          <a:bodyPr>
            <a:normAutofit/>
          </a:bodyPr>
          <a:lstStyle/>
          <a:p>
            <a:pPr lvl="1"/>
            <a:r>
              <a:rPr lang="ru-RU" sz="2000" dirty="0"/>
              <a:t>Две ветви архитектуры Transformer</a:t>
            </a:r>
          </a:p>
          <a:p>
            <a:pPr lvl="2"/>
            <a:r>
              <a:rPr lang="ru-RU" sz="1600" dirty="0"/>
              <a:t>Энкодер (BERT): двунаправленный контекст, задачи понимания — классификация, поиск сущностей, эмбеддинги</a:t>
            </a:r>
          </a:p>
          <a:p>
            <a:pPr lvl="2"/>
            <a:r>
              <a:rPr lang="ru-RU" sz="1600" dirty="0"/>
              <a:t>Декодер (GPT): предсказание следующего токена, задачи порождения текста</a:t>
            </a:r>
          </a:p>
          <a:p>
            <a:pPr lvl="1"/>
            <a:r>
              <a:rPr lang="ru-RU" sz="2000" dirty="0"/>
              <a:t>Большие языковые модели (LLM)</a:t>
            </a:r>
          </a:p>
          <a:p>
            <a:pPr lvl="2"/>
            <a:r>
              <a:rPr lang="ru-RU" sz="1600" dirty="0"/>
              <a:t>Миллиарды параметров, обучение на огромных корпусах текстов</a:t>
            </a:r>
          </a:p>
          <a:p>
            <a:pPr lvl="2"/>
            <a:r>
              <a:rPr lang="ru-RU" sz="1600" dirty="0"/>
              <a:t>Токенизация подсловами (BPE) — развитие идеи токенизации из начала лекции</a:t>
            </a:r>
          </a:p>
          <a:p>
            <a:pPr lvl="2"/>
            <a:r>
              <a:rPr lang="ru-RU" sz="1600" dirty="0"/>
              <a:t>Дообучение на инструкциях и по обратной связи от людей (RLHF) превращает модель в ассистента</a:t>
            </a:r>
          </a:p>
          <a:p>
            <a:pPr lvl="1"/>
            <a:r>
              <a:rPr lang="ru-RU" sz="2000" dirty="0"/>
              <a:t>Связь с курсом</a:t>
            </a:r>
          </a:p>
          <a:p>
            <a:pPr lvl="2"/>
            <a:r>
              <a:rPr lang="ru-RU" sz="1600" dirty="0"/>
              <a:t>Языковым моделям и LLM посвящены лабораторные работы № 2 и № 3</a:t>
            </a:r>
          </a:p>
        </p:txBody>
      </p:sp>
      <p:sp>
        <p:nvSpPr>
          <p:cNvPr id="4" name="Title 1">
            <a:extLst>
              <a:ext uri="{FF2B5EF4-FFF2-40B4-BE49-F238E27FC236}">
                <a16:creationId xmlns:a16="http://schemas.microsoft.com/office/drawing/2014/main" id="{EE8E98DB-5344-480F-8662-6FCC22E46E7A}"/>
              </a:ext>
            </a:extLst>
          </p:cNvPr>
          <p:cNvSpPr>
            <a:spLocks noGrp="1"/>
          </p:cNvSpPr>
          <p:nvPr>
            <p:ph type="title"/>
          </p:nvPr>
        </p:nvSpPr>
        <p:spPr/>
        <p:txBody>
          <a:bodyPr/>
          <a:lstStyle/>
          <a:p>
            <a:r>
              <a:rPr lang="ru-RU"/>
              <a:t>От BERT к большим языковым моделям</a:t>
            </a:r>
          </a:p>
        </p:txBody>
      </p:sp>
    </p:spTree>
    <p:extLst>
      <p:ext uri="{BB962C8B-B14F-4D97-AF65-F5344CB8AC3E}">
        <p14:creationId xmlns:p14="http://schemas.microsoft.com/office/powerpoint/2010/main" val="1978515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93521A-6EC5-43C1-927A-28236B31C80F}"/>
              </a:ext>
            </a:extLst>
          </p:cNvPr>
          <p:cNvSpPr>
            <a:spLocks noGrp="1"/>
          </p:cNvSpPr>
          <p:nvPr>
            <p:ph idx="1"/>
          </p:nvPr>
        </p:nvSpPr>
        <p:spPr/>
        <p:txBody>
          <a:bodyPr/>
          <a:lstStyle/>
          <a:p>
            <a:r>
              <a:rPr lang="en-US" dirty="0"/>
              <a:t>AWS: Amazon Comprehend</a:t>
            </a:r>
          </a:p>
          <a:p>
            <a:r>
              <a:rPr lang="en-US" dirty="0"/>
              <a:t>Microsoft Azure: Text Analytics</a:t>
            </a:r>
          </a:p>
          <a:p>
            <a:r>
              <a:rPr lang="en-US" dirty="0"/>
              <a:t>Google Cloud: Natural Language AI</a:t>
            </a:r>
          </a:p>
          <a:p>
            <a:r>
              <a:rPr lang="en-US" dirty="0"/>
              <a:t>IBM: Watson Natural Language Understanding</a:t>
            </a:r>
            <a:endParaRPr lang="ru-RU" dirty="0"/>
          </a:p>
          <a:p>
            <a:r>
              <a:rPr lang="ru-RU" altLang="ru-RU" b="1" dirty="0" err="1">
                <a:solidFill>
                  <a:schemeClr val="tx1"/>
                </a:solidFill>
                <a:latin typeface="+mj-lt"/>
              </a:rPr>
              <a:t>Cohere</a:t>
            </a:r>
            <a:r>
              <a:rPr lang="ru-RU" altLang="ru-RU" b="1" dirty="0">
                <a:solidFill>
                  <a:schemeClr val="tx1"/>
                </a:solidFill>
                <a:latin typeface="+mj-lt"/>
              </a:rPr>
              <a:t> — NLP API</a:t>
            </a:r>
          </a:p>
          <a:p>
            <a:r>
              <a:rPr lang="ru-RU" altLang="ru-RU" b="1" dirty="0" err="1">
                <a:solidFill>
                  <a:schemeClr val="tx1"/>
                </a:solidFill>
                <a:latin typeface="+mj-lt"/>
              </a:rPr>
              <a:t>Anthropic</a:t>
            </a:r>
            <a:r>
              <a:rPr lang="ru-RU" altLang="ru-RU" b="1" dirty="0">
                <a:solidFill>
                  <a:schemeClr val="tx1"/>
                </a:solidFill>
                <a:latin typeface="+mj-lt"/>
              </a:rPr>
              <a:t> — </a:t>
            </a:r>
            <a:r>
              <a:rPr lang="ru-RU" altLang="ru-RU" b="1" dirty="0" err="1">
                <a:solidFill>
                  <a:schemeClr val="tx1"/>
                </a:solidFill>
                <a:latin typeface="+mj-lt"/>
              </a:rPr>
              <a:t>Claude</a:t>
            </a:r>
            <a:r>
              <a:rPr lang="ru-RU" altLang="ru-RU" b="1" dirty="0">
                <a:solidFill>
                  <a:schemeClr val="tx1"/>
                </a:solidFill>
                <a:latin typeface="+mj-lt"/>
              </a:rPr>
              <a:t> API</a:t>
            </a:r>
          </a:p>
          <a:p>
            <a:r>
              <a:rPr lang="ru-RU" altLang="ru-RU" b="1" dirty="0">
                <a:solidFill>
                  <a:schemeClr val="tx1"/>
                </a:solidFill>
                <a:latin typeface="+mj-lt"/>
              </a:rPr>
              <a:t>OpenAI — API GPT-моделей</a:t>
            </a:r>
          </a:p>
          <a:p>
            <a:endParaRPr lang="en-US" dirty="0"/>
          </a:p>
        </p:txBody>
      </p:sp>
      <p:sp>
        <p:nvSpPr>
          <p:cNvPr id="3" name="Title 2">
            <a:extLst>
              <a:ext uri="{FF2B5EF4-FFF2-40B4-BE49-F238E27FC236}">
                <a16:creationId xmlns:a16="http://schemas.microsoft.com/office/drawing/2014/main" id="{C0C893B1-5850-4A54-BE30-00988E443316}"/>
              </a:ext>
            </a:extLst>
          </p:cNvPr>
          <p:cNvSpPr>
            <a:spLocks noGrp="1"/>
          </p:cNvSpPr>
          <p:nvPr>
            <p:ph type="title"/>
          </p:nvPr>
        </p:nvSpPr>
        <p:spPr/>
        <p:txBody>
          <a:bodyPr/>
          <a:lstStyle/>
          <a:p>
            <a:r>
              <a:rPr lang="en-US"/>
              <a:t>Облачные NLP-сервисы (PaaS/SaaS)</a:t>
            </a:r>
          </a:p>
        </p:txBody>
      </p:sp>
    </p:spTree>
    <p:extLst>
      <p:ext uri="{BB962C8B-B14F-4D97-AF65-F5344CB8AC3E}">
        <p14:creationId xmlns:p14="http://schemas.microsoft.com/office/powerpoint/2010/main" val="42896434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328855-FF22-47C4-A7B1-ED1B7566A111}"/>
              </a:ext>
            </a:extLst>
          </p:cNvPr>
          <p:cNvSpPr>
            <a:spLocks noGrp="1"/>
          </p:cNvSpPr>
          <p:nvPr>
            <p:ph idx="1"/>
          </p:nvPr>
        </p:nvSpPr>
        <p:spPr>
          <a:xfrm>
            <a:off x="1097280" y="2108201"/>
            <a:ext cx="10058400" cy="4196346"/>
          </a:xfrm>
        </p:spPr>
        <p:txBody>
          <a:bodyPr>
            <a:normAutofit/>
          </a:bodyPr>
          <a:lstStyle/>
          <a:p>
            <a:r>
              <a:rPr lang="ru-RU" sz="1600" b="1" dirty="0"/>
              <a:t>Что такое векторизация TF/IDF?</a:t>
            </a:r>
          </a:p>
          <a:p>
            <a:r>
              <a:rPr lang="ru-RU" sz="1600" b="1" dirty="0"/>
              <a:t>Что понимается под проектированием признаков</a:t>
            </a:r>
            <a:r>
              <a:rPr lang="en-US" sz="1600" b="1" dirty="0"/>
              <a:t> </a:t>
            </a:r>
            <a:r>
              <a:rPr lang="ru-RU" sz="1600" b="1" dirty="0"/>
              <a:t>(</a:t>
            </a:r>
            <a:r>
              <a:rPr lang="en-US" sz="1600" b="1" dirty="0"/>
              <a:t>feature engineering</a:t>
            </a:r>
            <a:r>
              <a:rPr lang="ru-RU" sz="1600" b="1" dirty="0"/>
              <a:t>)? </a:t>
            </a:r>
            <a:endParaRPr lang="en-US" sz="1600" b="1" dirty="0">
              <a:solidFill>
                <a:srgbClr val="FF0000"/>
              </a:solidFill>
            </a:endParaRPr>
          </a:p>
          <a:p>
            <a:r>
              <a:rPr lang="ru-RU" sz="1600" b="1" dirty="0"/>
              <a:t>Что такое «</a:t>
            </a:r>
            <a:r>
              <a:rPr lang="en-US" sz="1600" b="1" dirty="0"/>
              <a:t>one-hot</a:t>
            </a:r>
            <a:r>
              <a:rPr lang="ru-RU" sz="1600" b="1" dirty="0"/>
              <a:t>»-представление?</a:t>
            </a:r>
          </a:p>
          <a:p>
            <a:r>
              <a:rPr lang="ru-RU" sz="1600" b="1" dirty="0"/>
              <a:t>Что такое фиктивная переменная (</a:t>
            </a:r>
            <a:r>
              <a:rPr lang="en-US" sz="1600" b="1" dirty="0"/>
              <a:t>dummy variable)</a:t>
            </a:r>
            <a:r>
              <a:rPr lang="ru-RU" sz="1600" b="1" dirty="0"/>
              <a:t>?</a:t>
            </a:r>
            <a:endParaRPr lang="en-US" sz="1600" b="1" dirty="0"/>
          </a:p>
          <a:p>
            <a:r>
              <a:rPr lang="ru-RU" sz="1600" b="1" dirty="0"/>
              <a:t>Что понимается под «естественным языком»?</a:t>
            </a:r>
            <a:endParaRPr lang="en-US" sz="1600" b="1" dirty="0"/>
          </a:p>
          <a:p>
            <a:r>
              <a:rPr lang="ru-RU" sz="1600" b="1" dirty="0"/>
              <a:t>В чем состоит разница между </a:t>
            </a:r>
            <a:r>
              <a:rPr lang="en-US" sz="1600" b="1" dirty="0"/>
              <a:t>NLP </a:t>
            </a:r>
            <a:r>
              <a:rPr lang="ru-RU" sz="1600" b="1" dirty="0"/>
              <a:t>и </a:t>
            </a:r>
            <a:r>
              <a:rPr lang="en-US" sz="1600" b="1" dirty="0"/>
              <a:t>NLU</a:t>
            </a:r>
            <a:r>
              <a:rPr lang="ru-RU" sz="1600" b="1" dirty="0"/>
              <a:t>?</a:t>
            </a:r>
          </a:p>
          <a:p>
            <a:r>
              <a:rPr lang="ru-RU" sz="1600" b="1" dirty="0"/>
              <a:t>Что такое анализ тональности (</a:t>
            </a:r>
            <a:r>
              <a:rPr lang="en-US" sz="1600" b="1" dirty="0"/>
              <a:t>sentiment analysis</a:t>
            </a:r>
            <a:r>
              <a:rPr lang="ru-RU" sz="1600" b="1" dirty="0"/>
              <a:t>)</a:t>
            </a:r>
            <a:r>
              <a:rPr lang="en-US" sz="1600" b="1" dirty="0"/>
              <a:t>?</a:t>
            </a:r>
          </a:p>
          <a:p>
            <a:r>
              <a:rPr lang="ru-RU" sz="1600" b="1" dirty="0"/>
              <a:t>Что такое </a:t>
            </a:r>
            <a:r>
              <a:rPr lang="ru-RU" sz="1600" b="1" dirty="0" err="1"/>
              <a:t>токенизация</a:t>
            </a:r>
            <a:r>
              <a:rPr lang="ru-RU" sz="1600" b="1" dirty="0"/>
              <a:t>, </a:t>
            </a:r>
            <a:r>
              <a:rPr lang="ru-RU" sz="1600" b="1" dirty="0" err="1"/>
              <a:t>стемминг</a:t>
            </a:r>
            <a:r>
              <a:rPr lang="ru-RU" sz="1600" b="1" dirty="0"/>
              <a:t> и </a:t>
            </a:r>
            <a:r>
              <a:rPr lang="ru-RU" sz="1600" b="1" dirty="0" err="1"/>
              <a:t>лемматизация</a:t>
            </a:r>
            <a:r>
              <a:rPr lang="ru-RU" sz="1600" b="1" dirty="0"/>
              <a:t>?</a:t>
            </a:r>
          </a:p>
          <a:p>
            <a:r>
              <a:rPr lang="ru-RU" sz="1600" b="1" dirty="0"/>
              <a:t>Что подразумевается под моделью </a:t>
            </a:r>
            <a:r>
              <a:rPr lang="en-US" sz="1600" b="1" dirty="0"/>
              <a:t>N-</a:t>
            </a:r>
            <a:r>
              <a:rPr lang="ru-RU" sz="1600" b="1" dirty="0"/>
              <a:t>грамм</a:t>
            </a:r>
            <a:r>
              <a:rPr lang="en-US" sz="1600" b="1" dirty="0"/>
              <a:t>?</a:t>
            </a:r>
            <a:endParaRPr lang="ru-RU" sz="1600" b="1" dirty="0"/>
          </a:p>
          <a:p>
            <a:r>
              <a:rPr lang="ru-RU" sz="1600" b="1" dirty="0"/>
              <a:t>Что такое </a:t>
            </a:r>
            <a:r>
              <a:rPr lang="ru-RU" sz="1600" b="1" dirty="0" err="1"/>
              <a:t>частеречная</a:t>
            </a:r>
            <a:r>
              <a:rPr lang="ru-RU" sz="1600" b="1" dirty="0"/>
              <a:t> разметка (</a:t>
            </a:r>
            <a:r>
              <a:rPr lang="en-US" sz="1600" b="1" dirty="0" err="1"/>
              <a:t>PoS</a:t>
            </a:r>
            <a:r>
              <a:rPr lang="en-US" sz="1600" b="1" dirty="0"/>
              <a:t> tagging</a:t>
            </a:r>
            <a:r>
              <a:rPr lang="ru-RU" sz="1600" b="1" dirty="0"/>
              <a:t>)</a:t>
            </a:r>
            <a:r>
              <a:rPr lang="en-US" sz="1600" b="1" dirty="0"/>
              <a:t>?</a:t>
            </a:r>
          </a:p>
          <a:p>
            <a:endParaRPr lang="en-US" sz="1600" b="1" dirty="0"/>
          </a:p>
          <a:p>
            <a:endParaRPr lang="en-US" sz="1600" b="1" dirty="0">
              <a:solidFill>
                <a:srgbClr val="FF0000"/>
              </a:solidFill>
            </a:endParaRPr>
          </a:p>
          <a:p>
            <a:endParaRPr lang="ru-RU" sz="1600" b="1" dirty="0">
              <a:solidFill>
                <a:srgbClr val="FF0000"/>
              </a:solidFill>
            </a:endParaRPr>
          </a:p>
          <a:p>
            <a:endParaRPr lang="en-US" sz="1600" dirty="0"/>
          </a:p>
          <a:p>
            <a:endParaRPr lang="en-US" sz="1600" dirty="0"/>
          </a:p>
        </p:txBody>
      </p:sp>
      <p:sp>
        <p:nvSpPr>
          <p:cNvPr id="3" name="Title 2">
            <a:extLst>
              <a:ext uri="{FF2B5EF4-FFF2-40B4-BE49-F238E27FC236}">
                <a16:creationId xmlns:a16="http://schemas.microsoft.com/office/drawing/2014/main" id="{FD606A71-C08C-4357-B263-7121F3CAC2A9}"/>
              </a:ext>
            </a:extLst>
          </p:cNvPr>
          <p:cNvSpPr>
            <a:spLocks noGrp="1"/>
          </p:cNvSpPr>
          <p:nvPr>
            <p:ph type="title"/>
          </p:nvPr>
        </p:nvSpPr>
        <p:spPr/>
        <p:txBody>
          <a:bodyPr/>
          <a:lstStyle/>
          <a:p>
            <a:r>
              <a:rPr lang="ru-RU" dirty="0"/>
              <a:t>Вопросы, встречающиеся на собеседованиях</a:t>
            </a:r>
            <a:endParaRPr lang="en-US" dirty="0"/>
          </a:p>
        </p:txBody>
      </p:sp>
    </p:spTree>
    <p:extLst>
      <p:ext uri="{BB962C8B-B14F-4D97-AF65-F5344CB8AC3E}">
        <p14:creationId xmlns:p14="http://schemas.microsoft.com/office/powerpoint/2010/main" val="2786510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328855-FF22-47C4-A7B1-ED1B7566A111}"/>
              </a:ext>
            </a:extLst>
          </p:cNvPr>
          <p:cNvSpPr>
            <a:spLocks noGrp="1"/>
          </p:cNvSpPr>
          <p:nvPr>
            <p:ph idx="1"/>
          </p:nvPr>
        </p:nvSpPr>
        <p:spPr>
          <a:xfrm>
            <a:off x="1097280" y="2108201"/>
            <a:ext cx="10058400" cy="4196346"/>
          </a:xfrm>
        </p:spPr>
        <p:txBody>
          <a:bodyPr>
            <a:normAutofit/>
          </a:bodyPr>
          <a:lstStyle/>
          <a:p>
            <a:endParaRPr lang="en-US" sz="1600" b="1" dirty="0">
              <a:solidFill>
                <a:srgbClr val="FF0000"/>
              </a:solidFill>
            </a:endParaRPr>
          </a:p>
          <a:p>
            <a:endParaRPr lang="ru-RU" sz="1600" b="1" dirty="0">
              <a:solidFill>
                <a:srgbClr val="FF0000"/>
              </a:solidFill>
            </a:endParaRPr>
          </a:p>
          <a:p>
            <a:endParaRPr lang="en-US" sz="1600" dirty="0"/>
          </a:p>
          <a:p>
            <a:endParaRPr lang="en-US" sz="1600" dirty="0"/>
          </a:p>
        </p:txBody>
      </p:sp>
      <p:sp>
        <p:nvSpPr>
          <p:cNvPr id="3" name="Title 2">
            <a:extLst>
              <a:ext uri="{FF2B5EF4-FFF2-40B4-BE49-F238E27FC236}">
                <a16:creationId xmlns:a16="http://schemas.microsoft.com/office/drawing/2014/main" id="{FD606A71-C08C-4357-B263-7121F3CAC2A9}"/>
              </a:ext>
            </a:extLst>
          </p:cNvPr>
          <p:cNvSpPr>
            <a:spLocks noGrp="1"/>
          </p:cNvSpPr>
          <p:nvPr>
            <p:ph type="title"/>
          </p:nvPr>
        </p:nvSpPr>
        <p:spPr/>
        <p:txBody>
          <a:bodyPr/>
          <a:lstStyle/>
          <a:p>
            <a:r>
              <a:rPr lang="ru-RU" dirty="0"/>
              <a:t>Вопросы, встречающиеся на собеседованиях</a:t>
            </a:r>
            <a:endParaRPr lang="en-US" dirty="0"/>
          </a:p>
        </p:txBody>
      </p:sp>
      <p:sp>
        <p:nvSpPr>
          <p:cNvPr id="4" name="Content Placeholder 1">
            <a:extLst>
              <a:ext uri="{FF2B5EF4-FFF2-40B4-BE49-F238E27FC236}">
                <a16:creationId xmlns:a16="http://schemas.microsoft.com/office/drawing/2014/main" id="{AEEAC623-019A-4124-A784-E17DE57F3504}"/>
              </a:ext>
            </a:extLst>
          </p:cNvPr>
          <p:cNvSpPr txBox="1">
            <a:spLocks/>
          </p:cNvSpPr>
          <p:nvPr/>
        </p:nvSpPr>
        <p:spPr>
          <a:xfrm>
            <a:off x="1249680" y="1856509"/>
            <a:ext cx="10058400" cy="4600438"/>
          </a:xfrm>
          <a:prstGeom prst="rect">
            <a:avLst/>
          </a:prstGeom>
        </p:spPr>
        <p:txBody>
          <a:bodyPr vert="horz" lIns="0" tIns="45720" rIns="0" bIns="45720" rtlCol="0">
            <a:norm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ru-RU" sz="1600" b="1" dirty="0"/>
              <a:t>Что такое распознавание сущностей (</a:t>
            </a:r>
            <a:r>
              <a:rPr lang="en-US" sz="1600" b="1" dirty="0"/>
              <a:t>entity recognition</a:t>
            </a:r>
            <a:r>
              <a:rPr lang="ru-RU" sz="1600" b="1" dirty="0"/>
              <a:t>) в тексте</a:t>
            </a:r>
            <a:r>
              <a:rPr lang="en-US" sz="1600" b="1" dirty="0"/>
              <a:t>?</a:t>
            </a:r>
          </a:p>
          <a:p>
            <a:r>
              <a:rPr lang="ru-RU" sz="1600" b="1" dirty="0"/>
              <a:t>В чём суть тематического моделирования (</a:t>
            </a:r>
            <a:r>
              <a:rPr lang="en-US" sz="1600" b="1" dirty="0"/>
              <a:t>topic modeling</a:t>
            </a:r>
            <a:r>
              <a:rPr lang="ru-RU" sz="1600" b="1" dirty="0"/>
              <a:t>)</a:t>
            </a:r>
            <a:r>
              <a:rPr lang="en-US" sz="1600" b="1" dirty="0"/>
              <a:t>?</a:t>
            </a:r>
          </a:p>
          <a:p>
            <a:r>
              <a:rPr lang="ru-RU" sz="1600" b="1" dirty="0"/>
              <a:t>Как работает латентное семантическое индексирование</a:t>
            </a:r>
            <a:r>
              <a:rPr lang="en-US" sz="1600" b="1" dirty="0"/>
              <a:t> (LSI)?</a:t>
            </a:r>
          </a:p>
          <a:p>
            <a:r>
              <a:rPr lang="ru-RU" sz="1600" b="1" dirty="0"/>
              <a:t>Как работает латентное размещение Дирихле (</a:t>
            </a:r>
            <a:r>
              <a:rPr lang="en-US" sz="1600" b="1" dirty="0"/>
              <a:t>LDA)?</a:t>
            </a:r>
            <a:endParaRPr lang="ru-RU" sz="1600" b="1" dirty="0"/>
          </a:p>
          <a:p>
            <a:r>
              <a:rPr lang="ru-RU" sz="1600" b="1" dirty="0"/>
              <a:t>Что такое маскированное языковое моделирование (</a:t>
            </a:r>
            <a:r>
              <a:rPr lang="en-US" sz="1600" b="1" dirty="0"/>
              <a:t>masked language modelling)?</a:t>
            </a:r>
          </a:p>
          <a:p>
            <a:r>
              <a:rPr lang="ru-RU" sz="1600" b="1" dirty="0"/>
              <a:t>Назовите основные этапы предобработки текста в системах </a:t>
            </a:r>
            <a:r>
              <a:rPr lang="en-US" sz="1600" b="1" dirty="0"/>
              <a:t>NLP?</a:t>
            </a:r>
          </a:p>
          <a:p>
            <a:r>
              <a:rPr lang="ru-RU" sz="1600" b="1" dirty="0"/>
              <a:t>Что такое вложение слов (</a:t>
            </a:r>
            <a:r>
              <a:rPr lang="en-US" sz="1600" b="1" dirty="0"/>
              <a:t>word embedding</a:t>
            </a:r>
            <a:r>
              <a:rPr lang="ru-RU" sz="1600" b="1" dirty="0"/>
              <a:t>)</a:t>
            </a:r>
            <a:r>
              <a:rPr lang="en-US" sz="1600" b="1" dirty="0"/>
              <a:t>?</a:t>
            </a:r>
          </a:p>
          <a:p>
            <a:r>
              <a:rPr lang="ru-RU" sz="1600" b="1" dirty="0"/>
              <a:t>Как осуществляется извлечение признаков при обработке текстов</a:t>
            </a:r>
            <a:r>
              <a:rPr lang="en-US" sz="1600" b="1" dirty="0"/>
              <a:t>?</a:t>
            </a:r>
          </a:p>
          <a:p>
            <a:r>
              <a:rPr lang="ru-RU" sz="1600" b="1" dirty="0"/>
              <a:t>Приведите примеры прикладных задач обработки текстовой информации.</a:t>
            </a:r>
            <a:endParaRPr lang="en-US" sz="1600" b="1" dirty="0"/>
          </a:p>
          <a:p>
            <a:r>
              <a:rPr lang="ru-RU" sz="1600" b="1" dirty="0"/>
              <a:t>Что понимается под </a:t>
            </a:r>
            <a:r>
              <a:rPr lang="ru-RU" sz="1600" b="1" dirty="0" err="1"/>
              <a:t>парсингом</a:t>
            </a:r>
            <a:r>
              <a:rPr lang="ru-RU" sz="1600" b="1" dirty="0"/>
              <a:t> (</a:t>
            </a:r>
            <a:r>
              <a:rPr lang="en-US" sz="1600" b="1" dirty="0"/>
              <a:t>parsing)?</a:t>
            </a:r>
          </a:p>
          <a:p>
            <a:r>
              <a:rPr lang="ru-RU" sz="1600" b="1" dirty="0"/>
              <a:t>Чем синтаксический анализ текстовой информации отличается от семантического?</a:t>
            </a:r>
            <a:endParaRPr lang="en-US" sz="1600" b="1" dirty="0"/>
          </a:p>
          <a:p>
            <a:endParaRPr lang="en-US" sz="1400" b="1" dirty="0"/>
          </a:p>
          <a:p>
            <a:endParaRPr lang="en-US" sz="1600" b="1" dirty="0"/>
          </a:p>
          <a:p>
            <a:endParaRPr lang="en-US" sz="1800" dirty="0"/>
          </a:p>
          <a:p>
            <a:endParaRPr lang="en-US" sz="1800" dirty="0"/>
          </a:p>
        </p:txBody>
      </p:sp>
    </p:spTree>
    <p:extLst>
      <p:ext uri="{BB962C8B-B14F-4D97-AF65-F5344CB8AC3E}">
        <p14:creationId xmlns:p14="http://schemas.microsoft.com/office/powerpoint/2010/main" val="31209324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00C7-0803-8A43-A9F3-6FF24BDCB923}"/>
              </a:ext>
            </a:extLst>
          </p:cNvPr>
          <p:cNvSpPr>
            <a:spLocks noGrp="1"/>
          </p:cNvSpPr>
          <p:nvPr>
            <p:ph type="title"/>
          </p:nvPr>
        </p:nvSpPr>
        <p:spPr/>
        <p:txBody>
          <a:bodyPr>
            <a:normAutofit/>
          </a:bodyPr>
          <a:lstStyle/>
          <a:p>
            <a:r>
              <a:rPr lang="ru-RU" sz="4400" dirty="0"/>
              <a:t>АУДИОИНФОРМАЦИЯ</a:t>
            </a:r>
            <a:endParaRPr lang="en-US" sz="5400" dirty="0"/>
          </a:p>
        </p:txBody>
      </p:sp>
      <p:sp>
        <p:nvSpPr>
          <p:cNvPr id="5" name="Text Placeholder 4">
            <a:extLst>
              <a:ext uri="{FF2B5EF4-FFF2-40B4-BE49-F238E27FC236}">
                <a16:creationId xmlns:a16="http://schemas.microsoft.com/office/drawing/2014/main" id="{B389A574-F452-49EE-9B41-B6208C501ED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390887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eaLnBrk="1" hangingPunct="1"/>
            <a:r>
              <a:rPr lang="ru-RU" altLang="ru-RU" sz="3600" b="1" dirty="0">
                <a:solidFill>
                  <a:schemeClr val="tx1"/>
                </a:solidFill>
              </a:rPr>
              <a:t>Звук – это волновые колебания в упругой среде.</a:t>
            </a:r>
          </a:p>
        </p:txBody>
      </p:sp>
      <p:grpSp>
        <p:nvGrpSpPr>
          <p:cNvPr id="27664" name="Group 16"/>
          <p:cNvGrpSpPr>
            <a:grpSpLocks/>
          </p:cNvGrpSpPr>
          <p:nvPr/>
        </p:nvGrpSpPr>
        <p:grpSpPr bwMode="auto">
          <a:xfrm>
            <a:off x="1608861" y="1809751"/>
            <a:ext cx="1079500" cy="4248150"/>
            <a:chOff x="476" y="799"/>
            <a:chExt cx="680" cy="2676"/>
          </a:xfrm>
        </p:grpSpPr>
        <p:sp>
          <p:nvSpPr>
            <p:cNvPr id="4105" name="Line 4"/>
            <p:cNvSpPr>
              <a:spLocks noChangeShapeType="1"/>
            </p:cNvSpPr>
            <p:nvPr/>
          </p:nvSpPr>
          <p:spPr bwMode="auto">
            <a:xfrm>
              <a:off x="567" y="799"/>
              <a:ext cx="0" cy="2676"/>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6" name="Line 5"/>
            <p:cNvSpPr>
              <a:spLocks noChangeShapeType="1"/>
            </p:cNvSpPr>
            <p:nvPr/>
          </p:nvSpPr>
          <p:spPr bwMode="auto">
            <a:xfrm>
              <a:off x="612" y="2568"/>
              <a:ext cx="54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7" name="Oval 6"/>
            <p:cNvSpPr>
              <a:spLocks noChangeArrowheads="1"/>
            </p:cNvSpPr>
            <p:nvPr/>
          </p:nvSpPr>
          <p:spPr bwMode="auto">
            <a:xfrm>
              <a:off x="476" y="2478"/>
              <a:ext cx="136" cy="136"/>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108" name="Line 7"/>
            <p:cNvSpPr>
              <a:spLocks noChangeShapeType="1"/>
            </p:cNvSpPr>
            <p:nvPr/>
          </p:nvSpPr>
          <p:spPr bwMode="auto">
            <a:xfrm>
              <a:off x="567" y="1298"/>
              <a:ext cx="54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9" name="Oval 8"/>
            <p:cNvSpPr>
              <a:spLocks noChangeArrowheads="1"/>
            </p:cNvSpPr>
            <p:nvPr/>
          </p:nvSpPr>
          <p:spPr bwMode="auto">
            <a:xfrm>
              <a:off x="521" y="1253"/>
              <a:ext cx="136" cy="136"/>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27657" name="Text Box 9"/>
          <p:cNvSpPr txBox="1">
            <a:spLocks noChangeArrowheads="1"/>
          </p:cNvSpPr>
          <p:nvPr/>
        </p:nvSpPr>
        <p:spPr bwMode="auto">
          <a:xfrm>
            <a:off x="2927350" y="2282349"/>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ru-RU" altLang="ru-RU" sz="2400" b="1" dirty="0">
                <a:solidFill>
                  <a:srgbClr val="FF0066"/>
                </a:solidFill>
              </a:rPr>
              <a:t>Частота</a:t>
            </a:r>
          </a:p>
        </p:txBody>
      </p:sp>
      <p:sp>
        <p:nvSpPr>
          <p:cNvPr id="27658" name="Text Box 10"/>
          <p:cNvSpPr txBox="1">
            <a:spLocks noChangeArrowheads="1"/>
          </p:cNvSpPr>
          <p:nvPr/>
        </p:nvSpPr>
        <p:spPr bwMode="auto">
          <a:xfrm>
            <a:off x="2759797" y="4315069"/>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ru-RU" altLang="ru-RU" sz="2400" b="1" dirty="0">
                <a:solidFill>
                  <a:srgbClr val="FF0066"/>
                </a:solidFill>
              </a:rPr>
              <a:t>Амплитуда</a:t>
            </a:r>
          </a:p>
        </p:txBody>
      </p:sp>
      <p:sp>
        <p:nvSpPr>
          <p:cNvPr id="27659" name="Text Box 11"/>
          <p:cNvSpPr txBox="1">
            <a:spLocks noChangeArrowheads="1"/>
          </p:cNvSpPr>
          <p:nvPr/>
        </p:nvSpPr>
        <p:spPr bwMode="auto">
          <a:xfrm>
            <a:off x="2688361" y="2658708"/>
            <a:ext cx="7345362"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ru-RU" altLang="ru-RU" b="1" dirty="0"/>
              <a:t>Измеряется в Гц.</a:t>
            </a:r>
          </a:p>
          <a:p>
            <a:pPr eaLnBrk="1" hangingPunct="1">
              <a:spcBef>
                <a:spcPct val="50000"/>
              </a:spcBef>
            </a:pPr>
            <a:r>
              <a:rPr lang="ru-RU" altLang="ru-RU" b="1" dirty="0"/>
              <a:t>1Гц = 1 колебание/сек</a:t>
            </a:r>
          </a:p>
          <a:p>
            <a:pPr eaLnBrk="1" hangingPunct="1">
              <a:spcBef>
                <a:spcPct val="50000"/>
              </a:spcBef>
            </a:pPr>
            <a:r>
              <a:rPr lang="ru-RU" altLang="ru-RU" b="1" dirty="0"/>
              <a:t>Человек воспринимает звуки в диапазоне от 16 Гц до 20 кГц</a:t>
            </a:r>
          </a:p>
        </p:txBody>
      </p:sp>
      <p:sp>
        <p:nvSpPr>
          <p:cNvPr id="27660" name="Text Box 12"/>
          <p:cNvSpPr txBox="1">
            <a:spLocks noChangeArrowheads="1"/>
          </p:cNvSpPr>
          <p:nvPr/>
        </p:nvSpPr>
        <p:spPr bwMode="auto">
          <a:xfrm>
            <a:off x="2688361" y="4829812"/>
            <a:ext cx="7273925"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ru-RU" altLang="ru-RU" b="1" dirty="0"/>
              <a:t>Измеряется в Па (Паскалях).</a:t>
            </a:r>
          </a:p>
          <a:p>
            <a:pPr eaLnBrk="1" hangingPunct="1">
              <a:spcBef>
                <a:spcPct val="50000"/>
              </a:spcBef>
            </a:pPr>
            <a:r>
              <a:rPr lang="ru-RU" altLang="ru-RU" b="1" dirty="0"/>
              <a:t>Воспринимаемая человеком  громкость звука  от 20 </a:t>
            </a:r>
            <a:r>
              <a:rPr lang="ru-RU" altLang="ru-RU" b="1" dirty="0" err="1"/>
              <a:t>мкПа</a:t>
            </a:r>
            <a:r>
              <a:rPr lang="ru-RU" altLang="ru-RU" b="1" dirty="0"/>
              <a:t> (едва различимый звук)  до 200 Па (болевой порог).</a:t>
            </a:r>
          </a:p>
        </p:txBody>
      </p:sp>
      <p:sp>
        <p:nvSpPr>
          <p:cNvPr id="27662" name="Text Box 14"/>
          <p:cNvSpPr txBox="1">
            <a:spLocks noChangeArrowheads="1"/>
          </p:cNvSpPr>
          <p:nvPr/>
        </p:nvSpPr>
        <p:spPr bwMode="auto">
          <a:xfrm>
            <a:off x="4920386" y="4357213"/>
            <a:ext cx="5041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ru-RU" altLang="ru-RU" b="1" dirty="0"/>
              <a:t>(сила звука, звуковое давление)</a:t>
            </a:r>
          </a:p>
        </p:txBody>
      </p:sp>
    </p:spTree>
    <p:extLst>
      <p:ext uri="{BB962C8B-B14F-4D97-AF65-F5344CB8AC3E}">
        <p14:creationId xmlns:p14="http://schemas.microsoft.com/office/powerpoint/2010/main" val="19294207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fade">
                                      <p:cBhvr>
                                        <p:cTn id="7" dur="1000"/>
                                        <p:tgtEl>
                                          <p:spTgt spid="27650"/>
                                        </p:tgtEl>
                                      </p:cBhvr>
                                    </p:animEffect>
                                    <p:anim calcmode="lin" valueType="num">
                                      <p:cBhvr>
                                        <p:cTn id="8" dur="1000" fill="hold"/>
                                        <p:tgtEl>
                                          <p:spTgt spid="27650"/>
                                        </p:tgtEl>
                                        <p:attrNameLst>
                                          <p:attrName>ppt_x</p:attrName>
                                        </p:attrNameLst>
                                      </p:cBhvr>
                                      <p:tavLst>
                                        <p:tav tm="0">
                                          <p:val>
                                            <p:strVal val="#ppt_x"/>
                                          </p:val>
                                        </p:tav>
                                        <p:tav tm="100000">
                                          <p:val>
                                            <p:strVal val="#ppt_x"/>
                                          </p:val>
                                        </p:tav>
                                      </p:tavLst>
                                    </p:anim>
                                    <p:anim calcmode="lin" valueType="num">
                                      <p:cBhvr>
                                        <p:cTn id="9" dur="900" decel="100000" fill="hold"/>
                                        <p:tgtEl>
                                          <p:spTgt spid="2765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7650"/>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1" presetClass="entr" presetSubtype="0" fill="hold" nodeType="clickEffect">
                                  <p:stCondLst>
                                    <p:cond delay="0"/>
                                  </p:stCondLst>
                                  <p:iterate type="lt">
                                    <p:tmPct val="5000"/>
                                  </p:iterate>
                                  <p:childTnLst>
                                    <p:set>
                                      <p:cBhvr>
                                        <p:cTn id="14" dur="1" fill="hold">
                                          <p:stCondLst>
                                            <p:cond delay="0"/>
                                          </p:stCondLst>
                                        </p:cTn>
                                        <p:tgtEl>
                                          <p:spTgt spid="27664"/>
                                        </p:tgtEl>
                                        <p:attrNameLst>
                                          <p:attrName>style.visibility</p:attrName>
                                        </p:attrNameLst>
                                      </p:cBhvr>
                                      <p:to>
                                        <p:strVal val="visible"/>
                                      </p:to>
                                    </p:set>
                                    <p:anim calcmode="lin" valueType="num">
                                      <p:cBhvr>
                                        <p:cTn id="15" dur="1000" fill="hold"/>
                                        <p:tgtEl>
                                          <p:spTgt spid="27664"/>
                                        </p:tgtEl>
                                        <p:attrNameLst>
                                          <p:attrName>ppt_w</p:attrName>
                                        </p:attrNameLst>
                                      </p:cBhvr>
                                      <p:tavLst>
                                        <p:tav tm="0">
                                          <p:val>
                                            <p:fltVal val="0"/>
                                          </p:val>
                                        </p:tav>
                                        <p:tav tm="100000">
                                          <p:val>
                                            <p:strVal val="#ppt_w"/>
                                          </p:val>
                                        </p:tav>
                                      </p:tavLst>
                                    </p:anim>
                                    <p:anim calcmode="lin" valueType="num">
                                      <p:cBhvr>
                                        <p:cTn id="16" dur="1000" fill="hold"/>
                                        <p:tgtEl>
                                          <p:spTgt spid="27664"/>
                                        </p:tgtEl>
                                        <p:attrNameLst>
                                          <p:attrName>ppt_h</p:attrName>
                                        </p:attrNameLst>
                                      </p:cBhvr>
                                      <p:tavLst>
                                        <p:tav tm="0">
                                          <p:val>
                                            <p:fltVal val="0"/>
                                          </p:val>
                                        </p:tav>
                                        <p:tav tm="100000">
                                          <p:val>
                                            <p:strVal val="#ppt_h"/>
                                          </p:val>
                                        </p:tav>
                                      </p:tavLst>
                                    </p:anim>
                                    <p:anim calcmode="lin" valueType="num">
                                      <p:cBhvr>
                                        <p:cTn id="17" dur="1000" fill="hold"/>
                                        <p:tgtEl>
                                          <p:spTgt spid="27664"/>
                                        </p:tgtEl>
                                        <p:attrNameLst>
                                          <p:attrName>style.rotation</p:attrName>
                                        </p:attrNameLst>
                                      </p:cBhvr>
                                      <p:tavLst>
                                        <p:tav tm="0">
                                          <p:val>
                                            <p:fltVal val="90"/>
                                          </p:val>
                                        </p:tav>
                                        <p:tav tm="100000">
                                          <p:val>
                                            <p:fltVal val="0"/>
                                          </p:val>
                                        </p:tav>
                                      </p:tavLst>
                                    </p:anim>
                                    <p:animEffect transition="in" filter="fade">
                                      <p:cBhvr>
                                        <p:cTn id="18" dur="1000"/>
                                        <p:tgtEl>
                                          <p:spTgt spid="2766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5" presetClass="entr" presetSubtype="0" fill="hold" grpId="0" nodeType="clickEffect">
                                  <p:stCondLst>
                                    <p:cond delay="0"/>
                                  </p:stCondLst>
                                  <p:childTnLst>
                                    <p:set>
                                      <p:cBhvr>
                                        <p:cTn id="22" dur="1" fill="hold">
                                          <p:stCondLst>
                                            <p:cond delay="0"/>
                                          </p:stCondLst>
                                        </p:cTn>
                                        <p:tgtEl>
                                          <p:spTgt spid="27657"/>
                                        </p:tgtEl>
                                        <p:attrNameLst>
                                          <p:attrName>style.visibility</p:attrName>
                                        </p:attrNameLst>
                                      </p:cBhvr>
                                      <p:to>
                                        <p:strVal val="visible"/>
                                      </p:to>
                                    </p:set>
                                    <p:anim calcmode="lin" valueType="num">
                                      <p:cBhvr>
                                        <p:cTn id="23" dur="500" decel="50000" fill="hold">
                                          <p:stCondLst>
                                            <p:cond delay="0"/>
                                          </p:stCondLst>
                                        </p:cTn>
                                        <p:tgtEl>
                                          <p:spTgt spid="27657"/>
                                        </p:tgtEl>
                                        <p:attrNameLst>
                                          <p:attrName>style.rotation</p:attrName>
                                        </p:attrNameLst>
                                      </p:cBhvr>
                                      <p:tavLst>
                                        <p:tav tm="0">
                                          <p:val>
                                            <p:fltVal val="-90"/>
                                          </p:val>
                                        </p:tav>
                                        <p:tav tm="100000">
                                          <p:val>
                                            <p:fltVal val="0"/>
                                          </p:val>
                                        </p:tav>
                                      </p:tavLst>
                                    </p:anim>
                                    <p:anim calcmode="lin" valueType="num">
                                      <p:cBhvr>
                                        <p:cTn id="24" dur="500" decel="50000" fill="hold">
                                          <p:stCondLst>
                                            <p:cond delay="0"/>
                                          </p:stCondLst>
                                        </p:cTn>
                                        <p:tgtEl>
                                          <p:spTgt spid="27657"/>
                                        </p:tgtEl>
                                        <p:attrNameLst>
                                          <p:attrName>ppt_w</p:attrName>
                                        </p:attrNameLst>
                                      </p:cBhvr>
                                      <p:tavLst>
                                        <p:tav tm="0">
                                          <p:val>
                                            <p:strVal val="#ppt_w"/>
                                          </p:val>
                                        </p:tav>
                                        <p:tav tm="100000">
                                          <p:val>
                                            <p:strVal val="#ppt_w*.05"/>
                                          </p:val>
                                        </p:tav>
                                      </p:tavLst>
                                    </p:anim>
                                    <p:anim calcmode="lin" valueType="num">
                                      <p:cBhvr>
                                        <p:cTn id="25" dur="500" accel="50000" fill="hold">
                                          <p:stCondLst>
                                            <p:cond delay="500"/>
                                          </p:stCondLst>
                                        </p:cTn>
                                        <p:tgtEl>
                                          <p:spTgt spid="27657"/>
                                        </p:tgtEl>
                                        <p:attrNameLst>
                                          <p:attrName>ppt_w</p:attrName>
                                        </p:attrNameLst>
                                      </p:cBhvr>
                                      <p:tavLst>
                                        <p:tav tm="0">
                                          <p:val>
                                            <p:strVal val="#ppt_w*.05"/>
                                          </p:val>
                                        </p:tav>
                                        <p:tav tm="100000">
                                          <p:val>
                                            <p:strVal val="#ppt_w"/>
                                          </p:val>
                                        </p:tav>
                                      </p:tavLst>
                                    </p:anim>
                                    <p:anim calcmode="lin" valueType="num">
                                      <p:cBhvr>
                                        <p:cTn id="26" dur="1000" fill="hold"/>
                                        <p:tgtEl>
                                          <p:spTgt spid="27657"/>
                                        </p:tgtEl>
                                        <p:attrNameLst>
                                          <p:attrName>ppt_h</p:attrName>
                                        </p:attrNameLst>
                                      </p:cBhvr>
                                      <p:tavLst>
                                        <p:tav tm="0">
                                          <p:val>
                                            <p:strVal val="#ppt_h"/>
                                          </p:val>
                                        </p:tav>
                                        <p:tav tm="100000">
                                          <p:val>
                                            <p:strVal val="#ppt_h"/>
                                          </p:val>
                                        </p:tav>
                                      </p:tavLst>
                                    </p:anim>
                                    <p:anim calcmode="lin" valueType="num">
                                      <p:cBhvr>
                                        <p:cTn id="27" dur="500" decel="50000" fill="hold">
                                          <p:stCondLst>
                                            <p:cond delay="0"/>
                                          </p:stCondLst>
                                        </p:cTn>
                                        <p:tgtEl>
                                          <p:spTgt spid="27657"/>
                                        </p:tgtEl>
                                        <p:attrNameLst>
                                          <p:attrName>ppt_x</p:attrName>
                                        </p:attrNameLst>
                                      </p:cBhvr>
                                      <p:tavLst>
                                        <p:tav tm="0">
                                          <p:val>
                                            <p:strVal val="#ppt_x+.4"/>
                                          </p:val>
                                        </p:tav>
                                        <p:tav tm="100000">
                                          <p:val>
                                            <p:strVal val="#ppt_x"/>
                                          </p:val>
                                        </p:tav>
                                      </p:tavLst>
                                    </p:anim>
                                    <p:anim calcmode="lin" valueType="num">
                                      <p:cBhvr>
                                        <p:cTn id="28" dur="500" decel="50000" fill="hold">
                                          <p:stCondLst>
                                            <p:cond delay="0"/>
                                          </p:stCondLst>
                                        </p:cTn>
                                        <p:tgtEl>
                                          <p:spTgt spid="27657"/>
                                        </p:tgtEl>
                                        <p:attrNameLst>
                                          <p:attrName>ppt_y</p:attrName>
                                        </p:attrNameLst>
                                      </p:cBhvr>
                                      <p:tavLst>
                                        <p:tav tm="0">
                                          <p:val>
                                            <p:strVal val="#ppt_y-.2"/>
                                          </p:val>
                                        </p:tav>
                                        <p:tav tm="100000">
                                          <p:val>
                                            <p:strVal val="#ppt_y+.1"/>
                                          </p:val>
                                        </p:tav>
                                      </p:tavLst>
                                    </p:anim>
                                    <p:anim calcmode="lin" valueType="num">
                                      <p:cBhvr>
                                        <p:cTn id="29" dur="500" accel="50000" fill="hold">
                                          <p:stCondLst>
                                            <p:cond delay="500"/>
                                          </p:stCondLst>
                                        </p:cTn>
                                        <p:tgtEl>
                                          <p:spTgt spid="27657"/>
                                        </p:tgtEl>
                                        <p:attrNameLst>
                                          <p:attrName>ppt_y</p:attrName>
                                        </p:attrNameLst>
                                      </p:cBhvr>
                                      <p:tavLst>
                                        <p:tav tm="0">
                                          <p:val>
                                            <p:strVal val="#ppt_y+.1"/>
                                          </p:val>
                                        </p:tav>
                                        <p:tav tm="100000">
                                          <p:val>
                                            <p:strVal val="#ppt_y"/>
                                          </p:val>
                                        </p:tav>
                                      </p:tavLst>
                                    </p:anim>
                                    <p:animEffect transition="in" filter="fade">
                                      <p:cBhvr>
                                        <p:cTn id="30" dur="1000" decel="50000">
                                          <p:stCondLst>
                                            <p:cond delay="0"/>
                                          </p:stCondLst>
                                        </p:cTn>
                                        <p:tgtEl>
                                          <p:spTgt spid="2765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5" presetClass="entr" presetSubtype="0" fill="hold" grpId="0" nodeType="clickEffect">
                                  <p:stCondLst>
                                    <p:cond delay="0"/>
                                  </p:stCondLst>
                                  <p:childTnLst>
                                    <p:set>
                                      <p:cBhvr>
                                        <p:cTn id="34" dur="1" fill="hold">
                                          <p:stCondLst>
                                            <p:cond delay="0"/>
                                          </p:stCondLst>
                                        </p:cTn>
                                        <p:tgtEl>
                                          <p:spTgt spid="27658"/>
                                        </p:tgtEl>
                                        <p:attrNameLst>
                                          <p:attrName>style.visibility</p:attrName>
                                        </p:attrNameLst>
                                      </p:cBhvr>
                                      <p:to>
                                        <p:strVal val="visible"/>
                                      </p:to>
                                    </p:set>
                                    <p:anim calcmode="lin" valueType="num">
                                      <p:cBhvr>
                                        <p:cTn id="35" dur="500" decel="50000" fill="hold">
                                          <p:stCondLst>
                                            <p:cond delay="0"/>
                                          </p:stCondLst>
                                        </p:cTn>
                                        <p:tgtEl>
                                          <p:spTgt spid="27658"/>
                                        </p:tgtEl>
                                        <p:attrNameLst>
                                          <p:attrName>style.rotation</p:attrName>
                                        </p:attrNameLst>
                                      </p:cBhvr>
                                      <p:tavLst>
                                        <p:tav tm="0">
                                          <p:val>
                                            <p:fltVal val="-90"/>
                                          </p:val>
                                        </p:tav>
                                        <p:tav tm="100000">
                                          <p:val>
                                            <p:fltVal val="0"/>
                                          </p:val>
                                        </p:tav>
                                      </p:tavLst>
                                    </p:anim>
                                    <p:anim calcmode="lin" valueType="num">
                                      <p:cBhvr>
                                        <p:cTn id="36" dur="500" decel="50000" fill="hold">
                                          <p:stCondLst>
                                            <p:cond delay="0"/>
                                          </p:stCondLst>
                                        </p:cTn>
                                        <p:tgtEl>
                                          <p:spTgt spid="27658"/>
                                        </p:tgtEl>
                                        <p:attrNameLst>
                                          <p:attrName>ppt_w</p:attrName>
                                        </p:attrNameLst>
                                      </p:cBhvr>
                                      <p:tavLst>
                                        <p:tav tm="0">
                                          <p:val>
                                            <p:strVal val="#ppt_w"/>
                                          </p:val>
                                        </p:tav>
                                        <p:tav tm="100000">
                                          <p:val>
                                            <p:strVal val="#ppt_w*.05"/>
                                          </p:val>
                                        </p:tav>
                                      </p:tavLst>
                                    </p:anim>
                                    <p:anim calcmode="lin" valueType="num">
                                      <p:cBhvr>
                                        <p:cTn id="37" dur="500" accel="50000" fill="hold">
                                          <p:stCondLst>
                                            <p:cond delay="500"/>
                                          </p:stCondLst>
                                        </p:cTn>
                                        <p:tgtEl>
                                          <p:spTgt spid="27658"/>
                                        </p:tgtEl>
                                        <p:attrNameLst>
                                          <p:attrName>ppt_w</p:attrName>
                                        </p:attrNameLst>
                                      </p:cBhvr>
                                      <p:tavLst>
                                        <p:tav tm="0">
                                          <p:val>
                                            <p:strVal val="#ppt_w*.05"/>
                                          </p:val>
                                        </p:tav>
                                        <p:tav tm="100000">
                                          <p:val>
                                            <p:strVal val="#ppt_w"/>
                                          </p:val>
                                        </p:tav>
                                      </p:tavLst>
                                    </p:anim>
                                    <p:anim calcmode="lin" valueType="num">
                                      <p:cBhvr>
                                        <p:cTn id="38" dur="1000" fill="hold"/>
                                        <p:tgtEl>
                                          <p:spTgt spid="27658"/>
                                        </p:tgtEl>
                                        <p:attrNameLst>
                                          <p:attrName>ppt_h</p:attrName>
                                        </p:attrNameLst>
                                      </p:cBhvr>
                                      <p:tavLst>
                                        <p:tav tm="0">
                                          <p:val>
                                            <p:strVal val="#ppt_h"/>
                                          </p:val>
                                        </p:tav>
                                        <p:tav tm="100000">
                                          <p:val>
                                            <p:strVal val="#ppt_h"/>
                                          </p:val>
                                        </p:tav>
                                      </p:tavLst>
                                    </p:anim>
                                    <p:anim calcmode="lin" valueType="num">
                                      <p:cBhvr>
                                        <p:cTn id="39" dur="500" decel="50000" fill="hold">
                                          <p:stCondLst>
                                            <p:cond delay="0"/>
                                          </p:stCondLst>
                                        </p:cTn>
                                        <p:tgtEl>
                                          <p:spTgt spid="27658"/>
                                        </p:tgtEl>
                                        <p:attrNameLst>
                                          <p:attrName>ppt_x</p:attrName>
                                        </p:attrNameLst>
                                      </p:cBhvr>
                                      <p:tavLst>
                                        <p:tav tm="0">
                                          <p:val>
                                            <p:strVal val="#ppt_x+.4"/>
                                          </p:val>
                                        </p:tav>
                                        <p:tav tm="100000">
                                          <p:val>
                                            <p:strVal val="#ppt_x"/>
                                          </p:val>
                                        </p:tav>
                                      </p:tavLst>
                                    </p:anim>
                                    <p:anim calcmode="lin" valueType="num">
                                      <p:cBhvr>
                                        <p:cTn id="40" dur="500" decel="50000" fill="hold">
                                          <p:stCondLst>
                                            <p:cond delay="0"/>
                                          </p:stCondLst>
                                        </p:cTn>
                                        <p:tgtEl>
                                          <p:spTgt spid="27658"/>
                                        </p:tgtEl>
                                        <p:attrNameLst>
                                          <p:attrName>ppt_y</p:attrName>
                                        </p:attrNameLst>
                                      </p:cBhvr>
                                      <p:tavLst>
                                        <p:tav tm="0">
                                          <p:val>
                                            <p:strVal val="#ppt_y-.2"/>
                                          </p:val>
                                        </p:tav>
                                        <p:tav tm="100000">
                                          <p:val>
                                            <p:strVal val="#ppt_y+.1"/>
                                          </p:val>
                                        </p:tav>
                                      </p:tavLst>
                                    </p:anim>
                                    <p:anim calcmode="lin" valueType="num">
                                      <p:cBhvr>
                                        <p:cTn id="41" dur="500" accel="50000" fill="hold">
                                          <p:stCondLst>
                                            <p:cond delay="500"/>
                                          </p:stCondLst>
                                        </p:cTn>
                                        <p:tgtEl>
                                          <p:spTgt spid="27658"/>
                                        </p:tgtEl>
                                        <p:attrNameLst>
                                          <p:attrName>ppt_y</p:attrName>
                                        </p:attrNameLst>
                                      </p:cBhvr>
                                      <p:tavLst>
                                        <p:tav tm="0">
                                          <p:val>
                                            <p:strVal val="#ppt_y+.1"/>
                                          </p:val>
                                        </p:tav>
                                        <p:tav tm="100000">
                                          <p:val>
                                            <p:strVal val="#ppt_y"/>
                                          </p:val>
                                        </p:tav>
                                      </p:tavLst>
                                    </p:anim>
                                    <p:animEffect transition="in" filter="fade">
                                      <p:cBhvr>
                                        <p:cTn id="42" dur="1000" decel="50000">
                                          <p:stCondLst>
                                            <p:cond delay="0"/>
                                          </p:stCondLst>
                                        </p:cTn>
                                        <p:tgtEl>
                                          <p:spTgt spid="276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5" presetClass="entr" presetSubtype="0" fill="hold" grpId="0" nodeType="clickEffect">
                                  <p:stCondLst>
                                    <p:cond delay="0"/>
                                  </p:stCondLst>
                                  <p:childTnLst>
                                    <p:set>
                                      <p:cBhvr>
                                        <p:cTn id="46" dur="1" fill="hold">
                                          <p:stCondLst>
                                            <p:cond delay="0"/>
                                          </p:stCondLst>
                                        </p:cTn>
                                        <p:tgtEl>
                                          <p:spTgt spid="27659"/>
                                        </p:tgtEl>
                                        <p:attrNameLst>
                                          <p:attrName>style.visibility</p:attrName>
                                        </p:attrNameLst>
                                      </p:cBhvr>
                                      <p:to>
                                        <p:strVal val="visible"/>
                                      </p:to>
                                    </p:set>
                                    <p:anim calcmode="lin" valueType="num">
                                      <p:cBhvr>
                                        <p:cTn id="47" dur="500" decel="50000" fill="hold">
                                          <p:stCondLst>
                                            <p:cond delay="0"/>
                                          </p:stCondLst>
                                        </p:cTn>
                                        <p:tgtEl>
                                          <p:spTgt spid="27659"/>
                                        </p:tgtEl>
                                        <p:attrNameLst>
                                          <p:attrName>style.rotation</p:attrName>
                                        </p:attrNameLst>
                                      </p:cBhvr>
                                      <p:tavLst>
                                        <p:tav tm="0">
                                          <p:val>
                                            <p:fltVal val="-90"/>
                                          </p:val>
                                        </p:tav>
                                        <p:tav tm="100000">
                                          <p:val>
                                            <p:fltVal val="0"/>
                                          </p:val>
                                        </p:tav>
                                      </p:tavLst>
                                    </p:anim>
                                    <p:anim calcmode="lin" valueType="num">
                                      <p:cBhvr>
                                        <p:cTn id="48" dur="500" decel="50000" fill="hold">
                                          <p:stCondLst>
                                            <p:cond delay="0"/>
                                          </p:stCondLst>
                                        </p:cTn>
                                        <p:tgtEl>
                                          <p:spTgt spid="27659"/>
                                        </p:tgtEl>
                                        <p:attrNameLst>
                                          <p:attrName>ppt_w</p:attrName>
                                        </p:attrNameLst>
                                      </p:cBhvr>
                                      <p:tavLst>
                                        <p:tav tm="0">
                                          <p:val>
                                            <p:strVal val="#ppt_w"/>
                                          </p:val>
                                        </p:tav>
                                        <p:tav tm="100000">
                                          <p:val>
                                            <p:strVal val="#ppt_w*.05"/>
                                          </p:val>
                                        </p:tav>
                                      </p:tavLst>
                                    </p:anim>
                                    <p:anim calcmode="lin" valueType="num">
                                      <p:cBhvr>
                                        <p:cTn id="49" dur="500" accel="50000" fill="hold">
                                          <p:stCondLst>
                                            <p:cond delay="500"/>
                                          </p:stCondLst>
                                        </p:cTn>
                                        <p:tgtEl>
                                          <p:spTgt spid="27659"/>
                                        </p:tgtEl>
                                        <p:attrNameLst>
                                          <p:attrName>ppt_w</p:attrName>
                                        </p:attrNameLst>
                                      </p:cBhvr>
                                      <p:tavLst>
                                        <p:tav tm="0">
                                          <p:val>
                                            <p:strVal val="#ppt_w*.05"/>
                                          </p:val>
                                        </p:tav>
                                        <p:tav tm="100000">
                                          <p:val>
                                            <p:strVal val="#ppt_w"/>
                                          </p:val>
                                        </p:tav>
                                      </p:tavLst>
                                    </p:anim>
                                    <p:anim calcmode="lin" valueType="num">
                                      <p:cBhvr>
                                        <p:cTn id="50" dur="1000" fill="hold"/>
                                        <p:tgtEl>
                                          <p:spTgt spid="27659"/>
                                        </p:tgtEl>
                                        <p:attrNameLst>
                                          <p:attrName>ppt_h</p:attrName>
                                        </p:attrNameLst>
                                      </p:cBhvr>
                                      <p:tavLst>
                                        <p:tav tm="0">
                                          <p:val>
                                            <p:strVal val="#ppt_h"/>
                                          </p:val>
                                        </p:tav>
                                        <p:tav tm="100000">
                                          <p:val>
                                            <p:strVal val="#ppt_h"/>
                                          </p:val>
                                        </p:tav>
                                      </p:tavLst>
                                    </p:anim>
                                    <p:anim calcmode="lin" valueType="num">
                                      <p:cBhvr>
                                        <p:cTn id="51" dur="500" decel="50000" fill="hold">
                                          <p:stCondLst>
                                            <p:cond delay="0"/>
                                          </p:stCondLst>
                                        </p:cTn>
                                        <p:tgtEl>
                                          <p:spTgt spid="27659"/>
                                        </p:tgtEl>
                                        <p:attrNameLst>
                                          <p:attrName>ppt_x</p:attrName>
                                        </p:attrNameLst>
                                      </p:cBhvr>
                                      <p:tavLst>
                                        <p:tav tm="0">
                                          <p:val>
                                            <p:strVal val="#ppt_x+.4"/>
                                          </p:val>
                                        </p:tav>
                                        <p:tav tm="100000">
                                          <p:val>
                                            <p:strVal val="#ppt_x"/>
                                          </p:val>
                                        </p:tav>
                                      </p:tavLst>
                                    </p:anim>
                                    <p:anim calcmode="lin" valueType="num">
                                      <p:cBhvr>
                                        <p:cTn id="52" dur="500" decel="50000" fill="hold">
                                          <p:stCondLst>
                                            <p:cond delay="0"/>
                                          </p:stCondLst>
                                        </p:cTn>
                                        <p:tgtEl>
                                          <p:spTgt spid="27659"/>
                                        </p:tgtEl>
                                        <p:attrNameLst>
                                          <p:attrName>ppt_y</p:attrName>
                                        </p:attrNameLst>
                                      </p:cBhvr>
                                      <p:tavLst>
                                        <p:tav tm="0">
                                          <p:val>
                                            <p:strVal val="#ppt_y-.2"/>
                                          </p:val>
                                        </p:tav>
                                        <p:tav tm="100000">
                                          <p:val>
                                            <p:strVal val="#ppt_y+.1"/>
                                          </p:val>
                                        </p:tav>
                                      </p:tavLst>
                                    </p:anim>
                                    <p:anim calcmode="lin" valueType="num">
                                      <p:cBhvr>
                                        <p:cTn id="53" dur="500" accel="50000" fill="hold">
                                          <p:stCondLst>
                                            <p:cond delay="500"/>
                                          </p:stCondLst>
                                        </p:cTn>
                                        <p:tgtEl>
                                          <p:spTgt spid="27659"/>
                                        </p:tgtEl>
                                        <p:attrNameLst>
                                          <p:attrName>ppt_y</p:attrName>
                                        </p:attrNameLst>
                                      </p:cBhvr>
                                      <p:tavLst>
                                        <p:tav tm="0">
                                          <p:val>
                                            <p:strVal val="#ppt_y+.1"/>
                                          </p:val>
                                        </p:tav>
                                        <p:tav tm="100000">
                                          <p:val>
                                            <p:strVal val="#ppt_y"/>
                                          </p:val>
                                        </p:tav>
                                      </p:tavLst>
                                    </p:anim>
                                    <p:animEffect transition="in" filter="fade">
                                      <p:cBhvr>
                                        <p:cTn id="54" dur="1000" decel="50000">
                                          <p:stCondLst>
                                            <p:cond delay="0"/>
                                          </p:stCondLst>
                                        </p:cTn>
                                        <p:tgtEl>
                                          <p:spTgt spid="2765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5" presetClass="entr" presetSubtype="0" fill="hold" grpId="0" nodeType="clickEffect">
                                  <p:stCondLst>
                                    <p:cond delay="0"/>
                                  </p:stCondLst>
                                  <p:childTnLst>
                                    <p:set>
                                      <p:cBhvr>
                                        <p:cTn id="58" dur="1" fill="hold">
                                          <p:stCondLst>
                                            <p:cond delay="0"/>
                                          </p:stCondLst>
                                        </p:cTn>
                                        <p:tgtEl>
                                          <p:spTgt spid="27662"/>
                                        </p:tgtEl>
                                        <p:attrNameLst>
                                          <p:attrName>style.visibility</p:attrName>
                                        </p:attrNameLst>
                                      </p:cBhvr>
                                      <p:to>
                                        <p:strVal val="visible"/>
                                      </p:to>
                                    </p:set>
                                    <p:anim calcmode="lin" valueType="num">
                                      <p:cBhvr>
                                        <p:cTn id="59" dur="500" decel="50000" fill="hold">
                                          <p:stCondLst>
                                            <p:cond delay="0"/>
                                          </p:stCondLst>
                                        </p:cTn>
                                        <p:tgtEl>
                                          <p:spTgt spid="27662"/>
                                        </p:tgtEl>
                                        <p:attrNameLst>
                                          <p:attrName>style.rotation</p:attrName>
                                        </p:attrNameLst>
                                      </p:cBhvr>
                                      <p:tavLst>
                                        <p:tav tm="0">
                                          <p:val>
                                            <p:fltVal val="-90"/>
                                          </p:val>
                                        </p:tav>
                                        <p:tav tm="100000">
                                          <p:val>
                                            <p:fltVal val="0"/>
                                          </p:val>
                                        </p:tav>
                                      </p:tavLst>
                                    </p:anim>
                                    <p:anim calcmode="lin" valueType="num">
                                      <p:cBhvr>
                                        <p:cTn id="60" dur="500" decel="50000" fill="hold">
                                          <p:stCondLst>
                                            <p:cond delay="0"/>
                                          </p:stCondLst>
                                        </p:cTn>
                                        <p:tgtEl>
                                          <p:spTgt spid="27662"/>
                                        </p:tgtEl>
                                        <p:attrNameLst>
                                          <p:attrName>ppt_w</p:attrName>
                                        </p:attrNameLst>
                                      </p:cBhvr>
                                      <p:tavLst>
                                        <p:tav tm="0">
                                          <p:val>
                                            <p:strVal val="#ppt_w"/>
                                          </p:val>
                                        </p:tav>
                                        <p:tav tm="100000">
                                          <p:val>
                                            <p:strVal val="#ppt_w*.05"/>
                                          </p:val>
                                        </p:tav>
                                      </p:tavLst>
                                    </p:anim>
                                    <p:anim calcmode="lin" valueType="num">
                                      <p:cBhvr>
                                        <p:cTn id="61" dur="500" accel="50000" fill="hold">
                                          <p:stCondLst>
                                            <p:cond delay="500"/>
                                          </p:stCondLst>
                                        </p:cTn>
                                        <p:tgtEl>
                                          <p:spTgt spid="27662"/>
                                        </p:tgtEl>
                                        <p:attrNameLst>
                                          <p:attrName>ppt_w</p:attrName>
                                        </p:attrNameLst>
                                      </p:cBhvr>
                                      <p:tavLst>
                                        <p:tav tm="0">
                                          <p:val>
                                            <p:strVal val="#ppt_w*.05"/>
                                          </p:val>
                                        </p:tav>
                                        <p:tav tm="100000">
                                          <p:val>
                                            <p:strVal val="#ppt_w"/>
                                          </p:val>
                                        </p:tav>
                                      </p:tavLst>
                                    </p:anim>
                                    <p:anim calcmode="lin" valueType="num">
                                      <p:cBhvr>
                                        <p:cTn id="62" dur="1000" fill="hold"/>
                                        <p:tgtEl>
                                          <p:spTgt spid="27662"/>
                                        </p:tgtEl>
                                        <p:attrNameLst>
                                          <p:attrName>ppt_h</p:attrName>
                                        </p:attrNameLst>
                                      </p:cBhvr>
                                      <p:tavLst>
                                        <p:tav tm="0">
                                          <p:val>
                                            <p:strVal val="#ppt_h"/>
                                          </p:val>
                                        </p:tav>
                                        <p:tav tm="100000">
                                          <p:val>
                                            <p:strVal val="#ppt_h"/>
                                          </p:val>
                                        </p:tav>
                                      </p:tavLst>
                                    </p:anim>
                                    <p:anim calcmode="lin" valueType="num">
                                      <p:cBhvr>
                                        <p:cTn id="63" dur="500" decel="50000" fill="hold">
                                          <p:stCondLst>
                                            <p:cond delay="0"/>
                                          </p:stCondLst>
                                        </p:cTn>
                                        <p:tgtEl>
                                          <p:spTgt spid="27662"/>
                                        </p:tgtEl>
                                        <p:attrNameLst>
                                          <p:attrName>ppt_x</p:attrName>
                                        </p:attrNameLst>
                                      </p:cBhvr>
                                      <p:tavLst>
                                        <p:tav tm="0">
                                          <p:val>
                                            <p:strVal val="#ppt_x+.4"/>
                                          </p:val>
                                        </p:tav>
                                        <p:tav tm="100000">
                                          <p:val>
                                            <p:strVal val="#ppt_x"/>
                                          </p:val>
                                        </p:tav>
                                      </p:tavLst>
                                    </p:anim>
                                    <p:anim calcmode="lin" valueType="num">
                                      <p:cBhvr>
                                        <p:cTn id="64" dur="500" decel="50000" fill="hold">
                                          <p:stCondLst>
                                            <p:cond delay="0"/>
                                          </p:stCondLst>
                                        </p:cTn>
                                        <p:tgtEl>
                                          <p:spTgt spid="27662"/>
                                        </p:tgtEl>
                                        <p:attrNameLst>
                                          <p:attrName>ppt_y</p:attrName>
                                        </p:attrNameLst>
                                      </p:cBhvr>
                                      <p:tavLst>
                                        <p:tav tm="0">
                                          <p:val>
                                            <p:strVal val="#ppt_y-.2"/>
                                          </p:val>
                                        </p:tav>
                                        <p:tav tm="100000">
                                          <p:val>
                                            <p:strVal val="#ppt_y+.1"/>
                                          </p:val>
                                        </p:tav>
                                      </p:tavLst>
                                    </p:anim>
                                    <p:anim calcmode="lin" valueType="num">
                                      <p:cBhvr>
                                        <p:cTn id="65" dur="500" accel="50000" fill="hold">
                                          <p:stCondLst>
                                            <p:cond delay="500"/>
                                          </p:stCondLst>
                                        </p:cTn>
                                        <p:tgtEl>
                                          <p:spTgt spid="27662"/>
                                        </p:tgtEl>
                                        <p:attrNameLst>
                                          <p:attrName>ppt_y</p:attrName>
                                        </p:attrNameLst>
                                      </p:cBhvr>
                                      <p:tavLst>
                                        <p:tav tm="0">
                                          <p:val>
                                            <p:strVal val="#ppt_y+.1"/>
                                          </p:val>
                                        </p:tav>
                                        <p:tav tm="100000">
                                          <p:val>
                                            <p:strVal val="#ppt_y"/>
                                          </p:val>
                                        </p:tav>
                                      </p:tavLst>
                                    </p:anim>
                                    <p:animEffect transition="in" filter="fade">
                                      <p:cBhvr>
                                        <p:cTn id="66" dur="1000" decel="50000">
                                          <p:stCondLst>
                                            <p:cond delay="0"/>
                                          </p:stCondLst>
                                        </p:cTn>
                                        <p:tgtEl>
                                          <p:spTgt spid="2766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5" presetClass="entr" presetSubtype="0" fill="hold" grpId="0" nodeType="clickEffect">
                                  <p:stCondLst>
                                    <p:cond delay="0"/>
                                  </p:stCondLst>
                                  <p:childTnLst>
                                    <p:set>
                                      <p:cBhvr>
                                        <p:cTn id="70" dur="1" fill="hold">
                                          <p:stCondLst>
                                            <p:cond delay="0"/>
                                          </p:stCondLst>
                                        </p:cTn>
                                        <p:tgtEl>
                                          <p:spTgt spid="27660"/>
                                        </p:tgtEl>
                                        <p:attrNameLst>
                                          <p:attrName>style.visibility</p:attrName>
                                        </p:attrNameLst>
                                      </p:cBhvr>
                                      <p:to>
                                        <p:strVal val="visible"/>
                                      </p:to>
                                    </p:set>
                                    <p:anim calcmode="lin" valueType="num">
                                      <p:cBhvr>
                                        <p:cTn id="71" dur="500" decel="50000" fill="hold">
                                          <p:stCondLst>
                                            <p:cond delay="0"/>
                                          </p:stCondLst>
                                        </p:cTn>
                                        <p:tgtEl>
                                          <p:spTgt spid="27660"/>
                                        </p:tgtEl>
                                        <p:attrNameLst>
                                          <p:attrName>style.rotation</p:attrName>
                                        </p:attrNameLst>
                                      </p:cBhvr>
                                      <p:tavLst>
                                        <p:tav tm="0">
                                          <p:val>
                                            <p:fltVal val="-90"/>
                                          </p:val>
                                        </p:tav>
                                        <p:tav tm="100000">
                                          <p:val>
                                            <p:fltVal val="0"/>
                                          </p:val>
                                        </p:tav>
                                      </p:tavLst>
                                    </p:anim>
                                    <p:anim calcmode="lin" valueType="num">
                                      <p:cBhvr>
                                        <p:cTn id="72" dur="500" decel="50000" fill="hold">
                                          <p:stCondLst>
                                            <p:cond delay="0"/>
                                          </p:stCondLst>
                                        </p:cTn>
                                        <p:tgtEl>
                                          <p:spTgt spid="27660"/>
                                        </p:tgtEl>
                                        <p:attrNameLst>
                                          <p:attrName>ppt_w</p:attrName>
                                        </p:attrNameLst>
                                      </p:cBhvr>
                                      <p:tavLst>
                                        <p:tav tm="0">
                                          <p:val>
                                            <p:strVal val="#ppt_w"/>
                                          </p:val>
                                        </p:tav>
                                        <p:tav tm="100000">
                                          <p:val>
                                            <p:strVal val="#ppt_w*.05"/>
                                          </p:val>
                                        </p:tav>
                                      </p:tavLst>
                                    </p:anim>
                                    <p:anim calcmode="lin" valueType="num">
                                      <p:cBhvr>
                                        <p:cTn id="73" dur="500" accel="50000" fill="hold">
                                          <p:stCondLst>
                                            <p:cond delay="500"/>
                                          </p:stCondLst>
                                        </p:cTn>
                                        <p:tgtEl>
                                          <p:spTgt spid="27660"/>
                                        </p:tgtEl>
                                        <p:attrNameLst>
                                          <p:attrName>ppt_w</p:attrName>
                                        </p:attrNameLst>
                                      </p:cBhvr>
                                      <p:tavLst>
                                        <p:tav tm="0">
                                          <p:val>
                                            <p:strVal val="#ppt_w*.05"/>
                                          </p:val>
                                        </p:tav>
                                        <p:tav tm="100000">
                                          <p:val>
                                            <p:strVal val="#ppt_w"/>
                                          </p:val>
                                        </p:tav>
                                      </p:tavLst>
                                    </p:anim>
                                    <p:anim calcmode="lin" valueType="num">
                                      <p:cBhvr>
                                        <p:cTn id="74" dur="1000" fill="hold"/>
                                        <p:tgtEl>
                                          <p:spTgt spid="27660"/>
                                        </p:tgtEl>
                                        <p:attrNameLst>
                                          <p:attrName>ppt_h</p:attrName>
                                        </p:attrNameLst>
                                      </p:cBhvr>
                                      <p:tavLst>
                                        <p:tav tm="0">
                                          <p:val>
                                            <p:strVal val="#ppt_h"/>
                                          </p:val>
                                        </p:tav>
                                        <p:tav tm="100000">
                                          <p:val>
                                            <p:strVal val="#ppt_h"/>
                                          </p:val>
                                        </p:tav>
                                      </p:tavLst>
                                    </p:anim>
                                    <p:anim calcmode="lin" valueType="num">
                                      <p:cBhvr>
                                        <p:cTn id="75" dur="500" decel="50000" fill="hold">
                                          <p:stCondLst>
                                            <p:cond delay="0"/>
                                          </p:stCondLst>
                                        </p:cTn>
                                        <p:tgtEl>
                                          <p:spTgt spid="27660"/>
                                        </p:tgtEl>
                                        <p:attrNameLst>
                                          <p:attrName>ppt_x</p:attrName>
                                        </p:attrNameLst>
                                      </p:cBhvr>
                                      <p:tavLst>
                                        <p:tav tm="0">
                                          <p:val>
                                            <p:strVal val="#ppt_x+.4"/>
                                          </p:val>
                                        </p:tav>
                                        <p:tav tm="100000">
                                          <p:val>
                                            <p:strVal val="#ppt_x"/>
                                          </p:val>
                                        </p:tav>
                                      </p:tavLst>
                                    </p:anim>
                                    <p:anim calcmode="lin" valueType="num">
                                      <p:cBhvr>
                                        <p:cTn id="76" dur="500" decel="50000" fill="hold">
                                          <p:stCondLst>
                                            <p:cond delay="0"/>
                                          </p:stCondLst>
                                        </p:cTn>
                                        <p:tgtEl>
                                          <p:spTgt spid="27660"/>
                                        </p:tgtEl>
                                        <p:attrNameLst>
                                          <p:attrName>ppt_y</p:attrName>
                                        </p:attrNameLst>
                                      </p:cBhvr>
                                      <p:tavLst>
                                        <p:tav tm="0">
                                          <p:val>
                                            <p:strVal val="#ppt_y-.2"/>
                                          </p:val>
                                        </p:tav>
                                        <p:tav tm="100000">
                                          <p:val>
                                            <p:strVal val="#ppt_y+.1"/>
                                          </p:val>
                                        </p:tav>
                                      </p:tavLst>
                                    </p:anim>
                                    <p:anim calcmode="lin" valueType="num">
                                      <p:cBhvr>
                                        <p:cTn id="77" dur="500" accel="50000" fill="hold">
                                          <p:stCondLst>
                                            <p:cond delay="500"/>
                                          </p:stCondLst>
                                        </p:cTn>
                                        <p:tgtEl>
                                          <p:spTgt spid="27660"/>
                                        </p:tgtEl>
                                        <p:attrNameLst>
                                          <p:attrName>ppt_y</p:attrName>
                                        </p:attrNameLst>
                                      </p:cBhvr>
                                      <p:tavLst>
                                        <p:tav tm="0">
                                          <p:val>
                                            <p:strVal val="#ppt_y+.1"/>
                                          </p:val>
                                        </p:tav>
                                        <p:tav tm="100000">
                                          <p:val>
                                            <p:strVal val="#ppt_y"/>
                                          </p:val>
                                        </p:tav>
                                      </p:tavLst>
                                    </p:anim>
                                    <p:animEffect transition="in" filter="fade">
                                      <p:cBhvr>
                                        <p:cTn id="78" dur="1000" decel="50000">
                                          <p:stCondLst>
                                            <p:cond delay="0"/>
                                          </p:stCondLst>
                                        </p:cTn>
                                        <p:tgtEl>
                                          <p:spTgt spid="27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7" grpId="0"/>
      <p:bldP spid="27658" grpId="0"/>
      <p:bldP spid="27659" grpId="0"/>
      <p:bldP spid="27660" grpId="0"/>
      <p:bldP spid="2766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ru-RU" altLang="ru-RU" sz="4000" b="1" dirty="0">
                <a:solidFill>
                  <a:schemeClr val="tx1"/>
                </a:solidFill>
              </a:rPr>
              <a:t>Способы хранения звука</a:t>
            </a:r>
          </a:p>
        </p:txBody>
      </p:sp>
      <p:sp>
        <p:nvSpPr>
          <p:cNvPr id="35843" name="Rectangle 3"/>
          <p:cNvSpPr>
            <a:spLocks noGrp="1" noChangeArrowheads="1"/>
          </p:cNvSpPr>
          <p:nvPr>
            <p:ph type="body" idx="1"/>
          </p:nvPr>
        </p:nvSpPr>
        <p:spPr>
          <a:xfrm>
            <a:off x="1919288" y="1700214"/>
            <a:ext cx="8229600" cy="865187"/>
          </a:xfrm>
        </p:spPr>
        <p:txBody>
          <a:bodyPr/>
          <a:lstStyle/>
          <a:p>
            <a:pPr marL="2243138" indent="-2243138">
              <a:buNone/>
            </a:pPr>
            <a:r>
              <a:rPr lang="ru-RU" altLang="ru-RU" sz="2400" b="1">
                <a:solidFill>
                  <a:srgbClr val="FF0066"/>
                </a:solidFill>
              </a:rPr>
              <a:t>Звукозапись</a:t>
            </a:r>
            <a:r>
              <a:rPr lang="ru-RU" altLang="ru-RU" sz="2400"/>
              <a:t> – процесс сохранения информации о параметрах  звуковых волн</a:t>
            </a:r>
          </a:p>
        </p:txBody>
      </p:sp>
      <p:sp>
        <p:nvSpPr>
          <p:cNvPr id="35844" name="Text Box 4"/>
          <p:cNvSpPr txBox="1">
            <a:spLocks noChangeArrowheads="1"/>
          </p:cNvSpPr>
          <p:nvPr/>
        </p:nvSpPr>
        <p:spPr bwMode="auto">
          <a:xfrm>
            <a:off x="3863975" y="2708276"/>
            <a:ext cx="3887788" cy="461665"/>
          </a:xfrm>
          <a:prstGeom prst="rect">
            <a:avLst/>
          </a:prstGeom>
          <a:noFill/>
          <a:ln w="28575">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ru-RU" altLang="ru-RU" sz="2400" b="1">
                <a:solidFill>
                  <a:schemeClr val="bg2"/>
                </a:solidFill>
              </a:rPr>
              <a:t>Способы хранения</a:t>
            </a:r>
          </a:p>
        </p:txBody>
      </p:sp>
      <p:grpSp>
        <p:nvGrpSpPr>
          <p:cNvPr id="35860" name="Group 20"/>
          <p:cNvGrpSpPr>
            <a:grpSpLocks/>
          </p:cNvGrpSpPr>
          <p:nvPr/>
        </p:nvGrpSpPr>
        <p:grpSpPr bwMode="auto">
          <a:xfrm>
            <a:off x="2063751" y="3213098"/>
            <a:ext cx="3527425" cy="965200"/>
            <a:chOff x="340" y="2024"/>
            <a:chExt cx="2222" cy="608"/>
          </a:xfrm>
        </p:grpSpPr>
        <p:sp>
          <p:nvSpPr>
            <p:cNvPr id="7190" name="Text Box 5"/>
            <p:cNvSpPr txBox="1">
              <a:spLocks noChangeArrowheads="1"/>
            </p:cNvSpPr>
            <p:nvPr/>
          </p:nvSpPr>
          <p:spPr bwMode="auto">
            <a:xfrm>
              <a:off x="340" y="2341"/>
              <a:ext cx="1814" cy="291"/>
            </a:xfrm>
            <a:prstGeom prst="rect">
              <a:avLst/>
            </a:prstGeom>
            <a:noFill/>
            <a:ln w="28575">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ru-RU" altLang="ru-RU" sz="2400" b="1">
                  <a:solidFill>
                    <a:schemeClr val="bg2"/>
                  </a:solidFill>
                </a:rPr>
                <a:t>Аналоговый</a:t>
              </a:r>
            </a:p>
          </p:txBody>
        </p:sp>
        <p:sp>
          <p:nvSpPr>
            <p:cNvPr id="7191" name="Line 7"/>
            <p:cNvSpPr>
              <a:spLocks noChangeShapeType="1"/>
            </p:cNvSpPr>
            <p:nvPr/>
          </p:nvSpPr>
          <p:spPr bwMode="auto">
            <a:xfrm flipH="1">
              <a:off x="1338" y="2024"/>
              <a:ext cx="1224" cy="317"/>
            </a:xfrm>
            <a:prstGeom prst="line">
              <a:avLst/>
            </a:prstGeom>
            <a:noFill/>
            <a:ln w="28575">
              <a:solidFill>
                <a:srgbClr val="FF00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5861" name="Group 21"/>
          <p:cNvGrpSpPr>
            <a:grpSpLocks/>
          </p:cNvGrpSpPr>
          <p:nvPr/>
        </p:nvGrpSpPr>
        <p:grpSpPr bwMode="auto">
          <a:xfrm>
            <a:off x="5591176" y="3213098"/>
            <a:ext cx="3889375" cy="965200"/>
            <a:chOff x="2562" y="2024"/>
            <a:chExt cx="2450" cy="608"/>
          </a:xfrm>
        </p:grpSpPr>
        <p:sp>
          <p:nvSpPr>
            <p:cNvPr id="7188" name="Text Box 6"/>
            <p:cNvSpPr txBox="1">
              <a:spLocks noChangeArrowheads="1"/>
            </p:cNvSpPr>
            <p:nvPr/>
          </p:nvSpPr>
          <p:spPr bwMode="auto">
            <a:xfrm>
              <a:off x="3198" y="2341"/>
              <a:ext cx="1814" cy="291"/>
            </a:xfrm>
            <a:prstGeom prst="rect">
              <a:avLst/>
            </a:prstGeom>
            <a:noFill/>
            <a:ln w="28575">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ru-RU" altLang="ru-RU" sz="2400" b="1">
                  <a:solidFill>
                    <a:schemeClr val="bg2"/>
                  </a:solidFill>
                </a:rPr>
                <a:t>Цифровой</a:t>
              </a:r>
            </a:p>
          </p:txBody>
        </p:sp>
        <p:sp>
          <p:nvSpPr>
            <p:cNvPr id="7189" name="Line 8"/>
            <p:cNvSpPr>
              <a:spLocks noChangeShapeType="1"/>
            </p:cNvSpPr>
            <p:nvPr/>
          </p:nvSpPr>
          <p:spPr bwMode="auto">
            <a:xfrm>
              <a:off x="2562" y="2024"/>
              <a:ext cx="1588" cy="317"/>
            </a:xfrm>
            <a:prstGeom prst="line">
              <a:avLst/>
            </a:prstGeom>
            <a:noFill/>
            <a:ln w="28575">
              <a:solidFill>
                <a:srgbClr val="FF00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5862" name="Group 22"/>
          <p:cNvGrpSpPr>
            <a:grpSpLocks/>
          </p:cNvGrpSpPr>
          <p:nvPr/>
        </p:nvGrpSpPr>
        <p:grpSpPr bwMode="auto">
          <a:xfrm>
            <a:off x="2351089" y="4221164"/>
            <a:ext cx="3386137" cy="1944687"/>
            <a:chOff x="521" y="2659"/>
            <a:chExt cx="2133" cy="1225"/>
          </a:xfrm>
        </p:grpSpPr>
        <p:sp>
          <p:nvSpPr>
            <p:cNvPr id="7181" name="Text Box 9"/>
            <p:cNvSpPr txBox="1">
              <a:spLocks noChangeArrowheads="1"/>
            </p:cNvSpPr>
            <p:nvPr/>
          </p:nvSpPr>
          <p:spPr bwMode="auto">
            <a:xfrm>
              <a:off x="1111" y="2886"/>
              <a:ext cx="140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ru-RU" altLang="ru-RU" b="1" dirty="0"/>
                <a:t>грампластинка</a:t>
              </a:r>
            </a:p>
          </p:txBody>
        </p:sp>
        <p:sp>
          <p:nvSpPr>
            <p:cNvPr id="7182" name="Text Box 10"/>
            <p:cNvSpPr txBox="1">
              <a:spLocks noChangeArrowheads="1"/>
            </p:cNvSpPr>
            <p:nvPr/>
          </p:nvSpPr>
          <p:spPr bwMode="auto">
            <a:xfrm>
              <a:off x="1111" y="3385"/>
              <a:ext cx="154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ru-RU" altLang="ru-RU" b="1" dirty="0"/>
                <a:t>магнитная лента</a:t>
              </a:r>
            </a:p>
          </p:txBody>
        </p:sp>
        <p:sp>
          <p:nvSpPr>
            <p:cNvPr id="7183" name="Line 11"/>
            <p:cNvSpPr>
              <a:spLocks noChangeShapeType="1"/>
            </p:cNvSpPr>
            <p:nvPr/>
          </p:nvSpPr>
          <p:spPr bwMode="auto">
            <a:xfrm>
              <a:off x="567" y="2659"/>
              <a:ext cx="0" cy="1225"/>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4" name="Line 13"/>
            <p:cNvSpPr>
              <a:spLocks noChangeShapeType="1"/>
            </p:cNvSpPr>
            <p:nvPr/>
          </p:nvSpPr>
          <p:spPr bwMode="auto">
            <a:xfrm>
              <a:off x="567" y="2976"/>
              <a:ext cx="54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5" name="Oval 14"/>
            <p:cNvSpPr>
              <a:spLocks noChangeArrowheads="1"/>
            </p:cNvSpPr>
            <p:nvPr/>
          </p:nvSpPr>
          <p:spPr bwMode="auto">
            <a:xfrm>
              <a:off x="521" y="2931"/>
              <a:ext cx="136" cy="136"/>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186" name="Line 15"/>
            <p:cNvSpPr>
              <a:spLocks noChangeShapeType="1"/>
            </p:cNvSpPr>
            <p:nvPr/>
          </p:nvSpPr>
          <p:spPr bwMode="auto">
            <a:xfrm>
              <a:off x="567" y="3520"/>
              <a:ext cx="54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87" name="Oval 16"/>
            <p:cNvSpPr>
              <a:spLocks noChangeArrowheads="1"/>
            </p:cNvSpPr>
            <p:nvPr/>
          </p:nvSpPr>
          <p:spPr bwMode="auto">
            <a:xfrm>
              <a:off x="521" y="3475"/>
              <a:ext cx="136" cy="136"/>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nvGrpSpPr>
          <p:cNvPr id="35863" name="Group 23"/>
          <p:cNvGrpSpPr>
            <a:grpSpLocks/>
          </p:cNvGrpSpPr>
          <p:nvPr/>
        </p:nvGrpSpPr>
        <p:grpSpPr bwMode="auto">
          <a:xfrm>
            <a:off x="6816726" y="4221163"/>
            <a:ext cx="2447925" cy="1655762"/>
            <a:chOff x="3334" y="2659"/>
            <a:chExt cx="1542" cy="1043"/>
          </a:xfrm>
        </p:grpSpPr>
        <p:sp>
          <p:nvSpPr>
            <p:cNvPr id="7177" name="Line 12"/>
            <p:cNvSpPr>
              <a:spLocks noChangeShapeType="1"/>
            </p:cNvSpPr>
            <p:nvPr/>
          </p:nvSpPr>
          <p:spPr bwMode="auto">
            <a:xfrm>
              <a:off x="3334" y="2659"/>
              <a:ext cx="0" cy="1043"/>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8" name="Text Box 17"/>
            <p:cNvSpPr txBox="1">
              <a:spLocks noChangeArrowheads="1"/>
            </p:cNvSpPr>
            <p:nvPr/>
          </p:nvSpPr>
          <p:spPr bwMode="auto">
            <a:xfrm>
              <a:off x="3470" y="2750"/>
              <a:ext cx="127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ru-RU" altLang="ru-RU" b="1">
                  <a:solidFill>
                    <a:srgbClr val="FF0066"/>
                  </a:solidFill>
                </a:rPr>
                <a:t>временная дискретизация</a:t>
              </a:r>
            </a:p>
          </p:txBody>
        </p:sp>
        <p:sp>
          <p:nvSpPr>
            <p:cNvPr id="7179" name="Text Box 18"/>
            <p:cNvSpPr txBox="1">
              <a:spLocks noChangeArrowheads="1"/>
            </p:cNvSpPr>
            <p:nvPr/>
          </p:nvSpPr>
          <p:spPr bwMode="auto">
            <a:xfrm>
              <a:off x="3424" y="3385"/>
              <a:ext cx="12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ru-RU" altLang="ru-RU" b="1">
                  <a:solidFill>
                    <a:srgbClr val="FF0066"/>
                  </a:solidFill>
                </a:rPr>
                <a:t>квантование</a:t>
              </a:r>
            </a:p>
          </p:txBody>
        </p:sp>
        <p:sp>
          <p:nvSpPr>
            <p:cNvPr id="7180" name="Line 19"/>
            <p:cNvSpPr>
              <a:spLocks noChangeShapeType="1"/>
            </p:cNvSpPr>
            <p:nvPr/>
          </p:nvSpPr>
          <p:spPr bwMode="auto">
            <a:xfrm>
              <a:off x="4876" y="2659"/>
              <a:ext cx="0" cy="1043"/>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0852397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1000"/>
                                        <p:tgtEl>
                                          <p:spTgt spid="35842"/>
                                        </p:tgtEl>
                                      </p:cBhvr>
                                    </p:animEffect>
                                    <p:anim calcmode="lin" valueType="num">
                                      <p:cBhvr>
                                        <p:cTn id="8" dur="1000" fill="hold"/>
                                        <p:tgtEl>
                                          <p:spTgt spid="35842"/>
                                        </p:tgtEl>
                                        <p:attrNameLst>
                                          <p:attrName>ppt_x</p:attrName>
                                        </p:attrNameLst>
                                      </p:cBhvr>
                                      <p:tavLst>
                                        <p:tav tm="0">
                                          <p:val>
                                            <p:strVal val="#ppt_x"/>
                                          </p:val>
                                        </p:tav>
                                        <p:tav tm="100000">
                                          <p:val>
                                            <p:strVal val="#ppt_x"/>
                                          </p:val>
                                        </p:tav>
                                      </p:tavLst>
                                    </p:anim>
                                    <p:anim calcmode="lin" valueType="num">
                                      <p:cBhvr>
                                        <p:cTn id="9" dur="900" decel="100000" fill="hold"/>
                                        <p:tgtEl>
                                          <p:spTgt spid="3584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5842"/>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5" presetClass="entr" presetSubtype="0" fill="hold" grpId="0" nodeType="clickEffect">
                                  <p:stCondLst>
                                    <p:cond delay="0"/>
                                  </p:stCondLst>
                                  <p:childTnLst>
                                    <p:set>
                                      <p:cBhvr>
                                        <p:cTn id="14" dur="1" fill="hold">
                                          <p:stCondLst>
                                            <p:cond delay="0"/>
                                          </p:stCondLst>
                                        </p:cTn>
                                        <p:tgtEl>
                                          <p:spTgt spid="35843">
                                            <p:txEl>
                                              <p:pRg st="0" end="0"/>
                                            </p:txEl>
                                          </p:spTgt>
                                        </p:tgtEl>
                                        <p:attrNameLst>
                                          <p:attrName>style.visibility</p:attrName>
                                        </p:attrNameLst>
                                      </p:cBhvr>
                                      <p:to>
                                        <p:strVal val="visible"/>
                                      </p:to>
                                    </p:set>
                                    <p:anim calcmode="lin" valueType="num">
                                      <p:cBhvr>
                                        <p:cTn id="15" dur="500" decel="50000" fill="hold">
                                          <p:stCondLst>
                                            <p:cond delay="0"/>
                                          </p:stCondLst>
                                        </p:cTn>
                                        <p:tgtEl>
                                          <p:spTgt spid="35843">
                                            <p:txEl>
                                              <p:pRg st="0" end="0"/>
                                            </p:txEl>
                                          </p:spTgt>
                                        </p:tgtEl>
                                        <p:attrNameLst>
                                          <p:attrName>style.rotation</p:attrName>
                                        </p:attrNameLst>
                                      </p:cBhvr>
                                      <p:tavLst>
                                        <p:tav tm="0">
                                          <p:val>
                                            <p:fltVal val="-90"/>
                                          </p:val>
                                        </p:tav>
                                        <p:tav tm="100000">
                                          <p:val>
                                            <p:fltVal val="0"/>
                                          </p:val>
                                        </p:tav>
                                      </p:tavLst>
                                    </p:anim>
                                    <p:anim calcmode="lin" valueType="num">
                                      <p:cBhvr>
                                        <p:cTn id="16" dur="500" decel="50000" fill="hold">
                                          <p:stCondLst>
                                            <p:cond delay="0"/>
                                          </p:stCondLst>
                                        </p:cTn>
                                        <p:tgtEl>
                                          <p:spTgt spid="35843">
                                            <p:txEl>
                                              <p:pRg st="0" end="0"/>
                                            </p:txEl>
                                          </p:spTgt>
                                        </p:tgtEl>
                                        <p:attrNameLst>
                                          <p:attrName>ppt_w</p:attrName>
                                        </p:attrNameLst>
                                      </p:cBhvr>
                                      <p:tavLst>
                                        <p:tav tm="0">
                                          <p:val>
                                            <p:strVal val="#ppt_w"/>
                                          </p:val>
                                        </p:tav>
                                        <p:tav tm="100000">
                                          <p:val>
                                            <p:strVal val="#ppt_w*.05"/>
                                          </p:val>
                                        </p:tav>
                                      </p:tavLst>
                                    </p:anim>
                                    <p:anim calcmode="lin" valueType="num">
                                      <p:cBhvr>
                                        <p:cTn id="17" dur="500" accel="50000" fill="hold">
                                          <p:stCondLst>
                                            <p:cond delay="500"/>
                                          </p:stCondLst>
                                        </p:cTn>
                                        <p:tgtEl>
                                          <p:spTgt spid="35843">
                                            <p:txEl>
                                              <p:pRg st="0" end="0"/>
                                            </p:txEl>
                                          </p:spTgt>
                                        </p:tgtEl>
                                        <p:attrNameLst>
                                          <p:attrName>ppt_w</p:attrName>
                                        </p:attrNameLst>
                                      </p:cBhvr>
                                      <p:tavLst>
                                        <p:tav tm="0">
                                          <p:val>
                                            <p:strVal val="#ppt_w*.05"/>
                                          </p:val>
                                        </p:tav>
                                        <p:tav tm="100000">
                                          <p:val>
                                            <p:strVal val="#ppt_w"/>
                                          </p:val>
                                        </p:tav>
                                      </p:tavLst>
                                    </p:anim>
                                    <p:anim calcmode="lin" valueType="num">
                                      <p:cBhvr>
                                        <p:cTn id="18" dur="1000" fill="hold"/>
                                        <p:tgtEl>
                                          <p:spTgt spid="35843">
                                            <p:txEl>
                                              <p:pRg st="0" end="0"/>
                                            </p:txEl>
                                          </p:spTgt>
                                        </p:tgtEl>
                                        <p:attrNameLst>
                                          <p:attrName>ppt_h</p:attrName>
                                        </p:attrNameLst>
                                      </p:cBhvr>
                                      <p:tavLst>
                                        <p:tav tm="0">
                                          <p:val>
                                            <p:strVal val="#ppt_h"/>
                                          </p:val>
                                        </p:tav>
                                        <p:tav tm="100000">
                                          <p:val>
                                            <p:strVal val="#ppt_h"/>
                                          </p:val>
                                        </p:tav>
                                      </p:tavLst>
                                    </p:anim>
                                    <p:anim calcmode="lin" valueType="num">
                                      <p:cBhvr>
                                        <p:cTn id="19" dur="500" decel="50000" fill="hold">
                                          <p:stCondLst>
                                            <p:cond delay="0"/>
                                          </p:stCondLst>
                                        </p:cTn>
                                        <p:tgtEl>
                                          <p:spTgt spid="35843">
                                            <p:txEl>
                                              <p:pRg st="0" end="0"/>
                                            </p:txEl>
                                          </p:spTgt>
                                        </p:tgtEl>
                                        <p:attrNameLst>
                                          <p:attrName>ppt_x</p:attrName>
                                        </p:attrNameLst>
                                      </p:cBhvr>
                                      <p:tavLst>
                                        <p:tav tm="0">
                                          <p:val>
                                            <p:strVal val="#ppt_x+.4"/>
                                          </p:val>
                                        </p:tav>
                                        <p:tav tm="100000">
                                          <p:val>
                                            <p:strVal val="#ppt_x"/>
                                          </p:val>
                                        </p:tav>
                                      </p:tavLst>
                                    </p:anim>
                                    <p:anim calcmode="lin" valueType="num">
                                      <p:cBhvr>
                                        <p:cTn id="20" dur="500" decel="50000" fill="hold">
                                          <p:stCondLst>
                                            <p:cond delay="0"/>
                                          </p:stCondLst>
                                        </p:cTn>
                                        <p:tgtEl>
                                          <p:spTgt spid="35843">
                                            <p:txEl>
                                              <p:pRg st="0" end="0"/>
                                            </p:txEl>
                                          </p:spTgt>
                                        </p:tgtEl>
                                        <p:attrNameLst>
                                          <p:attrName>ppt_y</p:attrName>
                                        </p:attrNameLst>
                                      </p:cBhvr>
                                      <p:tavLst>
                                        <p:tav tm="0">
                                          <p:val>
                                            <p:strVal val="#ppt_y-.2"/>
                                          </p:val>
                                        </p:tav>
                                        <p:tav tm="100000">
                                          <p:val>
                                            <p:strVal val="#ppt_y+.1"/>
                                          </p:val>
                                        </p:tav>
                                      </p:tavLst>
                                    </p:anim>
                                    <p:anim calcmode="lin" valueType="num">
                                      <p:cBhvr>
                                        <p:cTn id="21" dur="500" accel="50000" fill="hold">
                                          <p:stCondLst>
                                            <p:cond delay="500"/>
                                          </p:stCondLst>
                                        </p:cTn>
                                        <p:tgtEl>
                                          <p:spTgt spid="35843">
                                            <p:txEl>
                                              <p:pRg st="0" end="0"/>
                                            </p:txEl>
                                          </p:spTgt>
                                        </p:tgtEl>
                                        <p:attrNameLst>
                                          <p:attrName>ppt_y</p:attrName>
                                        </p:attrNameLst>
                                      </p:cBhvr>
                                      <p:tavLst>
                                        <p:tav tm="0">
                                          <p:val>
                                            <p:strVal val="#ppt_y+.1"/>
                                          </p:val>
                                        </p:tav>
                                        <p:tav tm="100000">
                                          <p:val>
                                            <p:strVal val="#ppt_y"/>
                                          </p:val>
                                        </p:tav>
                                      </p:tavLst>
                                    </p:anim>
                                    <p:animEffect transition="in" filter="fade">
                                      <p:cBhvr>
                                        <p:cTn id="22" dur="1000" decel="50000">
                                          <p:stCondLst>
                                            <p:cond delay="0"/>
                                          </p:stCondLst>
                                        </p:cTn>
                                        <p:tgtEl>
                                          <p:spTgt spid="35843">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1" presetClass="entr" presetSubtype="0" fill="hold" grpId="0" nodeType="clickEffect">
                                  <p:stCondLst>
                                    <p:cond delay="0"/>
                                  </p:stCondLst>
                                  <p:iterate type="lt">
                                    <p:tmPct val="5000"/>
                                  </p:iterate>
                                  <p:childTnLst>
                                    <p:set>
                                      <p:cBhvr>
                                        <p:cTn id="26" dur="1" fill="hold">
                                          <p:stCondLst>
                                            <p:cond delay="0"/>
                                          </p:stCondLst>
                                        </p:cTn>
                                        <p:tgtEl>
                                          <p:spTgt spid="35844"/>
                                        </p:tgtEl>
                                        <p:attrNameLst>
                                          <p:attrName>style.visibility</p:attrName>
                                        </p:attrNameLst>
                                      </p:cBhvr>
                                      <p:to>
                                        <p:strVal val="visible"/>
                                      </p:to>
                                    </p:set>
                                    <p:anim calcmode="lin" valueType="num">
                                      <p:cBhvr>
                                        <p:cTn id="27" dur="1000" fill="hold"/>
                                        <p:tgtEl>
                                          <p:spTgt spid="35844"/>
                                        </p:tgtEl>
                                        <p:attrNameLst>
                                          <p:attrName>ppt_w</p:attrName>
                                        </p:attrNameLst>
                                      </p:cBhvr>
                                      <p:tavLst>
                                        <p:tav tm="0">
                                          <p:val>
                                            <p:fltVal val="0"/>
                                          </p:val>
                                        </p:tav>
                                        <p:tav tm="100000">
                                          <p:val>
                                            <p:strVal val="#ppt_w"/>
                                          </p:val>
                                        </p:tav>
                                      </p:tavLst>
                                    </p:anim>
                                    <p:anim calcmode="lin" valueType="num">
                                      <p:cBhvr>
                                        <p:cTn id="28" dur="1000" fill="hold"/>
                                        <p:tgtEl>
                                          <p:spTgt spid="35844"/>
                                        </p:tgtEl>
                                        <p:attrNameLst>
                                          <p:attrName>ppt_h</p:attrName>
                                        </p:attrNameLst>
                                      </p:cBhvr>
                                      <p:tavLst>
                                        <p:tav tm="0">
                                          <p:val>
                                            <p:fltVal val="0"/>
                                          </p:val>
                                        </p:tav>
                                        <p:tav tm="100000">
                                          <p:val>
                                            <p:strVal val="#ppt_h"/>
                                          </p:val>
                                        </p:tav>
                                      </p:tavLst>
                                    </p:anim>
                                    <p:anim calcmode="lin" valueType="num">
                                      <p:cBhvr>
                                        <p:cTn id="29" dur="1000" fill="hold"/>
                                        <p:tgtEl>
                                          <p:spTgt spid="35844"/>
                                        </p:tgtEl>
                                        <p:attrNameLst>
                                          <p:attrName>style.rotation</p:attrName>
                                        </p:attrNameLst>
                                      </p:cBhvr>
                                      <p:tavLst>
                                        <p:tav tm="0">
                                          <p:val>
                                            <p:fltVal val="90"/>
                                          </p:val>
                                        </p:tav>
                                        <p:tav tm="100000">
                                          <p:val>
                                            <p:fltVal val="0"/>
                                          </p:val>
                                        </p:tav>
                                      </p:tavLst>
                                    </p:anim>
                                    <p:animEffect transition="in" filter="fade">
                                      <p:cBhvr>
                                        <p:cTn id="30" dur="1000"/>
                                        <p:tgtEl>
                                          <p:spTgt spid="3584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0" presetClass="entr" presetSubtype="0" decel="100000" fill="hold" nodeType="clickEffect">
                                  <p:stCondLst>
                                    <p:cond delay="0"/>
                                  </p:stCondLst>
                                  <p:childTnLst>
                                    <p:set>
                                      <p:cBhvr>
                                        <p:cTn id="34" dur="1" fill="hold">
                                          <p:stCondLst>
                                            <p:cond delay="0"/>
                                          </p:stCondLst>
                                        </p:cTn>
                                        <p:tgtEl>
                                          <p:spTgt spid="35860"/>
                                        </p:tgtEl>
                                        <p:attrNameLst>
                                          <p:attrName>style.visibility</p:attrName>
                                        </p:attrNameLst>
                                      </p:cBhvr>
                                      <p:to>
                                        <p:strVal val="visible"/>
                                      </p:to>
                                    </p:set>
                                    <p:anim calcmode="lin" valueType="num">
                                      <p:cBhvr>
                                        <p:cTn id="35" dur="1000" fill="hold"/>
                                        <p:tgtEl>
                                          <p:spTgt spid="35860"/>
                                        </p:tgtEl>
                                        <p:attrNameLst>
                                          <p:attrName>ppt_w</p:attrName>
                                        </p:attrNameLst>
                                      </p:cBhvr>
                                      <p:tavLst>
                                        <p:tav tm="0">
                                          <p:val>
                                            <p:strVal val="#ppt_w+.3"/>
                                          </p:val>
                                        </p:tav>
                                        <p:tav tm="100000">
                                          <p:val>
                                            <p:strVal val="#ppt_w"/>
                                          </p:val>
                                        </p:tav>
                                      </p:tavLst>
                                    </p:anim>
                                    <p:anim calcmode="lin" valueType="num">
                                      <p:cBhvr>
                                        <p:cTn id="36" dur="1000" fill="hold"/>
                                        <p:tgtEl>
                                          <p:spTgt spid="35860"/>
                                        </p:tgtEl>
                                        <p:attrNameLst>
                                          <p:attrName>ppt_h</p:attrName>
                                        </p:attrNameLst>
                                      </p:cBhvr>
                                      <p:tavLst>
                                        <p:tav tm="0">
                                          <p:val>
                                            <p:strVal val="#ppt_h"/>
                                          </p:val>
                                        </p:tav>
                                        <p:tav tm="100000">
                                          <p:val>
                                            <p:strVal val="#ppt_h"/>
                                          </p:val>
                                        </p:tav>
                                      </p:tavLst>
                                    </p:anim>
                                    <p:animEffect transition="in" filter="fade">
                                      <p:cBhvr>
                                        <p:cTn id="37" dur="1000"/>
                                        <p:tgtEl>
                                          <p:spTgt spid="358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0" presetClass="entr" presetSubtype="0" decel="100000" fill="hold" nodeType="clickEffect">
                                  <p:stCondLst>
                                    <p:cond delay="0"/>
                                  </p:stCondLst>
                                  <p:childTnLst>
                                    <p:set>
                                      <p:cBhvr>
                                        <p:cTn id="41" dur="1" fill="hold">
                                          <p:stCondLst>
                                            <p:cond delay="0"/>
                                          </p:stCondLst>
                                        </p:cTn>
                                        <p:tgtEl>
                                          <p:spTgt spid="35862"/>
                                        </p:tgtEl>
                                        <p:attrNameLst>
                                          <p:attrName>style.visibility</p:attrName>
                                        </p:attrNameLst>
                                      </p:cBhvr>
                                      <p:to>
                                        <p:strVal val="visible"/>
                                      </p:to>
                                    </p:set>
                                    <p:anim calcmode="lin" valueType="num">
                                      <p:cBhvr>
                                        <p:cTn id="42" dur="1000" fill="hold"/>
                                        <p:tgtEl>
                                          <p:spTgt spid="35862"/>
                                        </p:tgtEl>
                                        <p:attrNameLst>
                                          <p:attrName>ppt_w</p:attrName>
                                        </p:attrNameLst>
                                      </p:cBhvr>
                                      <p:tavLst>
                                        <p:tav tm="0">
                                          <p:val>
                                            <p:strVal val="#ppt_w+.3"/>
                                          </p:val>
                                        </p:tav>
                                        <p:tav tm="100000">
                                          <p:val>
                                            <p:strVal val="#ppt_w"/>
                                          </p:val>
                                        </p:tav>
                                      </p:tavLst>
                                    </p:anim>
                                    <p:anim calcmode="lin" valueType="num">
                                      <p:cBhvr>
                                        <p:cTn id="43" dur="1000" fill="hold"/>
                                        <p:tgtEl>
                                          <p:spTgt spid="35862"/>
                                        </p:tgtEl>
                                        <p:attrNameLst>
                                          <p:attrName>ppt_h</p:attrName>
                                        </p:attrNameLst>
                                      </p:cBhvr>
                                      <p:tavLst>
                                        <p:tav tm="0">
                                          <p:val>
                                            <p:strVal val="#ppt_h"/>
                                          </p:val>
                                        </p:tav>
                                        <p:tav tm="100000">
                                          <p:val>
                                            <p:strVal val="#ppt_h"/>
                                          </p:val>
                                        </p:tav>
                                      </p:tavLst>
                                    </p:anim>
                                    <p:animEffect transition="in" filter="fade">
                                      <p:cBhvr>
                                        <p:cTn id="44" dur="1000"/>
                                        <p:tgtEl>
                                          <p:spTgt spid="3586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0" presetClass="entr" presetSubtype="0" decel="100000" fill="hold" nodeType="clickEffect">
                                  <p:stCondLst>
                                    <p:cond delay="0"/>
                                  </p:stCondLst>
                                  <p:childTnLst>
                                    <p:set>
                                      <p:cBhvr>
                                        <p:cTn id="48" dur="1" fill="hold">
                                          <p:stCondLst>
                                            <p:cond delay="0"/>
                                          </p:stCondLst>
                                        </p:cTn>
                                        <p:tgtEl>
                                          <p:spTgt spid="35861"/>
                                        </p:tgtEl>
                                        <p:attrNameLst>
                                          <p:attrName>style.visibility</p:attrName>
                                        </p:attrNameLst>
                                      </p:cBhvr>
                                      <p:to>
                                        <p:strVal val="visible"/>
                                      </p:to>
                                    </p:set>
                                    <p:anim calcmode="lin" valueType="num">
                                      <p:cBhvr>
                                        <p:cTn id="49" dur="1000" fill="hold"/>
                                        <p:tgtEl>
                                          <p:spTgt spid="35861"/>
                                        </p:tgtEl>
                                        <p:attrNameLst>
                                          <p:attrName>ppt_w</p:attrName>
                                        </p:attrNameLst>
                                      </p:cBhvr>
                                      <p:tavLst>
                                        <p:tav tm="0">
                                          <p:val>
                                            <p:strVal val="#ppt_w+.3"/>
                                          </p:val>
                                        </p:tav>
                                        <p:tav tm="100000">
                                          <p:val>
                                            <p:strVal val="#ppt_w"/>
                                          </p:val>
                                        </p:tav>
                                      </p:tavLst>
                                    </p:anim>
                                    <p:anim calcmode="lin" valueType="num">
                                      <p:cBhvr>
                                        <p:cTn id="50" dur="1000" fill="hold"/>
                                        <p:tgtEl>
                                          <p:spTgt spid="35861"/>
                                        </p:tgtEl>
                                        <p:attrNameLst>
                                          <p:attrName>ppt_h</p:attrName>
                                        </p:attrNameLst>
                                      </p:cBhvr>
                                      <p:tavLst>
                                        <p:tav tm="0">
                                          <p:val>
                                            <p:strVal val="#ppt_h"/>
                                          </p:val>
                                        </p:tav>
                                        <p:tav tm="100000">
                                          <p:val>
                                            <p:strVal val="#ppt_h"/>
                                          </p:val>
                                        </p:tav>
                                      </p:tavLst>
                                    </p:anim>
                                    <p:animEffect transition="in" filter="fade">
                                      <p:cBhvr>
                                        <p:cTn id="51" dur="1000"/>
                                        <p:tgtEl>
                                          <p:spTgt spid="3586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0" presetClass="entr" presetSubtype="0" decel="100000" fill="hold" nodeType="clickEffect">
                                  <p:stCondLst>
                                    <p:cond delay="0"/>
                                  </p:stCondLst>
                                  <p:childTnLst>
                                    <p:set>
                                      <p:cBhvr>
                                        <p:cTn id="55" dur="1" fill="hold">
                                          <p:stCondLst>
                                            <p:cond delay="0"/>
                                          </p:stCondLst>
                                        </p:cTn>
                                        <p:tgtEl>
                                          <p:spTgt spid="35863"/>
                                        </p:tgtEl>
                                        <p:attrNameLst>
                                          <p:attrName>style.visibility</p:attrName>
                                        </p:attrNameLst>
                                      </p:cBhvr>
                                      <p:to>
                                        <p:strVal val="visible"/>
                                      </p:to>
                                    </p:set>
                                    <p:anim calcmode="lin" valueType="num">
                                      <p:cBhvr>
                                        <p:cTn id="56" dur="1000" fill="hold"/>
                                        <p:tgtEl>
                                          <p:spTgt spid="35863"/>
                                        </p:tgtEl>
                                        <p:attrNameLst>
                                          <p:attrName>ppt_w</p:attrName>
                                        </p:attrNameLst>
                                      </p:cBhvr>
                                      <p:tavLst>
                                        <p:tav tm="0">
                                          <p:val>
                                            <p:strVal val="#ppt_w+.3"/>
                                          </p:val>
                                        </p:tav>
                                        <p:tav tm="100000">
                                          <p:val>
                                            <p:strVal val="#ppt_w"/>
                                          </p:val>
                                        </p:tav>
                                      </p:tavLst>
                                    </p:anim>
                                    <p:anim calcmode="lin" valueType="num">
                                      <p:cBhvr>
                                        <p:cTn id="57" dur="1000" fill="hold"/>
                                        <p:tgtEl>
                                          <p:spTgt spid="35863"/>
                                        </p:tgtEl>
                                        <p:attrNameLst>
                                          <p:attrName>ppt_h</p:attrName>
                                        </p:attrNameLst>
                                      </p:cBhvr>
                                      <p:tavLst>
                                        <p:tav tm="0">
                                          <p:val>
                                            <p:strVal val="#ppt_h"/>
                                          </p:val>
                                        </p:tav>
                                        <p:tav tm="100000">
                                          <p:val>
                                            <p:strVal val="#ppt_h"/>
                                          </p:val>
                                        </p:tav>
                                      </p:tavLst>
                                    </p:anim>
                                    <p:animEffect transition="in" filter="fade">
                                      <p:cBhvr>
                                        <p:cTn id="58" dur="1000"/>
                                        <p:tgtEl>
                                          <p:spTgt spid="35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3" grpId="0" build="p"/>
      <p:bldP spid="3584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ru-RU" altLang="ru-RU" sz="4000" b="1" dirty="0">
                <a:solidFill>
                  <a:schemeClr val="tx1"/>
                </a:solidFill>
              </a:rPr>
              <a:t>Способы хранения звука</a:t>
            </a:r>
          </a:p>
        </p:txBody>
      </p:sp>
      <p:sp>
        <p:nvSpPr>
          <p:cNvPr id="8195" name="Rectangle 3"/>
          <p:cNvSpPr>
            <a:spLocks noGrp="1" noChangeArrowheads="1"/>
          </p:cNvSpPr>
          <p:nvPr>
            <p:ph type="body" idx="1"/>
          </p:nvPr>
        </p:nvSpPr>
        <p:spPr>
          <a:xfrm>
            <a:off x="1919288" y="1700214"/>
            <a:ext cx="8229600" cy="865187"/>
          </a:xfrm>
        </p:spPr>
        <p:txBody>
          <a:bodyPr/>
          <a:lstStyle/>
          <a:p>
            <a:pPr marL="2243138" indent="-2243138">
              <a:buNone/>
            </a:pPr>
            <a:r>
              <a:rPr lang="ru-RU" altLang="ru-RU" sz="2400" b="1">
                <a:solidFill>
                  <a:srgbClr val="FF0066"/>
                </a:solidFill>
              </a:rPr>
              <a:t>Звукозапись</a:t>
            </a:r>
            <a:r>
              <a:rPr lang="ru-RU" altLang="ru-RU" sz="2400"/>
              <a:t> – процесс сохранения информации о параметрах  звуковых волн</a:t>
            </a:r>
          </a:p>
        </p:txBody>
      </p:sp>
      <p:sp>
        <p:nvSpPr>
          <p:cNvPr id="8196" name="Text Box 4"/>
          <p:cNvSpPr txBox="1">
            <a:spLocks noChangeArrowheads="1"/>
          </p:cNvSpPr>
          <p:nvPr/>
        </p:nvSpPr>
        <p:spPr bwMode="auto">
          <a:xfrm>
            <a:off x="3863975" y="2708276"/>
            <a:ext cx="3887788" cy="461665"/>
          </a:xfrm>
          <a:prstGeom prst="rect">
            <a:avLst/>
          </a:prstGeom>
          <a:noFill/>
          <a:ln w="28575">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ru-RU" altLang="ru-RU" sz="2400" b="1" dirty="0"/>
              <a:t>Способы хранения</a:t>
            </a:r>
          </a:p>
        </p:txBody>
      </p:sp>
      <p:sp>
        <p:nvSpPr>
          <p:cNvPr id="8197" name="Text Box 6"/>
          <p:cNvSpPr txBox="1">
            <a:spLocks noChangeArrowheads="1"/>
          </p:cNvSpPr>
          <p:nvPr/>
        </p:nvSpPr>
        <p:spPr bwMode="auto">
          <a:xfrm>
            <a:off x="6600826" y="3716339"/>
            <a:ext cx="2879725" cy="461665"/>
          </a:xfrm>
          <a:prstGeom prst="rect">
            <a:avLst/>
          </a:prstGeom>
          <a:noFill/>
          <a:ln w="28575">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ru-RU" altLang="ru-RU" sz="2400" b="1" dirty="0"/>
              <a:t>Цифровой</a:t>
            </a:r>
          </a:p>
        </p:txBody>
      </p:sp>
      <p:sp>
        <p:nvSpPr>
          <p:cNvPr id="36871" name="Line 7"/>
          <p:cNvSpPr>
            <a:spLocks noChangeShapeType="1"/>
          </p:cNvSpPr>
          <p:nvPr/>
        </p:nvSpPr>
        <p:spPr bwMode="auto">
          <a:xfrm flipH="1">
            <a:off x="5880100" y="4652963"/>
            <a:ext cx="1295400" cy="0"/>
          </a:xfrm>
          <a:prstGeom prst="line">
            <a:avLst/>
          </a:prstGeom>
          <a:noFill/>
          <a:ln w="28575">
            <a:solidFill>
              <a:srgbClr val="FF00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9" name="Line 8"/>
          <p:cNvSpPr>
            <a:spLocks noChangeShapeType="1"/>
          </p:cNvSpPr>
          <p:nvPr/>
        </p:nvSpPr>
        <p:spPr bwMode="auto">
          <a:xfrm>
            <a:off x="5591175" y="3213100"/>
            <a:ext cx="2520950" cy="503238"/>
          </a:xfrm>
          <a:prstGeom prst="line">
            <a:avLst/>
          </a:prstGeom>
          <a:noFill/>
          <a:ln w="28575">
            <a:solidFill>
              <a:srgbClr val="FF00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3" name="Text Box 9"/>
          <p:cNvSpPr txBox="1">
            <a:spLocks noChangeArrowheads="1"/>
          </p:cNvSpPr>
          <p:nvPr/>
        </p:nvSpPr>
        <p:spPr bwMode="auto">
          <a:xfrm>
            <a:off x="1847851" y="5373689"/>
            <a:ext cx="4105275"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ru-RU" altLang="ru-RU" b="1" dirty="0"/>
              <a:t>Результаты измерений  записываются в цифровом виде с ограниченной точностью</a:t>
            </a:r>
          </a:p>
        </p:txBody>
      </p:sp>
      <p:sp>
        <p:nvSpPr>
          <p:cNvPr id="8201" name="Line 12"/>
          <p:cNvSpPr>
            <a:spLocks noChangeShapeType="1"/>
          </p:cNvSpPr>
          <p:nvPr/>
        </p:nvSpPr>
        <p:spPr bwMode="auto">
          <a:xfrm>
            <a:off x="6816725" y="4221164"/>
            <a:ext cx="0" cy="2016125"/>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Text Box 17"/>
          <p:cNvSpPr txBox="1">
            <a:spLocks noChangeArrowheads="1"/>
          </p:cNvSpPr>
          <p:nvPr/>
        </p:nvSpPr>
        <p:spPr bwMode="auto">
          <a:xfrm>
            <a:off x="7032626" y="4365625"/>
            <a:ext cx="2016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ru-RU" altLang="ru-RU" b="1">
                <a:solidFill>
                  <a:srgbClr val="FF0066"/>
                </a:solidFill>
              </a:rPr>
              <a:t>временная дискретизация</a:t>
            </a:r>
          </a:p>
        </p:txBody>
      </p:sp>
      <p:sp>
        <p:nvSpPr>
          <p:cNvPr id="8203" name="Text Box 18"/>
          <p:cNvSpPr txBox="1">
            <a:spLocks noChangeArrowheads="1"/>
          </p:cNvSpPr>
          <p:nvPr/>
        </p:nvSpPr>
        <p:spPr bwMode="auto">
          <a:xfrm>
            <a:off x="6959600" y="5661026"/>
            <a:ext cx="19446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ru-RU" altLang="ru-RU" b="1">
                <a:solidFill>
                  <a:srgbClr val="FF0066"/>
                </a:solidFill>
              </a:rPr>
              <a:t>квантование</a:t>
            </a:r>
          </a:p>
        </p:txBody>
      </p:sp>
      <p:sp>
        <p:nvSpPr>
          <p:cNvPr id="8204" name="Line 19"/>
          <p:cNvSpPr>
            <a:spLocks noChangeShapeType="1"/>
          </p:cNvSpPr>
          <p:nvPr/>
        </p:nvSpPr>
        <p:spPr bwMode="auto">
          <a:xfrm>
            <a:off x="9264650" y="4221164"/>
            <a:ext cx="0" cy="1944687"/>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84" name="Line 20"/>
          <p:cNvSpPr>
            <a:spLocks noChangeShapeType="1"/>
          </p:cNvSpPr>
          <p:nvPr/>
        </p:nvSpPr>
        <p:spPr bwMode="auto">
          <a:xfrm flipH="1">
            <a:off x="5951539" y="5876925"/>
            <a:ext cx="1150937" cy="0"/>
          </a:xfrm>
          <a:prstGeom prst="line">
            <a:avLst/>
          </a:prstGeom>
          <a:noFill/>
          <a:ln w="28575">
            <a:solidFill>
              <a:srgbClr val="FF00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85" name="Text Box 21"/>
          <p:cNvSpPr txBox="1">
            <a:spLocks noChangeArrowheads="1"/>
          </p:cNvSpPr>
          <p:nvPr/>
        </p:nvSpPr>
        <p:spPr bwMode="auto">
          <a:xfrm>
            <a:off x="1919288" y="4005264"/>
            <a:ext cx="3960812"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ru-RU" altLang="ru-RU" b="1" dirty="0"/>
              <a:t>Параметры звукового сигнала измеряются не непрерывно, а через определенные промежутки времени</a:t>
            </a:r>
          </a:p>
        </p:txBody>
      </p:sp>
    </p:spTree>
    <p:extLst>
      <p:ext uri="{BB962C8B-B14F-4D97-AF65-F5344CB8AC3E}">
        <p14:creationId xmlns:p14="http://schemas.microsoft.com/office/powerpoint/2010/main" val="42803047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6871"/>
                                        </p:tgtEl>
                                        <p:attrNameLst>
                                          <p:attrName>style.visibility</p:attrName>
                                        </p:attrNameLst>
                                      </p:cBhvr>
                                      <p:to>
                                        <p:strVal val="visible"/>
                                      </p:to>
                                    </p:set>
                                    <p:anim calcmode="lin" valueType="num">
                                      <p:cBhvr>
                                        <p:cTn id="7" dur="500" fill="hold"/>
                                        <p:tgtEl>
                                          <p:spTgt spid="36871"/>
                                        </p:tgtEl>
                                        <p:attrNameLst>
                                          <p:attrName>ppt_w</p:attrName>
                                        </p:attrNameLst>
                                      </p:cBhvr>
                                      <p:tavLst>
                                        <p:tav tm="0">
                                          <p:val>
                                            <p:fltVal val="0"/>
                                          </p:val>
                                        </p:tav>
                                        <p:tav tm="100000">
                                          <p:val>
                                            <p:strVal val="#ppt_w"/>
                                          </p:val>
                                        </p:tav>
                                      </p:tavLst>
                                    </p:anim>
                                    <p:anim calcmode="lin" valueType="num">
                                      <p:cBhvr>
                                        <p:cTn id="8" dur="500" fill="hold"/>
                                        <p:tgtEl>
                                          <p:spTgt spid="36871"/>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6885"/>
                                        </p:tgtEl>
                                        <p:attrNameLst>
                                          <p:attrName>style.visibility</p:attrName>
                                        </p:attrNameLst>
                                      </p:cBhvr>
                                      <p:to>
                                        <p:strVal val="visible"/>
                                      </p:to>
                                    </p:set>
                                    <p:animEffect transition="in" filter="fade">
                                      <p:cBhvr>
                                        <p:cTn id="13" dur="1000"/>
                                        <p:tgtEl>
                                          <p:spTgt spid="36885"/>
                                        </p:tgtEl>
                                      </p:cBhvr>
                                    </p:animEffect>
                                    <p:anim calcmode="lin" valueType="num">
                                      <p:cBhvr>
                                        <p:cTn id="14" dur="1000" fill="hold"/>
                                        <p:tgtEl>
                                          <p:spTgt spid="36885"/>
                                        </p:tgtEl>
                                        <p:attrNameLst>
                                          <p:attrName>ppt_x</p:attrName>
                                        </p:attrNameLst>
                                      </p:cBhvr>
                                      <p:tavLst>
                                        <p:tav tm="0">
                                          <p:val>
                                            <p:strVal val="#ppt_x"/>
                                          </p:val>
                                        </p:tav>
                                        <p:tav tm="100000">
                                          <p:val>
                                            <p:strVal val="#ppt_x"/>
                                          </p:val>
                                        </p:tav>
                                      </p:tavLst>
                                    </p:anim>
                                    <p:anim calcmode="lin" valueType="num">
                                      <p:cBhvr>
                                        <p:cTn id="15" dur="1000" fill="hold"/>
                                        <p:tgtEl>
                                          <p:spTgt spid="36885"/>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3" presetClass="entr" presetSubtype="16" fill="hold" nodeType="clickEffect">
                                  <p:stCondLst>
                                    <p:cond delay="0"/>
                                  </p:stCondLst>
                                  <p:childTnLst>
                                    <p:set>
                                      <p:cBhvr>
                                        <p:cTn id="19" dur="1" fill="hold">
                                          <p:stCondLst>
                                            <p:cond delay="0"/>
                                          </p:stCondLst>
                                        </p:cTn>
                                        <p:tgtEl>
                                          <p:spTgt spid="36884"/>
                                        </p:tgtEl>
                                        <p:attrNameLst>
                                          <p:attrName>style.visibility</p:attrName>
                                        </p:attrNameLst>
                                      </p:cBhvr>
                                      <p:to>
                                        <p:strVal val="visible"/>
                                      </p:to>
                                    </p:set>
                                    <p:anim calcmode="lin" valueType="num">
                                      <p:cBhvr>
                                        <p:cTn id="20" dur="500" fill="hold"/>
                                        <p:tgtEl>
                                          <p:spTgt spid="36884"/>
                                        </p:tgtEl>
                                        <p:attrNameLst>
                                          <p:attrName>ppt_w</p:attrName>
                                        </p:attrNameLst>
                                      </p:cBhvr>
                                      <p:tavLst>
                                        <p:tav tm="0">
                                          <p:val>
                                            <p:fltVal val="0"/>
                                          </p:val>
                                        </p:tav>
                                        <p:tav tm="100000">
                                          <p:val>
                                            <p:strVal val="#ppt_w"/>
                                          </p:val>
                                        </p:tav>
                                      </p:tavLst>
                                    </p:anim>
                                    <p:anim calcmode="lin" valueType="num">
                                      <p:cBhvr>
                                        <p:cTn id="21" dur="500" fill="hold"/>
                                        <p:tgtEl>
                                          <p:spTgt spid="36884"/>
                                        </p:tgtEl>
                                        <p:attrNameLst>
                                          <p:attrName>ppt_h</p:attrName>
                                        </p:attrNameLst>
                                      </p:cBhvr>
                                      <p:tavLst>
                                        <p:tav tm="0">
                                          <p:val>
                                            <p:fltVal val="0"/>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6873"/>
                                        </p:tgtEl>
                                        <p:attrNameLst>
                                          <p:attrName>style.visibility</p:attrName>
                                        </p:attrNameLst>
                                      </p:cBhvr>
                                      <p:to>
                                        <p:strVal val="visible"/>
                                      </p:to>
                                    </p:set>
                                    <p:animEffect transition="in" filter="fade">
                                      <p:cBhvr>
                                        <p:cTn id="26" dur="1000"/>
                                        <p:tgtEl>
                                          <p:spTgt spid="36873"/>
                                        </p:tgtEl>
                                      </p:cBhvr>
                                    </p:animEffect>
                                    <p:anim calcmode="lin" valueType="num">
                                      <p:cBhvr>
                                        <p:cTn id="27" dur="1000" fill="hold"/>
                                        <p:tgtEl>
                                          <p:spTgt spid="36873"/>
                                        </p:tgtEl>
                                        <p:attrNameLst>
                                          <p:attrName>ppt_x</p:attrName>
                                        </p:attrNameLst>
                                      </p:cBhvr>
                                      <p:tavLst>
                                        <p:tav tm="0">
                                          <p:val>
                                            <p:strVal val="#ppt_x"/>
                                          </p:val>
                                        </p:tav>
                                        <p:tav tm="100000">
                                          <p:val>
                                            <p:strVal val="#ppt_x"/>
                                          </p:val>
                                        </p:tav>
                                      </p:tavLst>
                                    </p:anim>
                                    <p:anim calcmode="lin" valueType="num">
                                      <p:cBhvr>
                                        <p:cTn id="28" dur="1000" fill="hold"/>
                                        <p:tgtEl>
                                          <p:spTgt spid="368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3" grpId="0"/>
      <p:bldP spid="3688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Цифровое и аналоговое представление</a:t>
            </a:r>
            <a:endParaRPr lang="en-US" dirty="0"/>
          </a:p>
        </p:txBody>
      </p:sp>
      <p:sp>
        <p:nvSpPr>
          <p:cNvPr id="3" name="Content Placeholder 2"/>
          <p:cNvSpPr>
            <a:spLocks noGrp="1"/>
          </p:cNvSpPr>
          <p:nvPr>
            <p:ph idx="1"/>
          </p:nvPr>
        </p:nvSpPr>
        <p:spPr>
          <a:xfrm>
            <a:off x="2423592" y="1916833"/>
            <a:ext cx="6934200" cy="4378325"/>
          </a:xfrm>
        </p:spPr>
        <p:txBody>
          <a:bodyPr/>
          <a:lstStyle/>
          <a:p>
            <a:endParaRPr lang="en-US"/>
          </a:p>
        </p:txBody>
      </p:sp>
      <p:pic>
        <p:nvPicPr>
          <p:cNvPr id="4" name="Рисунок 9">
            <a:extLst>
              <a:ext uri="{FF2B5EF4-FFF2-40B4-BE49-F238E27FC236}">
                <a16:creationId xmlns:a16="http://schemas.microsoft.com/office/drawing/2014/main" id="{E04C4783-7F62-4489-8ECC-BED22053DB82}"/>
              </a:ext>
            </a:extLst>
          </p:cNvPr>
          <p:cNvPicPr>
            <a:picLocks noChangeAspect="1"/>
          </p:cNvPicPr>
          <p:nvPr/>
        </p:nvPicPr>
        <p:blipFill rotWithShape="1">
          <a:blip r:embed="rId3"/>
          <a:srcRect l="24013" t="33201" r="36612" b="40200"/>
          <a:stretch/>
        </p:blipFill>
        <p:spPr>
          <a:xfrm>
            <a:off x="1721922" y="2276872"/>
            <a:ext cx="8375754" cy="3182786"/>
          </a:xfrm>
          <a:prstGeom prst="rect">
            <a:avLst/>
          </a:prstGeom>
        </p:spPr>
      </p:pic>
    </p:spTree>
    <p:extLst>
      <p:ext uri="{BB962C8B-B14F-4D97-AF65-F5344CB8AC3E}">
        <p14:creationId xmlns:p14="http://schemas.microsoft.com/office/powerpoint/2010/main" val="23236626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BF779B-5BF6-4321-9726-3C26F27B786D}"/>
              </a:ext>
            </a:extLst>
          </p:cNvPr>
          <p:cNvSpPr>
            <a:spLocks noGrp="1"/>
          </p:cNvSpPr>
          <p:nvPr>
            <p:ph idx="1"/>
          </p:nvPr>
        </p:nvSpPr>
        <p:spPr>
          <a:xfrm>
            <a:off x="1097279" y="2108201"/>
            <a:ext cx="10623665" cy="4327524"/>
          </a:xfrm>
        </p:spPr>
        <p:txBody>
          <a:bodyPr>
            <a:normAutofit/>
          </a:bodyPr>
          <a:lstStyle/>
          <a:p>
            <a:pPr lvl="1"/>
            <a:r>
              <a:rPr lang="ru-RU" sz="2000" dirty="0"/>
              <a:t>Теорема Котельникова (Найквиста–Шеннона)</a:t>
            </a:r>
          </a:p>
          <a:p>
            <a:pPr lvl="2"/>
            <a:r>
              <a:rPr lang="ru-RU" sz="1600" dirty="0"/>
              <a:t>Сигнал со спектром, ограниченным частотой fmax, точно восстанавливается по отсчётам, если частота дискретизации fд &gt; 2·fmax</a:t>
            </a:r>
          </a:p>
          <a:p>
            <a:pPr lvl="1"/>
            <a:r>
              <a:rPr lang="ru-RU" sz="2000" dirty="0"/>
              <a:t>Алиасинг (наложение спектров)</a:t>
            </a:r>
          </a:p>
          <a:p>
            <a:pPr lvl="2"/>
            <a:r>
              <a:rPr lang="ru-RU" sz="1600" dirty="0"/>
              <a:t>При fд &lt; 2·fmax частоты выше fд/2 «отражаются» в низкие и искажают сигнал</a:t>
            </a:r>
          </a:p>
          <a:p>
            <a:pPr lvl="2"/>
            <a:r>
              <a:rPr lang="ru-RU" sz="1600" dirty="0"/>
              <a:t>Поэтому перед АЦП ставят фильтр нижних частот (антиалиасинговый фильтр)</a:t>
            </a:r>
          </a:p>
          <a:p>
            <a:pPr lvl="1"/>
            <a:r>
              <a:rPr lang="ru-RU" sz="2000" dirty="0"/>
              <a:t>Почему 44 100 Гц</a:t>
            </a:r>
          </a:p>
          <a:p>
            <a:pPr lvl="2"/>
            <a:r>
              <a:rPr lang="ru-RU" sz="1600" dirty="0"/>
              <a:t>Слух — до ≈20 кГц: нужно больше 40 кГц плюс запас на полосу спада фильтра</a:t>
            </a:r>
          </a:p>
          <a:p>
            <a:pPr lvl="2"/>
            <a:r>
              <a:rPr lang="ru-RU" sz="1600" dirty="0"/>
              <a:t>Историческая причина — запись цифрового звука на видеомагнитофоны: 3 отсчёта × 294 строки × 50 полей (PAL) = 44 100</a:t>
            </a:r>
          </a:p>
          <a:p>
            <a:pPr lvl="1"/>
            <a:r>
              <a:rPr lang="ru-RU" sz="2000" dirty="0"/>
              <a:t>Квантование</a:t>
            </a:r>
          </a:p>
          <a:p>
            <a:pPr lvl="2"/>
            <a:r>
              <a:rPr lang="ru-RU" sz="1600" dirty="0"/>
              <a:t>N бит → 2^N уровней; динамический диапазон ≈ 6 дБ на бит (16 бит ≈ 96 дБ)</a:t>
            </a:r>
          </a:p>
        </p:txBody>
      </p:sp>
      <p:sp>
        <p:nvSpPr>
          <p:cNvPr id="4" name="Title 1">
            <a:extLst>
              <a:ext uri="{FF2B5EF4-FFF2-40B4-BE49-F238E27FC236}">
                <a16:creationId xmlns:a16="http://schemas.microsoft.com/office/drawing/2014/main" id="{EE8E98DB-5344-480F-8662-6FCC22E46E7A}"/>
              </a:ext>
            </a:extLst>
          </p:cNvPr>
          <p:cNvSpPr>
            <a:spLocks noGrp="1"/>
          </p:cNvSpPr>
          <p:nvPr>
            <p:ph type="title"/>
          </p:nvPr>
        </p:nvSpPr>
        <p:spPr/>
        <p:txBody>
          <a:bodyPr/>
          <a:lstStyle/>
          <a:p>
            <a:r>
              <a:rPr lang="ru-RU"/>
              <a:t>Дискретизация: теорема Котельникова</a:t>
            </a:r>
          </a:p>
        </p:txBody>
      </p:sp>
    </p:spTree>
    <p:extLst>
      <p:ext uri="{BB962C8B-B14F-4D97-AF65-F5344CB8AC3E}">
        <p14:creationId xmlns:p14="http://schemas.microsoft.com/office/powerpoint/2010/main" val="1978515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586EC0-7861-4487-8AC2-CC04A3597BAB}"/>
              </a:ext>
            </a:extLst>
          </p:cNvPr>
          <p:cNvSpPr>
            <a:spLocks noGrp="1"/>
          </p:cNvSpPr>
          <p:nvPr>
            <p:ph type="title"/>
          </p:nvPr>
        </p:nvSpPr>
        <p:spPr>
          <a:xfrm>
            <a:off x="2638400" y="908720"/>
            <a:ext cx="6934200" cy="699864"/>
          </a:xfrm>
        </p:spPr>
        <p:txBody>
          <a:bodyPr>
            <a:normAutofit fontScale="90000"/>
          </a:bodyPr>
          <a:lstStyle/>
          <a:p>
            <a:r>
              <a:rPr lang="ru-RU" dirty="0"/>
              <a:t>Форматы</a:t>
            </a:r>
            <a:r>
              <a:rPr lang="en-US" dirty="0"/>
              <a:t> </a:t>
            </a:r>
            <a:r>
              <a:rPr lang="ru-RU" dirty="0"/>
              <a:t>аудиоданных</a:t>
            </a:r>
            <a:endParaRPr lang="ru-BY" dirty="0"/>
          </a:p>
        </p:txBody>
      </p:sp>
      <p:graphicFrame>
        <p:nvGraphicFramePr>
          <p:cNvPr id="6" name="Объект 5">
            <a:extLst>
              <a:ext uri="{FF2B5EF4-FFF2-40B4-BE49-F238E27FC236}">
                <a16:creationId xmlns:a16="http://schemas.microsoft.com/office/drawing/2014/main" id="{1D500418-AC6C-4376-BF0A-C045AD921B22}"/>
              </a:ext>
            </a:extLst>
          </p:cNvPr>
          <p:cNvGraphicFramePr>
            <a:graphicFrameLocks noGrp="1"/>
          </p:cNvGraphicFramePr>
          <p:nvPr>
            <p:ph idx="1"/>
          </p:nvPr>
        </p:nvGraphicFramePr>
        <p:xfrm>
          <a:off x="2638400" y="1497362"/>
          <a:ext cx="6934200" cy="4378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96377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923D2-6F89-467C-A3CE-80610CC2F4DD}"/>
              </a:ext>
            </a:extLst>
          </p:cNvPr>
          <p:cNvSpPr>
            <a:spLocks noGrp="1"/>
          </p:cNvSpPr>
          <p:nvPr>
            <p:ph type="title"/>
          </p:nvPr>
        </p:nvSpPr>
        <p:spPr>
          <a:xfrm>
            <a:off x="2667000" y="533400"/>
            <a:ext cx="6934200" cy="1219200"/>
          </a:xfrm>
        </p:spPr>
        <p:txBody>
          <a:bodyPr wrap="square" anchor="b">
            <a:normAutofit fontScale="90000"/>
          </a:bodyPr>
          <a:lstStyle/>
          <a:p>
            <a:r>
              <a:rPr lang="ru-RU"/>
              <a:t>Временное и частотное представление</a:t>
            </a:r>
          </a:p>
        </p:txBody>
      </p:sp>
      <p:pic>
        <p:nvPicPr>
          <p:cNvPr id="4" name="Picture 3">
            <a:extLst>
              <a:ext uri="{FF2B5EF4-FFF2-40B4-BE49-F238E27FC236}">
                <a16:creationId xmlns:a16="http://schemas.microsoft.com/office/drawing/2014/main" id="{B8E2F9E0-1816-422A-9340-5575E3A1C27F}"/>
              </a:ext>
            </a:extLst>
          </p:cNvPr>
          <p:cNvPicPr>
            <a:picLocks noChangeAspect="1"/>
          </p:cNvPicPr>
          <p:nvPr/>
        </p:nvPicPr>
        <p:blipFill>
          <a:blip r:embed="rId3"/>
          <a:stretch>
            <a:fillRect/>
          </a:stretch>
        </p:blipFill>
        <p:spPr>
          <a:xfrm>
            <a:off x="2667000" y="1774825"/>
            <a:ext cx="6934200" cy="4333874"/>
          </a:xfrm>
          <a:prstGeom prst="rect">
            <a:avLst/>
          </a:prstGeom>
          <a:noFill/>
        </p:spPr>
      </p:pic>
    </p:spTree>
    <p:extLst>
      <p:ext uri="{BB962C8B-B14F-4D97-AF65-F5344CB8AC3E}">
        <p14:creationId xmlns:p14="http://schemas.microsoft.com/office/powerpoint/2010/main" val="25168903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06C1F6-27CB-FFAD-C3C5-710135E5B708}"/>
              </a:ext>
            </a:extLst>
          </p:cNvPr>
          <p:cNvSpPr>
            <a:spLocks noGrp="1"/>
          </p:cNvSpPr>
          <p:nvPr>
            <p:ph type="title"/>
          </p:nvPr>
        </p:nvSpPr>
        <p:spPr>
          <a:xfrm>
            <a:off x="2667000" y="533400"/>
            <a:ext cx="6934200" cy="663352"/>
          </a:xfrm>
        </p:spPr>
        <p:txBody>
          <a:bodyPr>
            <a:normAutofit fontScale="90000"/>
          </a:bodyPr>
          <a:lstStyle/>
          <a:p>
            <a:pPr algn="ctr"/>
            <a:r>
              <a:rPr lang="ru-RU" dirty="0"/>
              <a:t>Осциллограмма</a:t>
            </a:r>
          </a:p>
        </p:txBody>
      </p:sp>
      <p:pic>
        <p:nvPicPr>
          <p:cNvPr id="5" name="Объект 4" descr="Изображение выглядит как зарисовка, рисунок, линия&#10;&#10;Контент, сгенерированный ИИ, может содержать ошибки.">
            <a:extLst>
              <a:ext uri="{FF2B5EF4-FFF2-40B4-BE49-F238E27FC236}">
                <a16:creationId xmlns:a16="http://schemas.microsoft.com/office/drawing/2014/main" id="{B22DB366-65DC-2567-D1BA-B4A9389830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48088" y="2370137"/>
            <a:ext cx="4772025" cy="3143250"/>
          </a:xfrm>
        </p:spPr>
      </p:pic>
    </p:spTree>
    <p:extLst>
      <p:ext uri="{BB962C8B-B14F-4D97-AF65-F5344CB8AC3E}">
        <p14:creationId xmlns:p14="http://schemas.microsoft.com/office/powerpoint/2010/main" val="37473702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721662-FAB4-E7B6-EF23-1BADA0EE4448}"/>
              </a:ext>
            </a:extLst>
          </p:cNvPr>
          <p:cNvSpPr>
            <a:spLocks noGrp="1"/>
          </p:cNvSpPr>
          <p:nvPr>
            <p:ph type="title"/>
          </p:nvPr>
        </p:nvSpPr>
        <p:spPr>
          <a:xfrm>
            <a:off x="1757408" y="648493"/>
            <a:ext cx="8677184" cy="591344"/>
          </a:xfrm>
        </p:spPr>
        <p:txBody>
          <a:bodyPr>
            <a:normAutofit fontScale="90000"/>
          </a:bodyPr>
          <a:lstStyle/>
          <a:p>
            <a:pPr algn="ctr"/>
            <a:r>
              <a:rPr lang="ru-RU" dirty="0"/>
              <a:t>Оконное преобразование Фурье (</a:t>
            </a:r>
            <a:r>
              <a:rPr lang="en-GB" dirty="0"/>
              <a:t>STFT</a:t>
            </a:r>
            <a:r>
              <a:rPr lang="ru-RU" dirty="0"/>
              <a:t>)</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C5C78C1C-3E1D-2605-5207-1771D4A0F096}"/>
                  </a:ext>
                </a:extLst>
              </p:cNvPr>
              <p:cNvSpPr>
                <a:spLocks noGrp="1"/>
              </p:cNvSpPr>
              <p:nvPr>
                <p:ph idx="1"/>
              </p:nvPr>
            </p:nvSpPr>
            <p:spPr>
              <a:xfrm>
                <a:off x="2207568" y="1851819"/>
                <a:ext cx="6934200" cy="4378325"/>
              </a:xfrm>
            </p:spPr>
            <p:txBody>
              <a:bodyPr/>
              <a:lstStyle/>
              <a:p>
                <a14:m>
                  <m:oMath xmlns:m="http://schemas.openxmlformats.org/officeDocument/2006/math">
                    <m:r>
                      <m:rPr>
                        <m:nor/>
                      </m:rPr>
                      <a:rPr lang="en-GB" b="0" i="0" smtClean="0">
                        <a:latin typeface="Cambria Math" panose="02040503050406030204" pitchFamily="18" charset="0"/>
                      </a:rPr>
                      <m:t>X</m:t>
                    </m:r>
                    <m:d>
                      <m:dPr>
                        <m:ctrlPr>
                          <a:rPr lang="en-GB" b="0" i="0" smtClean="0">
                            <a:latin typeface="Cambria Math" panose="02040503050406030204" pitchFamily="18" charset="0"/>
                          </a:rPr>
                        </m:ctrlPr>
                      </m:dPr>
                      <m:e>
                        <m:r>
                          <m:rPr>
                            <m:nor/>
                          </m:rPr>
                          <a:rPr lang="en-GB" b="0" i="0" smtClean="0">
                            <a:latin typeface="Cambria Math" panose="02040503050406030204" pitchFamily="18" charset="0"/>
                          </a:rPr>
                          <m:t>m,f</m:t>
                        </m:r>
                      </m:e>
                    </m:d>
                    <m:r>
                      <m:rPr>
                        <m:nor/>
                      </m:rPr>
                      <a:rPr lang="en-GB" b="0" i="0" smtClean="0">
                        <a:latin typeface="Cambria Math" panose="02040503050406030204" pitchFamily="18" charset="0"/>
                      </a:rPr>
                      <m:t>=</m:t>
                    </m:r>
                    <m:nary>
                      <m:naryPr>
                        <m:chr m:val="∑"/>
                        <m:ctrlPr>
                          <a:rPr lang="en-GB" b="0" i="0" smtClean="0">
                            <a:latin typeface="Cambria Math" panose="02040503050406030204" pitchFamily="18" charset="0"/>
                          </a:rPr>
                        </m:ctrlPr>
                      </m:naryPr>
                      <m:sub>
                        <m:r>
                          <m:rPr>
                            <m:nor/>
                            <m:brk m:alnAt="23"/>
                          </m:rPr>
                          <a:rPr lang="en-GB" b="0" i="0" smtClean="0">
                            <a:latin typeface="Cambria Math" panose="02040503050406030204" pitchFamily="18" charset="0"/>
                          </a:rPr>
                          <m:t>n</m:t>
                        </m:r>
                        <m:r>
                          <m:rPr>
                            <m:nor/>
                          </m:rPr>
                          <a:rPr lang="en-GB" b="0" i="0" smtClean="0">
                            <a:latin typeface="Cambria Math" panose="02040503050406030204" pitchFamily="18" charset="0"/>
                          </a:rPr>
                          <m:t>=0</m:t>
                        </m:r>
                      </m:sub>
                      <m:sup>
                        <m:r>
                          <m:rPr>
                            <m:nor/>
                          </m:rPr>
                          <a:rPr lang="en-GB" b="0" i="0" smtClean="0">
                            <a:latin typeface="Cambria Math" panose="02040503050406030204" pitchFamily="18" charset="0"/>
                          </a:rPr>
                          <m:t>N−1</m:t>
                        </m:r>
                      </m:sup>
                      <m:e>
                        <m:r>
                          <m:rPr>
                            <m:nor/>
                          </m:rPr>
                          <a:rPr lang="en-GB" b="0" i="0" smtClean="0">
                            <a:latin typeface="Cambria Math" panose="02040503050406030204" pitchFamily="18" charset="0"/>
                          </a:rPr>
                          <m:t>x</m:t>
                        </m:r>
                        <m:d>
                          <m:dPr>
                            <m:ctrlPr>
                              <a:rPr lang="en-GB" b="0" i="0" smtClean="0">
                                <a:latin typeface="Cambria Math" panose="02040503050406030204" pitchFamily="18" charset="0"/>
                              </a:rPr>
                            </m:ctrlPr>
                          </m:dPr>
                          <m:e>
                            <m:r>
                              <m:rPr>
                                <m:nor/>
                              </m:rPr>
                              <a:rPr lang="en-GB" b="0" i="0" smtClean="0">
                                <a:latin typeface="Cambria Math" panose="02040503050406030204" pitchFamily="18" charset="0"/>
                              </a:rPr>
                              <m:t>n</m:t>
                            </m:r>
                          </m:e>
                        </m:d>
                        <m:r>
                          <m:rPr>
                            <m:nor/>
                          </m:rPr>
                          <a:rPr lang="en-GB" b="0" i="0" smtClean="0">
                            <a:latin typeface="Cambria Math" panose="02040503050406030204" pitchFamily="18" charset="0"/>
                          </a:rPr>
                          <m:t>w(n−m)</m:t>
                        </m:r>
                        <m:sSup>
                          <m:sSupPr>
                            <m:ctrlPr>
                              <a:rPr lang="en-GB" b="0" i="0" smtClean="0">
                                <a:latin typeface="Cambria Math" panose="02040503050406030204" pitchFamily="18" charset="0"/>
                              </a:rPr>
                            </m:ctrlPr>
                          </m:sSupPr>
                          <m:e>
                            <m:r>
                              <m:rPr>
                                <m:nor/>
                              </m:rPr>
                              <a:rPr lang="en-GB" b="0" i="0" smtClean="0">
                                <a:latin typeface="Cambria Math" panose="02040503050406030204" pitchFamily="18" charset="0"/>
                              </a:rPr>
                              <m:t>e</m:t>
                            </m:r>
                          </m:e>
                          <m:sup>
                            <m:r>
                              <m:rPr>
                                <m:nor/>
                              </m:rPr>
                              <a:rPr lang="en-GB" b="0" i="0" smtClean="0">
                                <a:latin typeface="Cambria Math" panose="02040503050406030204" pitchFamily="18" charset="0"/>
                              </a:rPr>
                              <m:t>−j2</m:t>
                            </m:r>
                            <m:r>
                              <m:rPr>
                                <m:nor/>
                              </m:rPr>
                              <a:rPr lang="en-GB" b="0" i="0" smtClean="0">
                                <a:latin typeface="Cambria Math" panose="02040503050406030204" pitchFamily="18" charset="0"/>
                                <a:ea typeface="Cambria Math" panose="02040503050406030204" pitchFamily="18" charset="0"/>
                              </a:rPr>
                              <m:t>πfn/N</m:t>
                            </m:r>
                          </m:sup>
                        </m:sSup>
                      </m:e>
                    </m:nary>
                  </m:oMath>
                </a14:m>
                <a:endParaRPr lang="ru-RU" dirty="0"/>
              </a:p>
              <a:p>
                <a:pPr marL="0" indent="0">
                  <a:buNone/>
                </a:pPr>
                <a:r>
                  <a:rPr lang="ru-RU" dirty="0"/>
                  <a:t>Где</a:t>
                </a:r>
                <a:r>
                  <a:rPr lang="en-GB" dirty="0"/>
                  <a:t>: </a:t>
                </a:r>
                <a:endParaRPr lang="ru-RU" dirty="0"/>
              </a:p>
            </p:txBody>
          </p:sp>
        </mc:Choice>
        <mc:Fallback xmlns="">
          <p:sp>
            <p:nvSpPr>
              <p:cNvPr id="3" name="Объект 2">
                <a:extLst>
                  <a:ext uri="{FF2B5EF4-FFF2-40B4-BE49-F238E27FC236}">
                    <a16:creationId xmlns:a16="http://schemas.microsoft.com/office/drawing/2014/main" id="{C5C78C1C-3E1D-2605-5207-1771D4A0F096}"/>
                  </a:ext>
                </a:extLst>
              </p:cNvPr>
              <p:cNvSpPr>
                <a:spLocks noGrp="1" noRot="1" noChangeAspect="1" noMove="1" noResize="1" noEditPoints="1" noAdjustHandles="1" noChangeArrowheads="1" noChangeShapeType="1" noTextEdit="1"/>
              </p:cNvSpPr>
              <p:nvPr>
                <p:ph idx="1"/>
              </p:nvPr>
            </p:nvSpPr>
            <p:spPr>
              <a:xfrm>
                <a:off x="2207568" y="1851819"/>
                <a:ext cx="6934200" cy="4378325"/>
              </a:xfrm>
              <a:blipFill>
                <a:blip r:embed="rId2"/>
                <a:stretch>
                  <a:fillRect l="-219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5" name="Rectangle 2">
                <a:extLst>
                  <a:ext uri="{FF2B5EF4-FFF2-40B4-BE49-F238E27FC236}">
                    <a16:creationId xmlns:a16="http://schemas.microsoft.com/office/drawing/2014/main" id="{19FF4665-0D55-ACE6-E3F6-B3AA5E9E986F}"/>
                  </a:ext>
                </a:extLst>
              </p:cNvPr>
              <p:cNvSpPr>
                <a:spLocks noChangeArrowheads="1"/>
              </p:cNvSpPr>
              <p:nvPr/>
            </p:nvSpPr>
            <p:spPr bwMode="auto">
              <a:xfrm>
                <a:off x="2207568" y="2769809"/>
                <a:ext cx="7534114" cy="215257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lang="ru-RU" altLang="ru-RU" dirty="0">
                    <a:latin typeface="Arial" panose="020B0604020202020204" pitchFamily="34" charset="0"/>
                  </a:rPr>
                  <a:t>X(</a:t>
                </a:r>
                <a:r>
                  <a:rPr lang="ru-RU" altLang="ru-RU" dirty="0" err="1">
                    <a:latin typeface="Arial" panose="020B0604020202020204" pitchFamily="34" charset="0"/>
                  </a:rPr>
                  <a:t>m,f</a:t>
                </a:r>
                <a:r>
                  <a:rPr lang="ru-RU" altLang="ru-RU" dirty="0">
                    <a:latin typeface="Arial" panose="020B0604020202020204" pitchFamily="34" charset="0"/>
                  </a:rPr>
                  <a:t>) — результат STFT: спектр частот для временного окна.</a:t>
                </a:r>
              </a:p>
              <a:p>
                <a:pPr defTabSz="914400" eaLnBrk="0" fontAlgn="base" hangingPunct="0">
                  <a:spcBef>
                    <a:spcPct val="0"/>
                  </a:spcBef>
                  <a:spcAft>
                    <a:spcPct val="0"/>
                  </a:spcAft>
                  <a:buFontTx/>
                  <a:buChar char="•"/>
                </a:pPr>
                <a:r>
                  <a:rPr lang="ru-RU" altLang="ru-RU" dirty="0">
                    <a:latin typeface="Arial" panose="020B0604020202020204" pitchFamily="34" charset="0"/>
                  </a:rPr>
                  <a:t>x(n) — исходный сигнал.</a:t>
                </a:r>
              </a:p>
              <a:p>
                <a:pPr defTabSz="914400" eaLnBrk="0" fontAlgn="base" hangingPunct="0">
                  <a:spcBef>
                    <a:spcPct val="0"/>
                  </a:spcBef>
                  <a:spcAft>
                    <a:spcPct val="0"/>
                  </a:spcAft>
                  <a:buFontTx/>
                  <a:buChar char="•"/>
                </a:pPr>
                <a:r>
                  <a:rPr lang="ru-RU" altLang="ru-RU" dirty="0">
                    <a:latin typeface="Arial" panose="020B0604020202020204" pitchFamily="34" charset="0"/>
                  </a:rPr>
                  <a:t>w(n) — </a:t>
                </a:r>
                <a:r>
                  <a:rPr lang="ru-RU" altLang="ru-RU" b="1" dirty="0">
                    <a:latin typeface="Arial" panose="020B0604020202020204" pitchFamily="34" charset="0"/>
                  </a:rPr>
                  <a:t>оконная функция</a:t>
                </a:r>
                <a:r>
                  <a:rPr lang="ru-RU" altLang="ru-RU" dirty="0">
                    <a:latin typeface="Arial" panose="020B0604020202020204" pitchFamily="34" charset="0"/>
                  </a:rPr>
                  <a:t>, выделяющая часть сигнала.</a:t>
                </a:r>
              </a:p>
              <a:p>
                <a:pPr defTabSz="914400" eaLnBrk="0" fontAlgn="base" hangingPunct="0">
                  <a:spcBef>
                    <a:spcPct val="0"/>
                  </a:spcBef>
                  <a:spcAft>
                    <a:spcPct val="0"/>
                  </a:spcAft>
                  <a:buFontTx/>
                  <a:buChar char="•"/>
                </a:pPr>
                <a:r>
                  <a:rPr lang="ru-RU" altLang="ru-RU" dirty="0">
                    <a:latin typeface="Arial" panose="020B0604020202020204" pitchFamily="34" charset="0"/>
                  </a:rPr>
                  <a:t>m — индекс начала окна</a:t>
                </a:r>
              </a:p>
              <a:p>
                <a:pPr defTabSz="914400" eaLnBrk="0" fontAlgn="base" hangingPunct="0">
                  <a:spcBef>
                    <a:spcPct val="0"/>
                  </a:spcBef>
                  <a:spcAft>
                    <a:spcPct val="0"/>
                  </a:spcAft>
                  <a:buFontTx/>
                  <a:buChar char="•"/>
                </a:pPr>
                <a:r>
                  <a:rPr lang="ru-RU" altLang="ru-RU" dirty="0">
                    <a:latin typeface="Arial" panose="020B0604020202020204" pitchFamily="34" charset="0"/>
                  </a:rPr>
                  <a:t>f — частота.</a:t>
                </a:r>
              </a:p>
              <a:p>
                <a:pPr defTabSz="914400" eaLnBrk="0" fontAlgn="base" hangingPunct="0">
                  <a:spcBef>
                    <a:spcPct val="0"/>
                  </a:spcBef>
                  <a:spcAft>
                    <a:spcPct val="0"/>
                  </a:spcAft>
                  <a:buFontTx/>
                  <a:buChar char="•"/>
                </a:pPr>
                <a14:m>
                  <m:oMath xmlns:m="http://schemas.openxmlformats.org/officeDocument/2006/math">
                    <m:sSup>
                      <m:sSupPr>
                        <m:ctrlPr>
                          <a:rPr lang="en-GB" i="0">
                            <a:latin typeface="Cambria Math" panose="02040503050406030204" pitchFamily="18" charset="0"/>
                          </a:rPr>
                        </m:ctrlPr>
                      </m:sSupPr>
                      <m:e>
                        <m:r>
                          <m:rPr>
                            <m:nor/>
                          </m:rPr>
                          <a:rPr lang="en-GB" i="0">
                            <a:latin typeface="Cambria Math" panose="02040503050406030204" pitchFamily="18" charset="0"/>
                          </a:rPr>
                          <m:t>e</m:t>
                        </m:r>
                      </m:e>
                      <m:sup>
                        <m:r>
                          <m:rPr>
                            <m:nor/>
                          </m:rPr>
                          <a:rPr lang="en-GB" i="0">
                            <a:latin typeface="Cambria Math" panose="02040503050406030204" pitchFamily="18" charset="0"/>
                          </a:rPr>
                          <m:t>−j2</m:t>
                        </m:r>
                        <m:r>
                          <m:rPr>
                            <m:nor/>
                          </m:rPr>
                          <a:rPr lang="en-GB" i="0">
                            <a:latin typeface="Cambria Math" panose="02040503050406030204" pitchFamily="18" charset="0"/>
                            <a:ea typeface="Cambria Math" panose="02040503050406030204" pitchFamily="18" charset="0"/>
                          </a:rPr>
                          <m:t>πfn/N</m:t>
                        </m:r>
                      </m:sup>
                    </m:sSup>
                  </m:oMath>
                </a14:m>
                <a:r>
                  <a:rPr lang="ru-RU" altLang="ru-RU" dirty="0">
                    <a:latin typeface="Arial" panose="020B0604020202020204" pitchFamily="34" charset="0"/>
                  </a:rPr>
                  <a:t> — комплексная экспонента синусоиды разной частоты</a:t>
                </a:r>
                <a:endParaRPr lang="en-GB" altLang="ru-RU" dirty="0">
                  <a:latin typeface="Arial" panose="020B0604020202020204" pitchFamily="34" charset="0"/>
                </a:endParaRPr>
              </a:p>
              <a:p>
                <a:pPr defTabSz="914400" eaLnBrk="0" fontAlgn="base" hangingPunct="0">
                  <a:spcBef>
                    <a:spcPct val="0"/>
                  </a:spcBef>
                  <a:spcAft>
                    <a:spcPct val="0"/>
                  </a:spcAft>
                  <a:buFontTx/>
                  <a:buChar char="•"/>
                </a:pPr>
                <a14:m>
                  <m:oMath xmlns:m="http://schemas.openxmlformats.org/officeDocument/2006/math">
                    <m:r>
                      <a:rPr lang="en-GB" i="1">
                        <a:latin typeface="Cambria Math" panose="02040503050406030204" pitchFamily="18" charset="0"/>
                      </a:rPr>
                      <m:t>𝑗</m:t>
                    </m:r>
                  </m:oMath>
                </a14:m>
                <a:r>
                  <a:rPr lang="en-GB" dirty="0"/>
                  <a:t> - </a:t>
                </a:r>
                <a:r>
                  <a:rPr lang="ru-RU" dirty="0"/>
                  <a:t> мнимая единица </a:t>
                </a:r>
                <a:r>
                  <a:rPr lang="en-GB" dirty="0"/>
                  <a:t>(</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𝑗</m:t>
                        </m:r>
                      </m:e>
                      <m:sup>
                        <m:r>
                          <a:rPr lang="en-GB" i="1">
                            <a:latin typeface="Cambria Math" panose="02040503050406030204" pitchFamily="18" charset="0"/>
                          </a:rPr>
                          <m:t>2</m:t>
                        </m:r>
                      </m:sup>
                    </m:sSup>
                    <m:r>
                      <a:rPr lang="en-GB" i="1">
                        <a:latin typeface="Cambria Math" panose="02040503050406030204" pitchFamily="18" charset="0"/>
                      </a:rPr>
                      <m:t>=−1</m:t>
                    </m:r>
                  </m:oMath>
                </a14:m>
                <a:r>
                  <a:rPr lang="en-GB" dirty="0"/>
                  <a:t>)</a:t>
                </a:r>
                <a:endParaRPr lang="ru-RU" altLang="ru-RU" dirty="0">
                  <a:latin typeface="Arial" panose="020B0604020202020204" pitchFamily="34" charset="0"/>
                </a:endParaRPr>
              </a:p>
            </p:txBody>
          </p:sp>
        </mc:Choice>
        <mc:Fallback xmlns="">
          <p:sp>
            <p:nvSpPr>
              <p:cNvPr id="5" name="Rectangle 2">
                <a:extLst>
                  <a:ext uri="{FF2B5EF4-FFF2-40B4-BE49-F238E27FC236}">
                    <a16:creationId xmlns:a16="http://schemas.microsoft.com/office/drawing/2014/main" id="{19FF4665-0D55-ACE6-E3F6-B3AA5E9E986F}"/>
                  </a:ext>
                </a:extLst>
              </p:cNvPr>
              <p:cNvSpPr>
                <a:spLocks noRot="1" noChangeAspect="1" noMove="1" noResize="1" noEditPoints="1" noAdjustHandles="1" noChangeArrowheads="1" noChangeShapeType="1" noTextEdit="1"/>
              </p:cNvSpPr>
              <p:nvPr/>
            </p:nvSpPr>
            <p:spPr bwMode="auto">
              <a:xfrm>
                <a:off x="2207568" y="2769809"/>
                <a:ext cx="7534114" cy="2152577"/>
              </a:xfrm>
              <a:prstGeom prst="rect">
                <a:avLst/>
              </a:prstGeom>
              <a:blipFill>
                <a:blip r:embed="rId3"/>
                <a:stretch>
                  <a:fillRect l="-566" b="-255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ru-RU">
                    <a:noFill/>
                  </a:rPr>
                  <a:t> </a:t>
                </a:r>
              </a:p>
            </p:txBody>
          </p:sp>
        </mc:Fallback>
      </mc:AlternateContent>
    </p:spTree>
    <p:extLst>
      <p:ext uri="{BB962C8B-B14F-4D97-AF65-F5344CB8AC3E}">
        <p14:creationId xmlns:p14="http://schemas.microsoft.com/office/powerpoint/2010/main" val="29049978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ECA581-E452-460A-B0B7-C111AB35A330}"/>
              </a:ext>
            </a:extLst>
          </p:cNvPr>
          <p:cNvSpPr>
            <a:spLocks noGrp="1"/>
          </p:cNvSpPr>
          <p:nvPr>
            <p:ph type="title"/>
          </p:nvPr>
        </p:nvSpPr>
        <p:spPr/>
        <p:txBody>
          <a:bodyPr/>
          <a:lstStyle/>
          <a:p>
            <a:r>
              <a:rPr lang="ru-RU" dirty="0"/>
              <a:t>Спектрограмма</a:t>
            </a:r>
            <a:endParaRPr lang="en-US" dirty="0"/>
          </a:p>
        </p:txBody>
      </p:sp>
      <p:pic>
        <p:nvPicPr>
          <p:cNvPr id="4" name="Picture 3" descr="A picture containing text&#10;&#10;Description automatically generated">
            <a:extLst>
              <a:ext uri="{FF2B5EF4-FFF2-40B4-BE49-F238E27FC236}">
                <a16:creationId xmlns:a16="http://schemas.microsoft.com/office/drawing/2014/main" id="{675610CC-3949-49EB-BFBF-7C7CA96FEE37}"/>
              </a:ext>
            </a:extLst>
          </p:cNvPr>
          <p:cNvPicPr>
            <a:picLocks noChangeAspect="1"/>
          </p:cNvPicPr>
          <p:nvPr/>
        </p:nvPicPr>
        <p:blipFill>
          <a:blip r:embed="rId3"/>
          <a:stretch>
            <a:fillRect/>
          </a:stretch>
        </p:blipFill>
        <p:spPr>
          <a:xfrm>
            <a:off x="2796760" y="2341790"/>
            <a:ext cx="6721711" cy="2830194"/>
          </a:xfrm>
          <a:prstGeom prst="rect">
            <a:avLst/>
          </a:prstGeom>
        </p:spPr>
      </p:pic>
    </p:spTree>
    <p:extLst>
      <p:ext uri="{BB962C8B-B14F-4D97-AF65-F5344CB8AC3E}">
        <p14:creationId xmlns:p14="http://schemas.microsoft.com/office/powerpoint/2010/main" val="3596049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CD64C1-CBC4-45EB-8486-A5A8036CBA67}"/>
              </a:ext>
            </a:extLst>
          </p:cNvPr>
          <p:cNvSpPr>
            <a:spLocks noGrp="1"/>
          </p:cNvSpPr>
          <p:nvPr>
            <p:ph type="title"/>
          </p:nvPr>
        </p:nvSpPr>
        <p:spPr/>
        <p:txBody>
          <a:bodyPr/>
          <a:lstStyle/>
          <a:p>
            <a:r>
              <a:rPr lang="ru-RU" dirty="0"/>
              <a:t>Мел-частоты</a:t>
            </a:r>
            <a:endParaRPr lang="en-US" dirty="0"/>
          </a:p>
        </p:txBody>
      </p:sp>
      <p:pic>
        <p:nvPicPr>
          <p:cNvPr id="7" name="Picture 6">
            <a:extLst>
              <a:ext uri="{FF2B5EF4-FFF2-40B4-BE49-F238E27FC236}">
                <a16:creationId xmlns:a16="http://schemas.microsoft.com/office/drawing/2014/main" id="{1CDD0969-FB95-4A4D-BB79-6B108C821038}"/>
              </a:ext>
            </a:extLst>
          </p:cNvPr>
          <p:cNvPicPr>
            <a:picLocks noChangeAspect="1"/>
          </p:cNvPicPr>
          <p:nvPr/>
        </p:nvPicPr>
        <p:blipFill>
          <a:blip r:embed="rId3"/>
          <a:stretch>
            <a:fillRect/>
          </a:stretch>
        </p:blipFill>
        <p:spPr>
          <a:xfrm>
            <a:off x="6535845" y="3181995"/>
            <a:ext cx="3936212" cy="1888102"/>
          </a:xfrm>
          <a:prstGeom prst="rect">
            <a:avLst/>
          </a:prstGeom>
        </p:spPr>
      </p:pic>
      <p:pic>
        <p:nvPicPr>
          <p:cNvPr id="4" name="Picture 3" descr="Chart, line chart&#10;&#10;Description automatically generated">
            <a:extLst>
              <a:ext uri="{FF2B5EF4-FFF2-40B4-BE49-F238E27FC236}">
                <a16:creationId xmlns:a16="http://schemas.microsoft.com/office/drawing/2014/main" id="{6CFE3055-1390-47A5-94CD-37B7CBF87F65}"/>
              </a:ext>
            </a:extLst>
          </p:cNvPr>
          <p:cNvPicPr>
            <a:picLocks noChangeAspect="1"/>
          </p:cNvPicPr>
          <p:nvPr/>
        </p:nvPicPr>
        <p:blipFill>
          <a:blip r:embed="rId4"/>
          <a:stretch>
            <a:fillRect/>
          </a:stretch>
        </p:blipFill>
        <p:spPr>
          <a:xfrm>
            <a:off x="1660243" y="3032031"/>
            <a:ext cx="4822031" cy="2286000"/>
          </a:xfrm>
          <a:prstGeom prst="rect">
            <a:avLst/>
          </a:prstGeom>
        </p:spPr>
      </p:pic>
      <p:pic>
        <p:nvPicPr>
          <p:cNvPr id="6" name="Graphic 5">
            <a:extLst>
              <a:ext uri="{FF2B5EF4-FFF2-40B4-BE49-F238E27FC236}">
                <a16:creationId xmlns:a16="http://schemas.microsoft.com/office/drawing/2014/main" id="{E825467D-DE45-4ED2-A908-33E98A06CB9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70628" y="2314299"/>
            <a:ext cx="3582035" cy="453888"/>
          </a:xfrm>
          <a:prstGeom prst="rect">
            <a:avLst/>
          </a:prstGeom>
        </p:spPr>
      </p:pic>
      <p:pic>
        <p:nvPicPr>
          <p:cNvPr id="5" name="Рисунок 4">
            <a:extLst>
              <a:ext uri="{FF2B5EF4-FFF2-40B4-BE49-F238E27FC236}">
                <a16:creationId xmlns:a16="http://schemas.microsoft.com/office/drawing/2014/main" id="{B55A9B64-B48E-C74F-D9E0-8744916A798F}"/>
              </a:ext>
            </a:extLst>
          </p:cNvPr>
          <p:cNvPicPr>
            <a:picLocks noChangeAspect="1"/>
          </p:cNvPicPr>
          <p:nvPr/>
        </p:nvPicPr>
        <p:blipFill>
          <a:blip r:embed="rId6"/>
          <a:stretch>
            <a:fillRect/>
          </a:stretch>
        </p:blipFill>
        <p:spPr>
          <a:xfrm>
            <a:off x="6096000" y="1543207"/>
            <a:ext cx="3639058" cy="495369"/>
          </a:xfrm>
          <a:prstGeom prst="rect">
            <a:avLst/>
          </a:prstGeom>
        </p:spPr>
      </p:pic>
    </p:spTree>
    <p:extLst>
      <p:ext uri="{BB962C8B-B14F-4D97-AF65-F5344CB8AC3E}">
        <p14:creationId xmlns:p14="http://schemas.microsoft.com/office/powerpoint/2010/main" val="12133785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54A3D659-05CC-AA04-E84A-E8CC39DF9AB0}"/>
              </a:ext>
            </a:extLst>
          </p:cNvPr>
          <p:cNvSpPr>
            <a:spLocks noGrp="1"/>
          </p:cNvSpPr>
          <p:nvPr>
            <p:ph type="title"/>
          </p:nvPr>
        </p:nvSpPr>
        <p:spPr/>
        <p:txBody>
          <a:bodyPr/>
          <a:lstStyle/>
          <a:p>
            <a:r>
              <a:rPr lang="en-US" dirty="0"/>
              <a:t>MFCC</a:t>
            </a:r>
            <a:endParaRPr lang="ru-RU" dirty="0"/>
          </a:p>
        </p:txBody>
      </p:sp>
      <mc:AlternateContent xmlns:mc="http://schemas.openxmlformats.org/markup-compatibility/2006" xmlns:a14="http://schemas.microsoft.com/office/drawing/2010/main">
        <mc:Choice Requires="a14">
          <p:sp>
            <p:nvSpPr>
              <p:cNvPr id="7" name="Объект 6">
                <a:extLst>
                  <a:ext uri="{FF2B5EF4-FFF2-40B4-BE49-F238E27FC236}">
                    <a16:creationId xmlns:a16="http://schemas.microsoft.com/office/drawing/2014/main" id="{1EE48528-5972-E493-9D9C-5A27B8FC8456}"/>
                  </a:ext>
                </a:extLst>
              </p:cNvPr>
              <p:cNvSpPr>
                <a:spLocks noGrp="1"/>
              </p:cNvSpPr>
              <p:nvPr>
                <p:ph idx="1"/>
              </p:nvPr>
            </p:nvSpPr>
            <p:spPr/>
            <p:txBody>
              <a:bodyPr/>
              <a:lstStyle/>
              <a:p>
                <a:endParaRPr lang="en-GB" dirty="0"/>
              </a:p>
              <a:p>
                <a:endParaRPr lang="en-GB" dirty="0"/>
              </a:p>
              <a:p>
                <a:r>
                  <a:rPr lang="ru-RU" dirty="0"/>
                  <a:t>Где </a:t>
                </a:r>
              </a:p>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𝑆</m:t>
                        </m:r>
                      </m:e>
                      <m:sub>
                        <m:r>
                          <a:rPr lang="en-GB" b="0" i="1" smtClean="0">
                            <a:latin typeface="Cambria Math" panose="02040503050406030204" pitchFamily="18" charset="0"/>
                          </a:rPr>
                          <m:t>𝑚</m:t>
                        </m:r>
                      </m:sub>
                    </m:sSub>
                  </m:oMath>
                </a14:m>
                <a:r>
                  <a:rPr lang="ru-RU" dirty="0"/>
                  <a:t> - энергия в мел-фильтре </a:t>
                </a:r>
                <a:r>
                  <a:rPr lang="en-GB" dirty="0"/>
                  <a:t>m</a:t>
                </a:r>
                <a:endParaRPr lang="ru-RU" dirty="0"/>
              </a:p>
              <a:p>
                <a:pPr marL="0" indent="0">
                  <a:buNone/>
                </a:pPr>
                <a14:m>
                  <m:oMath xmlns:m="http://schemas.openxmlformats.org/officeDocument/2006/math">
                    <m:r>
                      <a:rPr lang="en-GB" b="0" i="1" smtClean="0">
                        <a:latin typeface="Cambria Math" panose="02040503050406030204" pitchFamily="18" charset="0"/>
                      </a:rPr>
                      <m:t>𝑀</m:t>
                    </m:r>
                  </m:oMath>
                </a14:m>
                <a:r>
                  <a:rPr lang="ru-RU" dirty="0"/>
                  <a:t> - количество мел-фильтров</a:t>
                </a:r>
              </a:p>
              <a:p>
                <a:pPr marL="0" indent="0">
                  <a:buNone/>
                </a:pPr>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 </m:t>
                    </m:r>
                  </m:oMath>
                </a14:m>
                <a:r>
                  <a:rPr lang="ru-RU" dirty="0"/>
                  <a:t> - номер </a:t>
                </a:r>
                <a:r>
                  <a:rPr lang="en-GB" dirty="0"/>
                  <a:t>MFCC </a:t>
                </a:r>
                <a:r>
                  <a:rPr lang="ru-RU" dirty="0"/>
                  <a:t>коэффициента (первые 13 самые значимые)</a:t>
                </a:r>
              </a:p>
            </p:txBody>
          </p:sp>
        </mc:Choice>
        <mc:Fallback xmlns="">
          <p:sp>
            <p:nvSpPr>
              <p:cNvPr id="7" name="Объект 6">
                <a:extLst>
                  <a:ext uri="{FF2B5EF4-FFF2-40B4-BE49-F238E27FC236}">
                    <a16:creationId xmlns:a16="http://schemas.microsoft.com/office/drawing/2014/main" id="{1EE48528-5972-E493-9D9C-5A27B8FC8456}"/>
                  </a:ext>
                </a:extLst>
              </p:cNvPr>
              <p:cNvSpPr>
                <a:spLocks noGrp="1" noRot="1" noChangeAspect="1" noMove="1" noResize="1" noEditPoints="1" noAdjustHandles="1" noChangeArrowheads="1" noChangeShapeType="1" noTextEdit="1"/>
              </p:cNvSpPr>
              <p:nvPr>
                <p:ph idx="1"/>
              </p:nvPr>
            </p:nvSpPr>
            <p:spPr>
              <a:blipFill>
                <a:blip r:embed="rId2"/>
                <a:stretch>
                  <a:fillRect l="-140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42BCA58-9FD2-B371-757C-E3F593B5BD24}"/>
                  </a:ext>
                </a:extLst>
              </p:cNvPr>
              <p:cNvSpPr txBox="1"/>
              <p:nvPr/>
            </p:nvSpPr>
            <p:spPr>
              <a:xfrm>
                <a:off x="4298277" y="1988840"/>
                <a:ext cx="3671646" cy="778868"/>
              </a:xfrm>
              <a:prstGeom prst="rect">
                <a:avLst/>
              </a:prstGeom>
              <a:noFill/>
            </p:spPr>
            <p:txBody>
              <a:bodyPr wrap="none" lIns="0" tIns="0" rIns="0" bIns="0" rtlCol="0">
                <a:spAutoFit/>
              </a:bodyPr>
              <a:lstStyle/>
              <a:p>
                <a:pPr/>
                <a14:m>
                  <m:oMathPara xmlns:m="http://schemas.openxmlformats.org/officeDocument/2006/math">
                    <m:oMath>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𝑛</m:t>
                          </m:r>
                        </m:sub>
                      </m:sSub>
                      <m:r>
                        <a:rPr lang="en-GB" i="1">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𝑀</m:t>
                          </m:r>
                        </m:sup>
                        <m:e>
                          <m:r>
                            <m:rPr>
                              <m:sty m:val="p"/>
                            </m:rPr>
                            <a:rPr lang="en-GB">
                              <a:latin typeface="Cambria Math" panose="02040503050406030204" pitchFamily="18" charset="0"/>
                            </a:rPr>
                            <m:t>log</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𝑚</m:t>
                              </m:r>
                            </m:sub>
                          </m:sSub>
                          <m:r>
                            <a:rPr lang="en-GB" i="1">
                              <a:latin typeface="Cambria Math" panose="02040503050406030204" pitchFamily="18" charset="0"/>
                            </a:rPr>
                            <m:t>)</m:t>
                          </m:r>
                        </m:e>
                      </m:nary>
                      <m:r>
                        <m:rPr>
                          <m:sty m:val="p"/>
                        </m:rPr>
                        <a:rPr lang="en-GB">
                          <a:latin typeface="Cambria Math" panose="02040503050406030204" pitchFamily="18" charset="0"/>
                        </a:rPr>
                        <m:t>cos</m:t>
                      </m:r>
                      <m:r>
                        <a:rPr lang="en-GB" i="1">
                          <a:latin typeface="Cambria Math" panose="02040503050406030204" pitchFamily="18" charset="0"/>
                        </a:rPr>
                        <m:t>⁡(</m:t>
                      </m:r>
                      <m:r>
                        <a:rPr lang="en-GB" i="1">
                          <a:latin typeface="Cambria Math" panose="02040503050406030204" pitchFamily="18" charset="0"/>
                        </a:rPr>
                        <m:t>𝑛</m:t>
                      </m:r>
                      <m:d>
                        <m:dPr>
                          <m:ctrlPr>
                            <a:rPr lang="en-GB" i="1">
                              <a:latin typeface="Cambria Math" panose="02040503050406030204" pitchFamily="18" charset="0"/>
                            </a:rPr>
                          </m:ctrlPr>
                        </m:dPr>
                        <m:e>
                          <m:r>
                            <a:rPr lang="en-GB" i="1">
                              <a:latin typeface="Cambria Math" panose="02040503050406030204" pitchFamily="18" charset="0"/>
                            </a:rPr>
                            <m:t>𝑚</m:t>
                          </m:r>
                          <m:r>
                            <a:rPr lang="en-GB" i="1">
                              <a:latin typeface="Cambria Math" panose="02040503050406030204" pitchFamily="18" charset="0"/>
                            </a:rPr>
                            <m:t>−0,5</m:t>
                          </m:r>
                        </m:e>
                      </m:d>
                      <m:f>
                        <m:fPr>
                          <m:ctrlPr>
                            <a:rPr lang="en-GB" i="1">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𝜋</m:t>
                          </m:r>
                        </m:num>
                        <m:den>
                          <m:r>
                            <a:rPr lang="en-GB" i="1">
                              <a:latin typeface="Cambria Math" panose="02040503050406030204" pitchFamily="18" charset="0"/>
                            </a:rPr>
                            <m:t>𝑀</m:t>
                          </m:r>
                        </m:den>
                      </m:f>
                      <m:r>
                        <a:rPr lang="en-GB" i="1">
                          <a:latin typeface="Cambria Math" panose="02040503050406030204" pitchFamily="18" charset="0"/>
                        </a:rPr>
                        <m:t>)</m:t>
                      </m:r>
                    </m:oMath>
                  </m:oMathPara>
                </a14:m>
                <a:endParaRPr lang="ru-RU" dirty="0"/>
              </a:p>
            </p:txBody>
          </p:sp>
        </mc:Choice>
        <mc:Fallback xmlns="">
          <p:sp>
            <p:nvSpPr>
              <p:cNvPr id="8" name="TextBox 7">
                <a:extLst>
                  <a:ext uri="{FF2B5EF4-FFF2-40B4-BE49-F238E27FC236}">
                    <a16:creationId xmlns:a16="http://schemas.microsoft.com/office/drawing/2014/main" id="{A42BCA58-9FD2-B371-757C-E3F593B5BD24}"/>
                  </a:ext>
                </a:extLst>
              </p:cNvPr>
              <p:cNvSpPr txBox="1">
                <a:spLocks noRot="1" noChangeAspect="1" noMove="1" noResize="1" noEditPoints="1" noAdjustHandles="1" noChangeArrowheads="1" noChangeShapeType="1" noTextEdit="1"/>
              </p:cNvSpPr>
              <p:nvPr/>
            </p:nvSpPr>
            <p:spPr>
              <a:xfrm>
                <a:off x="4298277" y="1988840"/>
                <a:ext cx="3671646" cy="778868"/>
              </a:xfrm>
              <a:prstGeom prst="rect">
                <a:avLst/>
              </a:prstGeom>
              <a:blipFill>
                <a:blip r:embed="rId3"/>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37167884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Объект 7" descr="Изображение выглядит как снимок экрана, текст, Красочность, линия">
            <a:extLst>
              <a:ext uri="{FF2B5EF4-FFF2-40B4-BE49-F238E27FC236}">
                <a16:creationId xmlns:a16="http://schemas.microsoft.com/office/drawing/2014/main" id="{FE9290DC-6D52-91F7-DE94-658FD7903FD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00745" y="3649435"/>
            <a:ext cx="6934200" cy="2270950"/>
          </a:xfrm>
          <a:noFill/>
        </p:spPr>
      </p:pic>
      <p:sp>
        <p:nvSpPr>
          <p:cNvPr id="2" name="Title 1">
            <a:extLst>
              <a:ext uri="{FF2B5EF4-FFF2-40B4-BE49-F238E27FC236}">
                <a16:creationId xmlns:a16="http://schemas.microsoft.com/office/drawing/2014/main" id="{A72600B6-CA99-4BC5-A5A1-E48E70522A48}"/>
              </a:ext>
            </a:extLst>
          </p:cNvPr>
          <p:cNvSpPr>
            <a:spLocks noGrp="1"/>
          </p:cNvSpPr>
          <p:nvPr>
            <p:ph type="title"/>
          </p:nvPr>
        </p:nvSpPr>
        <p:spPr>
          <a:xfrm>
            <a:off x="2346960" y="421817"/>
            <a:ext cx="7543800" cy="1369074"/>
          </a:xfrm>
        </p:spPr>
        <p:txBody>
          <a:bodyPr wrap="square" anchor="ctr">
            <a:normAutofit/>
          </a:bodyPr>
          <a:lstStyle/>
          <a:p>
            <a:r>
              <a:rPr lang="en-US" dirty="0"/>
              <a:t>MFCC</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46DE8B-4AE2-F404-D513-7D18B446E467}"/>
                  </a:ext>
                </a:extLst>
              </p:cNvPr>
              <p:cNvSpPr txBox="1"/>
              <p:nvPr/>
            </p:nvSpPr>
            <p:spPr>
              <a:xfrm>
                <a:off x="3155868" y="1908071"/>
                <a:ext cx="6097978" cy="1520929"/>
              </a:xfrm>
              <a:prstGeom prst="rect">
                <a:avLst/>
              </a:prstGeom>
              <a:noFill/>
            </p:spPr>
            <p:txBody>
              <a:bodyPr wrap="square">
                <a:spAutoFit/>
              </a:bodyPr>
              <a:lstStyle/>
              <a:p>
                <a:r>
                  <a:rPr lang="ru-RU" dirty="0"/>
                  <a:t>Кепстр – обратное преобразование Фурье логарифма спектра сигнала.</a:t>
                </a:r>
              </a:p>
              <a:p>
                <a:r>
                  <a:rPr lang="ru-RU" dirty="0" err="1"/>
                  <a:t>Кепстр</a:t>
                </a:r>
                <a:r>
                  <a:rPr lang="ru-RU" dirty="0"/>
                  <a:t> мощности</a:t>
                </a:r>
                <a:r>
                  <a:rPr lang="en-US" dirty="0"/>
                  <a:t> (</a:t>
                </a:r>
                <a:r>
                  <a:rPr lang="ru-RU" dirty="0"/>
                  <a:t>из спектральной плотности мощности):</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𝑝</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𝑞</m:t>
                          </m:r>
                        </m:e>
                      </m:d>
                      <m:r>
                        <a:rPr lang="ru-RU" b="0" i="1" smtClean="0">
                          <a:latin typeface="Cambria Math" panose="02040503050406030204" pitchFamily="18" charset="0"/>
                        </a:rPr>
                        <m:t>=</m:t>
                      </m:r>
                      <m:nary>
                        <m:naryPr>
                          <m:ctrlPr>
                            <a:rPr lang="ru-RU" b="0" i="1" smtClean="0">
                              <a:latin typeface="Cambria Math" panose="02040503050406030204" pitchFamily="18" charset="0"/>
                            </a:rPr>
                          </m:ctrlPr>
                        </m:naryPr>
                        <m:sub>
                          <m:r>
                            <m:rPr>
                              <m:brk m:alnAt="23"/>
                            </m:rPr>
                            <a:rPr lang="ru-RU" b="0" i="1" smtClean="0">
                              <a:latin typeface="Cambria Math" panose="02040503050406030204" pitchFamily="18" charset="0"/>
                            </a:rPr>
                            <m:t>−</m:t>
                          </m:r>
                          <m:r>
                            <a:rPr lang="ru-RU" b="0" i="1" smtClean="0">
                              <a:latin typeface="Cambria Math" panose="02040503050406030204" pitchFamily="18" charset="0"/>
                            </a:rPr>
                            <m:t>∞</m:t>
                          </m:r>
                        </m:sub>
                        <m:sup>
                          <m:r>
                            <a:rPr lang="en-US" b="0" i="1" smtClean="0">
                              <a:latin typeface="Cambria Math" panose="02040503050406030204" pitchFamily="18" charset="0"/>
                            </a:rPr>
                            <m:t>∞</m:t>
                          </m:r>
                        </m:sup>
                        <m:e>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ln</m:t>
                              </m:r>
                            </m:fName>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d>
                                </m:e>
                                <m:sup>
                                  <m:r>
                                    <a:rPr lang="en-US" b="0" i="1" smtClean="0">
                                      <a:latin typeface="Cambria Math" panose="02040503050406030204" pitchFamily="18" charset="0"/>
                                    </a:rPr>
                                    <m:t>2</m:t>
                                  </m:r>
                                </m:sup>
                              </m:sSup>
                            </m:e>
                          </m:func>
                        </m:e>
                      </m:nary>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𝜔</m:t>
                              </m:r>
                              <m:r>
                                <a:rPr lang="en-US" b="0" i="1" smtClean="0">
                                  <a:latin typeface="Cambria Math" panose="02040503050406030204" pitchFamily="18" charset="0"/>
                                </a:rPr>
                                <m:t>𝑞</m:t>
                              </m:r>
                            </m:e>
                          </m:d>
                          <m:r>
                            <a:rPr lang="en-US" b="0" i="1" smtClean="0">
                              <a:latin typeface="Cambria Math" panose="02040503050406030204" pitchFamily="18" charset="0"/>
                            </a:rPr>
                            <m:t>𝑑𝑞</m:t>
                          </m:r>
                        </m:e>
                      </m:func>
                    </m:oMath>
                  </m:oMathPara>
                </a14:m>
                <a:endParaRPr lang="ru-RU" dirty="0"/>
              </a:p>
            </p:txBody>
          </p:sp>
        </mc:Choice>
        <mc:Fallback xmlns="">
          <p:sp>
            <p:nvSpPr>
              <p:cNvPr id="4" name="TextBox 3">
                <a:extLst>
                  <a:ext uri="{FF2B5EF4-FFF2-40B4-BE49-F238E27FC236}">
                    <a16:creationId xmlns:a16="http://schemas.microsoft.com/office/drawing/2014/main" id="{E546DE8B-4AE2-F404-D513-7D18B446E467}"/>
                  </a:ext>
                </a:extLst>
              </p:cNvPr>
              <p:cNvSpPr txBox="1">
                <a:spLocks noRot="1" noChangeAspect="1" noMove="1" noResize="1" noEditPoints="1" noAdjustHandles="1" noChangeArrowheads="1" noChangeShapeType="1" noTextEdit="1"/>
              </p:cNvSpPr>
              <p:nvPr/>
            </p:nvSpPr>
            <p:spPr>
              <a:xfrm>
                <a:off x="3155868" y="1908071"/>
                <a:ext cx="6097978" cy="1520929"/>
              </a:xfrm>
              <a:prstGeom prst="rect">
                <a:avLst/>
              </a:prstGeom>
              <a:blipFill>
                <a:blip r:embed="rId4"/>
                <a:stretch>
                  <a:fillRect l="-900" t="-2000"/>
                </a:stretch>
              </a:blipFill>
            </p:spPr>
            <p:txBody>
              <a:bodyPr/>
              <a:lstStyle/>
              <a:p>
                <a:r>
                  <a:rPr lang="ru-RU">
                    <a:noFill/>
                  </a:rPr>
                  <a:t> </a:t>
                </a:r>
              </a:p>
            </p:txBody>
          </p:sp>
        </mc:Fallback>
      </mc:AlternateContent>
    </p:spTree>
    <p:extLst>
      <p:ext uri="{BB962C8B-B14F-4D97-AF65-F5344CB8AC3E}">
        <p14:creationId xmlns:p14="http://schemas.microsoft.com/office/powerpoint/2010/main" val="7926289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0" y="533400"/>
            <a:ext cx="6934200" cy="591344"/>
          </a:xfrm>
        </p:spPr>
        <p:txBody>
          <a:bodyPr>
            <a:normAutofit fontScale="90000"/>
          </a:bodyPr>
          <a:lstStyle/>
          <a:p>
            <a:pPr algn="ctr"/>
            <a:r>
              <a:rPr lang="ru-RU" dirty="0"/>
              <a:t>Задача распознавания речи</a:t>
            </a:r>
            <a:endParaRPr lang="en-US" dirty="0"/>
          </a:p>
        </p:txBody>
      </p:sp>
      <p:sp>
        <p:nvSpPr>
          <p:cNvPr id="3" name="Content Placeholder 2"/>
          <p:cNvSpPr>
            <a:spLocks noGrp="1"/>
          </p:cNvSpPr>
          <p:nvPr>
            <p:ph idx="1"/>
          </p:nvPr>
        </p:nvSpPr>
        <p:spPr>
          <a:xfrm>
            <a:off x="2667000" y="1916833"/>
            <a:ext cx="6934200" cy="4214093"/>
          </a:xfrm>
        </p:spPr>
        <p:txBody>
          <a:bodyPr/>
          <a:lstStyle/>
          <a:p>
            <a:r>
              <a:rPr lang="ru-RU" dirty="0"/>
              <a:t>Скрытые Марковские модели</a:t>
            </a:r>
          </a:p>
          <a:p>
            <a:endParaRPr lang="ru-RU" dirty="0"/>
          </a:p>
          <a:p>
            <a:endParaRPr lang="ru-RU" dirty="0"/>
          </a:p>
          <a:p>
            <a:endParaRPr lang="ru-RU" dirty="0"/>
          </a:p>
          <a:p>
            <a:endParaRPr lang="ru-RU" dirty="0"/>
          </a:p>
          <a:p>
            <a:endParaRPr lang="ru-RU" dirty="0"/>
          </a:p>
          <a:p>
            <a:pPr marL="0" indent="0">
              <a:buNone/>
            </a:pPr>
            <a:endParaRPr lang="ru-RU" dirty="0"/>
          </a:p>
        </p:txBody>
      </p:sp>
      <p:pic>
        <p:nvPicPr>
          <p:cNvPr id="5" name="Рисунок 4">
            <a:extLst>
              <a:ext uri="{FF2B5EF4-FFF2-40B4-BE49-F238E27FC236}">
                <a16:creationId xmlns:a16="http://schemas.microsoft.com/office/drawing/2014/main" id="{E4D3B671-EF0E-03F4-F525-7B7588206A22}"/>
              </a:ext>
            </a:extLst>
          </p:cNvPr>
          <p:cNvPicPr>
            <a:picLocks noChangeAspect="1"/>
          </p:cNvPicPr>
          <p:nvPr/>
        </p:nvPicPr>
        <p:blipFill>
          <a:blip r:embed="rId3"/>
          <a:stretch>
            <a:fillRect/>
          </a:stretch>
        </p:blipFill>
        <p:spPr>
          <a:xfrm>
            <a:off x="3089069" y="2232395"/>
            <a:ext cx="6013862" cy="3759895"/>
          </a:xfrm>
          <a:prstGeom prst="rect">
            <a:avLst/>
          </a:prstGeom>
        </p:spPr>
      </p:pic>
    </p:spTree>
    <p:extLst>
      <p:ext uri="{BB962C8B-B14F-4D97-AF65-F5344CB8AC3E}">
        <p14:creationId xmlns:p14="http://schemas.microsoft.com/office/powerpoint/2010/main" val="1707536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FD3B4A50-8548-8868-2219-A2352B7CC2CF}"/>
              </a:ext>
            </a:extLst>
          </p:cNvPr>
          <p:cNvPicPr>
            <a:picLocks noChangeAspect="1"/>
          </p:cNvPicPr>
          <p:nvPr/>
        </p:nvPicPr>
        <p:blipFill>
          <a:blip r:embed="rId2"/>
          <a:stretch>
            <a:fillRect/>
          </a:stretch>
        </p:blipFill>
        <p:spPr>
          <a:xfrm>
            <a:off x="3327482" y="2060849"/>
            <a:ext cx="5613237" cy="4070077"/>
          </a:xfrm>
          <a:prstGeom prst="rect">
            <a:avLst/>
          </a:prstGeom>
          <a:noFill/>
        </p:spPr>
      </p:pic>
      <p:sp>
        <p:nvSpPr>
          <p:cNvPr id="2" name="Заголовок 1">
            <a:extLst>
              <a:ext uri="{FF2B5EF4-FFF2-40B4-BE49-F238E27FC236}">
                <a16:creationId xmlns:a16="http://schemas.microsoft.com/office/drawing/2014/main" id="{5E878BE9-C715-AC55-7E49-9BADDA707758}"/>
              </a:ext>
            </a:extLst>
          </p:cNvPr>
          <p:cNvSpPr>
            <a:spLocks noGrp="1"/>
          </p:cNvSpPr>
          <p:nvPr>
            <p:ph type="title"/>
          </p:nvPr>
        </p:nvSpPr>
        <p:spPr>
          <a:xfrm>
            <a:off x="2346960" y="421817"/>
            <a:ext cx="7543800" cy="1369074"/>
          </a:xfrm>
        </p:spPr>
        <p:txBody>
          <a:bodyPr wrap="square" anchor="ctr">
            <a:normAutofit fontScale="90000"/>
          </a:bodyPr>
          <a:lstStyle/>
          <a:p>
            <a:pPr>
              <a:lnSpc>
                <a:spcPct val="90000"/>
              </a:lnSpc>
            </a:pPr>
            <a:br>
              <a:rPr lang="ru-RU" dirty="0"/>
            </a:br>
            <a:r>
              <a:rPr lang="ru-RU" dirty="0"/>
              <a:t>Динамическая трансформация временной шкалы</a:t>
            </a:r>
          </a:p>
        </p:txBody>
      </p:sp>
    </p:spTree>
    <p:extLst>
      <p:ext uri="{BB962C8B-B14F-4D97-AF65-F5344CB8AC3E}">
        <p14:creationId xmlns:p14="http://schemas.microsoft.com/office/powerpoint/2010/main" val="13369377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D0FBFD-40A0-D7D9-4B5D-FA6B19AF6B8A}"/>
              </a:ext>
            </a:extLst>
          </p:cNvPr>
          <p:cNvSpPr>
            <a:spLocks noGrp="1"/>
          </p:cNvSpPr>
          <p:nvPr>
            <p:ph type="title"/>
          </p:nvPr>
        </p:nvSpPr>
        <p:spPr>
          <a:xfrm>
            <a:off x="2667000" y="533400"/>
            <a:ext cx="6934200" cy="1219200"/>
          </a:xfrm>
        </p:spPr>
        <p:txBody>
          <a:bodyPr wrap="square" anchor="b">
            <a:normAutofit/>
          </a:bodyPr>
          <a:lstStyle/>
          <a:p>
            <a:pPr>
              <a:lnSpc>
                <a:spcPct val="90000"/>
              </a:lnSpc>
            </a:pPr>
            <a:br>
              <a:rPr lang="en-US" sz="2500"/>
            </a:br>
            <a:r>
              <a:rPr lang="ru-RU" sz="2500"/>
              <a:t>Нейронные сети с памятью или временными задержками</a:t>
            </a:r>
          </a:p>
        </p:txBody>
      </p:sp>
      <p:pic>
        <p:nvPicPr>
          <p:cNvPr id="6" name="Рисунок 5" descr="Изображение выглядит как текст, снимок экрана, Шрифт, Параллельный&#10;&#10;Контент, сгенерированный ИИ, может содержать ошибки.">
            <a:extLst>
              <a:ext uri="{FF2B5EF4-FFF2-40B4-BE49-F238E27FC236}">
                <a16:creationId xmlns:a16="http://schemas.microsoft.com/office/drawing/2014/main" id="{A3648751-60D3-DFF1-B660-B2574990A3ED}"/>
              </a:ext>
            </a:extLst>
          </p:cNvPr>
          <p:cNvPicPr>
            <a:picLocks noChangeAspect="1"/>
          </p:cNvPicPr>
          <p:nvPr/>
        </p:nvPicPr>
        <p:blipFill>
          <a:blip r:embed="rId2">
            <a:extLst>
              <a:ext uri="{28A0092B-C50C-407E-A947-70E740481C1C}">
                <a14:useLocalDpi xmlns:a14="http://schemas.microsoft.com/office/drawing/2010/main" val="0"/>
              </a:ext>
            </a:extLst>
          </a:blip>
          <a:srcRect l="6984" t="18769" r="6986" b="52099"/>
          <a:stretch/>
        </p:blipFill>
        <p:spPr>
          <a:xfrm>
            <a:off x="2667000" y="2282328"/>
            <a:ext cx="6934200" cy="3318871"/>
          </a:xfrm>
          <a:prstGeom prst="rect">
            <a:avLst/>
          </a:prstGeom>
          <a:noFill/>
        </p:spPr>
      </p:pic>
    </p:spTree>
    <p:extLst>
      <p:ext uri="{BB962C8B-B14F-4D97-AF65-F5344CB8AC3E}">
        <p14:creationId xmlns:p14="http://schemas.microsoft.com/office/powerpoint/2010/main" val="41757722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1707B9-300B-402D-BB58-34E420173CC3}"/>
              </a:ext>
            </a:extLst>
          </p:cNvPr>
          <p:cNvSpPr>
            <a:spLocks noGrp="1"/>
          </p:cNvSpPr>
          <p:nvPr>
            <p:ph type="title"/>
          </p:nvPr>
        </p:nvSpPr>
        <p:spPr/>
        <p:txBody>
          <a:bodyPr/>
          <a:lstStyle/>
          <a:p>
            <a:r>
              <a:rPr lang="ru-RU" dirty="0"/>
              <a:t>Карты созвездий</a:t>
            </a:r>
            <a:r>
              <a:rPr lang="en-US" dirty="0"/>
              <a:t> (Shazam)</a:t>
            </a:r>
          </a:p>
        </p:txBody>
      </p:sp>
      <p:pic>
        <p:nvPicPr>
          <p:cNvPr id="3" name="Picture 2" descr="Chart&#10;&#10;Description automatically generated">
            <a:extLst>
              <a:ext uri="{FF2B5EF4-FFF2-40B4-BE49-F238E27FC236}">
                <a16:creationId xmlns:a16="http://schemas.microsoft.com/office/drawing/2014/main" id="{AE27AD96-408C-4C00-81C3-9325BEF180DF}"/>
              </a:ext>
            </a:extLst>
          </p:cNvPr>
          <p:cNvPicPr>
            <a:picLocks noChangeAspect="1"/>
          </p:cNvPicPr>
          <p:nvPr/>
        </p:nvPicPr>
        <p:blipFill>
          <a:blip r:embed="rId3"/>
          <a:stretch>
            <a:fillRect/>
          </a:stretch>
        </p:blipFill>
        <p:spPr>
          <a:xfrm>
            <a:off x="1736593" y="2276618"/>
            <a:ext cx="5061214" cy="3017526"/>
          </a:xfrm>
          <a:prstGeom prst="rect">
            <a:avLst/>
          </a:prstGeom>
        </p:spPr>
      </p:pic>
      <p:pic>
        <p:nvPicPr>
          <p:cNvPr id="7" name="Picture 6" descr="A picture containing chart&#10;&#10;Description automatically generated">
            <a:extLst>
              <a:ext uri="{FF2B5EF4-FFF2-40B4-BE49-F238E27FC236}">
                <a16:creationId xmlns:a16="http://schemas.microsoft.com/office/drawing/2014/main" id="{9FCED464-BE62-472F-9C9A-E54FE605F941}"/>
              </a:ext>
            </a:extLst>
          </p:cNvPr>
          <p:cNvPicPr>
            <a:picLocks noChangeAspect="1"/>
          </p:cNvPicPr>
          <p:nvPr/>
        </p:nvPicPr>
        <p:blipFill>
          <a:blip r:embed="rId4"/>
          <a:stretch>
            <a:fillRect/>
          </a:stretch>
        </p:blipFill>
        <p:spPr>
          <a:xfrm>
            <a:off x="6878388" y="2539729"/>
            <a:ext cx="3343298" cy="2690558"/>
          </a:xfrm>
          <a:prstGeom prst="rect">
            <a:avLst/>
          </a:prstGeom>
        </p:spPr>
      </p:pic>
    </p:spTree>
    <p:extLst>
      <p:ext uri="{BB962C8B-B14F-4D97-AF65-F5344CB8AC3E}">
        <p14:creationId xmlns:p14="http://schemas.microsoft.com/office/powerpoint/2010/main" val="34730882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2D174DF3-A756-6359-CB04-F95F18403603}"/>
              </a:ext>
            </a:extLst>
          </p:cNvPr>
          <p:cNvSpPr>
            <a:spLocks noGrp="1"/>
          </p:cNvSpPr>
          <p:nvPr>
            <p:ph idx="1"/>
          </p:nvPr>
        </p:nvSpPr>
        <p:spPr/>
        <p:txBody>
          <a:bodyPr/>
          <a:lstStyle/>
          <a:p>
            <a:r>
              <a:rPr lang="ru-RU" sz="2000" b="1" dirty="0"/>
              <a:t>Что такое </a:t>
            </a:r>
            <a:r>
              <a:rPr lang="ru-RU" sz="2000" b="1" dirty="0" err="1"/>
              <a:t>алиасинг</a:t>
            </a:r>
            <a:r>
              <a:rPr lang="ru-RU" sz="2000" b="1" dirty="0"/>
              <a:t>?</a:t>
            </a:r>
          </a:p>
          <a:p>
            <a:r>
              <a:rPr lang="ru-RU" sz="2000" b="1" dirty="0"/>
              <a:t>Почему одна из наиболее популярных частот дискретизации цифрового аудиосигнала – 44100 Гц?</a:t>
            </a:r>
          </a:p>
          <a:p>
            <a:r>
              <a:rPr lang="ru-RU" sz="2000" b="1" dirty="0"/>
              <a:t>Перечислите основные виды представления аудиосигнала, пригодные для дальнейшей обработки средствами машинного обучения.</a:t>
            </a:r>
          </a:p>
          <a:p>
            <a:endParaRPr lang="en-US" sz="2000" b="1" dirty="0"/>
          </a:p>
          <a:p>
            <a:endParaRPr lang="ru-RU" dirty="0"/>
          </a:p>
        </p:txBody>
      </p:sp>
      <p:sp>
        <p:nvSpPr>
          <p:cNvPr id="3" name="Заголовок 2">
            <a:extLst>
              <a:ext uri="{FF2B5EF4-FFF2-40B4-BE49-F238E27FC236}">
                <a16:creationId xmlns:a16="http://schemas.microsoft.com/office/drawing/2014/main" id="{FAD911BB-6764-D70C-23E0-C0CB37FB10F8}"/>
              </a:ext>
            </a:extLst>
          </p:cNvPr>
          <p:cNvSpPr>
            <a:spLocks noGrp="1"/>
          </p:cNvSpPr>
          <p:nvPr>
            <p:ph type="title"/>
          </p:nvPr>
        </p:nvSpPr>
        <p:spPr/>
        <p:txBody>
          <a:bodyPr/>
          <a:lstStyle/>
          <a:p>
            <a:r>
              <a:rPr lang="ru-RU" dirty="0"/>
              <a:t>Вопросы, встречающиеся на собеседованиях</a:t>
            </a:r>
          </a:p>
        </p:txBody>
      </p:sp>
    </p:spTree>
    <p:extLst>
      <p:ext uri="{BB962C8B-B14F-4D97-AF65-F5344CB8AC3E}">
        <p14:creationId xmlns:p14="http://schemas.microsoft.com/office/powerpoint/2010/main" val="12700615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BF779B-5BF6-4321-9726-3C26F27B786D}"/>
              </a:ext>
            </a:extLst>
          </p:cNvPr>
          <p:cNvSpPr>
            <a:spLocks noGrp="1"/>
          </p:cNvSpPr>
          <p:nvPr>
            <p:ph idx="1"/>
          </p:nvPr>
        </p:nvSpPr>
        <p:spPr>
          <a:xfrm>
            <a:off x="1097279" y="2108201"/>
            <a:ext cx="10623665" cy="4327524"/>
          </a:xfrm>
        </p:spPr>
        <p:txBody>
          <a:bodyPr>
            <a:normAutofit/>
          </a:bodyPr>
          <a:lstStyle/>
          <a:p>
            <a:pPr lvl="1"/>
            <a:r>
              <a:rPr lang="ru-RU" sz="2400" dirty="0"/>
              <a:t>Текст</a:t>
            </a:r>
          </a:p>
          <a:p>
            <a:pPr lvl="2"/>
            <a:r>
              <a:rPr lang="ru-RU" sz="1800" dirty="0"/>
              <a:t>Кодирование → предобработка → простые признаки → векторизация: от словаря и TF-IDF до word2vec и трансформеров</a:t>
            </a:r>
          </a:p>
          <a:p>
            <a:pPr lvl="1"/>
            <a:r>
              <a:rPr lang="ru-RU" sz="2400" dirty="0"/>
              <a:t>Аудио</a:t>
            </a:r>
          </a:p>
          <a:p>
            <a:pPr lvl="2"/>
            <a:r>
              <a:rPr lang="ru-RU" sz="1800" dirty="0"/>
              <a:t>Дискретизация и квантование → спектральное представление (STFT, спектрограмма) → мел-шкала и MFCC</a:t>
            </a:r>
          </a:p>
          <a:p>
            <a:pPr lvl="1"/>
            <a:r>
              <a:rPr lang="ru-RU" sz="2400" dirty="0"/>
              <a:t>Общий вывод</a:t>
            </a:r>
          </a:p>
          <a:p>
            <a:pPr lvl="2"/>
            <a:r>
              <a:rPr lang="ru-RU" sz="1800" dirty="0"/>
              <a:t>Любые первичные данные в итоге приводятся к вектору признаков</a:t>
            </a:r>
          </a:p>
          <a:p>
            <a:pPr lvl="1"/>
            <a:r>
              <a:rPr lang="ru-RU" sz="2400" dirty="0"/>
              <a:t>Следующая лекция</a:t>
            </a:r>
          </a:p>
          <a:p>
            <a:pPr lvl="2"/>
            <a:r>
              <a:rPr lang="ru-RU" sz="1800" dirty="0"/>
              <a:t>Датасет: как собрать векторы признаков в матрицу «объекты × признаки» и подготовить её к обучению модели</a:t>
            </a:r>
          </a:p>
        </p:txBody>
      </p:sp>
      <p:sp>
        <p:nvSpPr>
          <p:cNvPr id="4" name="Title 1">
            <a:extLst>
              <a:ext uri="{FF2B5EF4-FFF2-40B4-BE49-F238E27FC236}">
                <a16:creationId xmlns:a16="http://schemas.microsoft.com/office/drawing/2014/main" id="{EE8E98DB-5344-480F-8662-6FCC22E46E7A}"/>
              </a:ext>
            </a:extLst>
          </p:cNvPr>
          <p:cNvSpPr>
            <a:spLocks noGrp="1"/>
          </p:cNvSpPr>
          <p:nvPr>
            <p:ph type="title"/>
          </p:nvPr>
        </p:nvSpPr>
        <p:spPr/>
        <p:txBody>
          <a:bodyPr/>
          <a:lstStyle/>
          <a:p>
            <a:r>
              <a:rPr lang="ru-RU"/>
              <a:t>Итоги лекции</a:t>
            </a:r>
          </a:p>
        </p:txBody>
      </p:sp>
    </p:spTree>
    <p:extLst>
      <p:ext uri="{BB962C8B-B14F-4D97-AF65-F5344CB8AC3E}">
        <p14:creationId xmlns:p14="http://schemas.microsoft.com/office/powerpoint/2010/main" val="1978515955"/>
      </p:ext>
    </p:extLst>
  </p:cSld>
  <p:clrMapOvr>
    <a:masterClrMapping/>
  </p:clrMapOvr>
</p:sld>
</file>

<file path=ppt/theme/theme1.xml><?xml version="1.0" encoding="utf-8"?>
<a:theme xmlns:a="http://schemas.openxmlformats.org/drawingml/2006/main" name="Ретро">
  <a:themeElements>
    <a:clrScheme name="Ретр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6A7FA506-1E93-4CA4-B270-1F08FD18C366}">
  <ds:schemaRefs>
    <ds:schemaRef ds:uri="http://schemas.microsoft.com/sharepoint/v3/contenttype/forms"/>
  </ds:schemaRefs>
</ds:datastoreItem>
</file>

<file path=customXml/itemProps2.xml><?xml version="1.0" encoding="utf-8"?>
<ds:datastoreItem xmlns:ds="http://schemas.openxmlformats.org/officeDocument/2006/customXml" ds:itemID="{1F2FE978-FCBC-4C90-A410-B547AA706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F4328E-77DF-41E8-952F-124AE19F1F7C}">
  <ds:schemaRefs>
    <ds:schemaRef ds:uri="http://schemas.openxmlformats.org/package/2006/metadata/core-properties"/>
    <ds:schemaRef ds:uri="http://schemas.microsoft.com/office/2006/documentManagement/types"/>
    <ds:schemaRef ds:uri="http://www.w3.org/XML/1998/namespace"/>
    <ds:schemaRef ds:uri="http://schemas.microsoft.com/office/infopath/2007/PartnerControls"/>
    <ds:schemaRef ds:uri="16c05727-aa75-4e4a-9b5f-8a80a1165891"/>
    <ds:schemaRef ds:uri="http://purl.org/dc/elements/1.1/"/>
    <ds:schemaRef ds:uri="71af3243-3dd4-4a8d-8c0d-dd76da1f02a5"/>
    <ds:schemaRef ds:uri="http://schemas.microsoft.com/office/2006/metadata/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Retrospect</Template>
  <TotalTime>0</TotalTime>
  <Words>4004</Words>
  <Application>Microsoft Office PowerPoint</Application>
  <PresentationFormat>Широкоэкранный</PresentationFormat>
  <Paragraphs>453</Paragraphs>
  <Slides>58</Slides>
  <Notes>35</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58</vt:i4>
      </vt:variant>
    </vt:vector>
  </HeadingPairs>
  <TitlesOfParts>
    <vt:vector size="66" baseType="lpstr">
      <vt:lpstr>Arial</vt:lpstr>
      <vt:lpstr>Calibri</vt:lpstr>
      <vt:lpstr>Calibri Light</vt:lpstr>
      <vt:lpstr>Cambria Math</vt:lpstr>
      <vt:lpstr>Consolas</vt:lpstr>
      <vt:lpstr>Courier New</vt:lpstr>
      <vt:lpstr>Times New Roman</vt:lpstr>
      <vt:lpstr>Ретро</vt:lpstr>
      <vt:lpstr>НЕЙРОННЫЕ СЕТИ И МАШИННОЕ ОБУЧЕНИЕ</vt:lpstr>
      <vt:lpstr>ТЕКСТОВАЯ ИНФОРМАЦИЯ</vt:lpstr>
      <vt:lpstr>Таблицы кодирования</vt:lpstr>
      <vt:lpstr>Форматы данных</vt:lpstr>
      <vt:lpstr>избыточность</vt:lpstr>
      <vt:lpstr>сложности обработки текста</vt:lpstr>
      <vt:lpstr>NLP (Natural Language Processing)</vt:lpstr>
      <vt:lpstr>Рассматриваемые методы</vt:lpstr>
      <vt:lpstr>ПРЕДОБРАБОТКА ТЕКСТА</vt:lpstr>
      <vt:lpstr>Этапы предварительной обработки текста</vt:lpstr>
      <vt:lpstr>Токенизация и лемматизация</vt:lpstr>
      <vt:lpstr>Строки в Python</vt:lpstr>
      <vt:lpstr>Строки в Python: операции</vt:lpstr>
      <vt:lpstr>Регулярные выражения</vt:lpstr>
      <vt:lpstr>Регулярные выражения</vt:lpstr>
      <vt:lpstr>ФОРМИРОВАНИЕ ПРИЗНАКОВ</vt:lpstr>
      <vt:lpstr>Извлечение признаков</vt:lpstr>
      <vt:lpstr>Простые признаки по тексту</vt:lpstr>
      <vt:lpstr>Числовые признаки: биннинг и нормализация</vt:lpstr>
      <vt:lpstr>Категориальные строковые значения</vt:lpstr>
      <vt:lpstr>ОБРАБОТКА СЛОВ ОТНОСИТЕЛЬНО КОРПУСА</vt:lpstr>
      <vt:lpstr>ТЕРМЫ, ДОКУМЕНТЫ И КОРПУСЫ</vt:lpstr>
      <vt:lpstr>Векторизация: словарь</vt:lpstr>
      <vt:lpstr>Векторизация: Сумка слов (Bag of Words)</vt:lpstr>
      <vt:lpstr>Векторизация: TF-IDF</vt:lpstr>
      <vt:lpstr>Латентный семантический анализ</vt:lpstr>
      <vt:lpstr>Латентный семантический анализ</vt:lpstr>
      <vt:lpstr>Тематическое моделирование</vt:lpstr>
      <vt:lpstr>ОБРАБОТКА ПОСЛЕДОВАТЕЛЬНОСТЕЙ СЛОВ</vt:lpstr>
      <vt:lpstr>Учет порядка слов: N-граммы</vt:lpstr>
      <vt:lpstr>Word2Vec</vt:lpstr>
      <vt:lpstr>GLOVE</vt:lpstr>
      <vt:lpstr>Векторизация: учет последовательностей</vt:lpstr>
      <vt:lpstr>BERT</vt:lpstr>
      <vt:lpstr>От BERT к большим языковым моделям</vt:lpstr>
      <vt:lpstr>Облачные NLP-сервисы (PaaS/SaaS)</vt:lpstr>
      <vt:lpstr>Вопросы, встречающиеся на собеседованиях</vt:lpstr>
      <vt:lpstr>Вопросы, встречающиеся на собеседованиях</vt:lpstr>
      <vt:lpstr>АУДИОИНФОРМАЦИЯ</vt:lpstr>
      <vt:lpstr>Звук – это волновые колебания в упругой среде.</vt:lpstr>
      <vt:lpstr>Способы хранения звука</vt:lpstr>
      <vt:lpstr>Способы хранения звука</vt:lpstr>
      <vt:lpstr>Цифровое и аналоговое представление</vt:lpstr>
      <vt:lpstr>Дискретизация: теорема Котельникова</vt:lpstr>
      <vt:lpstr>Форматы аудиоданных</vt:lpstr>
      <vt:lpstr>Временное и частотное представление</vt:lpstr>
      <vt:lpstr>Осциллограмма</vt:lpstr>
      <vt:lpstr>Оконное преобразование Фурье (STFT)</vt:lpstr>
      <vt:lpstr>Спектрограмма</vt:lpstr>
      <vt:lpstr>Мел-частоты</vt:lpstr>
      <vt:lpstr>MFCC</vt:lpstr>
      <vt:lpstr>MFCC</vt:lpstr>
      <vt:lpstr>Задача распознавания речи</vt:lpstr>
      <vt:lpstr> Динамическая трансформация временной шкалы</vt:lpstr>
      <vt:lpstr> Нейронные сети с памятью или временными задержками</vt:lpstr>
      <vt:lpstr>Карты созвездий (Shazam)</vt:lpstr>
      <vt:lpstr>Вопросы, встречающиеся на собеседованиях</vt:lpstr>
      <vt:lpstr>Итоги лекции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2020-10-08T13:09:02Z</dcterms:created>
  <dcterms:modified xsi:type="dcterms:W3CDTF">2026-10-21T18:01:25Z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